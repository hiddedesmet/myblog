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diving into Prompt Engineering That Actually Works.</a:t>
            </a:r>
            <a:endParaRPr lang="en-US" dirty="0"/>
          </a:p>
          <a:p>
            <a:endParaRPr lang="en-US" dirty="0"/>
          </a:p>
          <a:p>
            <a:r>
              <a:rPr lang="en-US" dirty="0"/>
              <a:t>This isn't about tips and tricks — it's about frameworks and mental models that fundamentally transform how you work with AI.</a:t>
            </a:r>
            <a:endParaRPr lang="en-US" dirty="0"/>
          </a:p>
          <a:p>
            <a:endParaRPr lang="en-US" dirty="0"/>
          </a:p>
          <a:p>
            <a:r>
              <a:rPr lang="en-US" dirty="0"/>
              <a:t>Whether you're using ChatGPT daily, building AI features into your products, or just getting started — by the end of this talk you'll have a complete toolkit for getting reliably great results from any LLM.</a:t>
            </a:r>
            <a:endParaRPr lang="en-US" dirty="0"/>
          </a:p>
          <a:p>
            <a:endParaRPr lang="en-US" dirty="0"/>
          </a:p>
          <a:p>
            <a:r>
              <a:rPr lang="en-US" dirty="0"/>
              <a:t>The content draws from two excellent O'Reilly books: "Prompt Engineering for LLMs" by Berryman and Ziegler, who were founding engineers on GitHub Copilot, and "Prompt Engineering for Generative AI" by Phoenix and Taylor. I've combined the best of both with the latest 2025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intro about me. I'm Hidde de Smet, tech consultant at Xebia.</a:t>
            </a:r>
            <a:endParaRPr lang="en-US" dirty="0"/>
          </a:p>
          <a:p>
            <a:endParaRPr lang="en-US" dirty="0"/>
          </a:p>
          <a:p>
            <a:r>
              <a:rPr lang="en-US" dirty="0"/>
              <a:t>My background is in Azure, cloud infrastructure, and DevOps — and over the past couple of years I've been deep-diving into how AI-assisted workflows are changing how we build and operate cloud platforms.</a:t>
            </a:r>
            <a:endParaRPr lang="en-US" dirty="0"/>
          </a:p>
          <a:p>
            <a:endParaRPr lang="en-US" dirty="0"/>
          </a:p>
          <a:p>
            <a:r>
              <a:rPr lang="en-US" dirty="0"/>
              <a:t>I blog about structured approaches to AI-assisted development at hiddedesmet.com — and today's mission is simple: give you practical prompt engineering techniques you can use tomorrow.</a:t>
            </a:r>
            <a:endParaRPr lang="en-US" dirty="0"/>
          </a:p>
          <a:p>
            <a:endParaRPr lang="en-US" dirty="0"/>
          </a:p>
          <a:p>
            <a:r>
              <a:rPr lang="en-US" dirty="0"/>
              <a:t>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 who here has had a frustrating experience where an AI gave you a completely unhelpful response?</a:t>
            </a:r>
            <a:endParaRPr lang="en-US" dirty="0"/>
          </a:p>
          <a:p>
            <a:endParaRPr lang="en-US" dirty="0"/>
          </a:p>
          <a:p>
            <a:r>
              <a:rPr lang="en-US" dirty="0"/>
              <a:t>Look at this comparison. Left side: a vague prompt. "Tell me about AI." What do you get? A generic Wikipedia-style dump. Five hundred words of nothing useful.</a:t>
            </a:r>
            <a:endParaRPr lang="en-US" dirty="0"/>
          </a:p>
          <a:p>
            <a:endParaRPr lang="en-US" dirty="0"/>
          </a:p>
          <a:p>
            <a:r>
              <a:rPr lang="en-US" dirty="0"/>
              <a:t>Right side: same model, same topic. But now we've added a role, an audience, a format, and constraints. The result? A focused comparison table, CTO-appropriate depth, actionable insights.</a:t>
            </a:r>
            <a:endParaRPr lang="en-US" dirty="0"/>
          </a:p>
          <a:p>
            <a:endParaRPr lang="en-US" dirty="0"/>
          </a:p>
          <a:p>
            <a:r>
              <a:rPr lang="en-US" dirty="0"/>
              <a:t>The difference isn't the model — it's how you ask. That's prompt engineering. And the core insight from Berryman's book is this: you're not asking a question. You're starting a document that the model will complete. Once you internalize that, everything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address the elephant in the room. You've all seen the headlines. Stanford declared prompt engineering dead. IEEE Spectrum ran the same story. Medium is full of articles saying this skill is obsolete.</a:t>
            </a:r>
            <a:endParaRPr lang="en-US" dirty="0"/>
          </a:p>
          <a:p>
            <a:endParaRPr lang="en-US" dirty="0"/>
          </a:p>
          <a:p>
            <a:r>
              <a:rPr lang="en-US" dirty="0"/>
              <a:t>And honestly? They're partly right.</a:t>
            </a:r>
            <a:endParaRPr lang="en-US" dirty="0"/>
          </a:p>
          <a:p>
            <a:endParaRPr lang="en-US" dirty="0"/>
          </a:p>
          <a:p>
            <a:r>
              <a:rPr lang="en-US" dirty="0"/>
              <a:t>What died: the idea that memorizing magic phrases is a valuable skill. The "Act as a senior marketing executive with 20 years experience" formulas. The prompt libraries with 500 templates. The six-figure prompt engineer job title. Models got smarter — Claude and GPT now understand vague intent far better than they did two years ago.</a:t>
            </a:r>
            <a:endParaRPr lang="en-US" dirty="0"/>
          </a:p>
          <a:p>
            <a:endParaRPr lang="en-US" dirty="0"/>
          </a:p>
          <a:p>
            <a:r>
              <a:rPr lang="en-US" dirty="0"/>
              <a:t>But here's what those articles miss: while the PHRASING matters less, the THINKING matters more than ever.</a:t>
            </a:r>
            <a:endParaRPr lang="en-US" dirty="0"/>
          </a:p>
          <a:p>
            <a:endParaRPr lang="en-US" dirty="0"/>
          </a:p>
          <a:p>
            <a:r>
              <a:rPr lang="en-US" dirty="0"/>
              <a:t>What evolved: we went from crafting individual prompts to designing AI systems. Your CLAUDE.md file that configures Claude Code across your entire repo? That's prompt engineering. Your copilot-instructions.md that shapes every Copilot suggestion? Prompt engineering. Your system prompt for a production AI feature? Prompt engineering.</a:t>
            </a:r>
            <a:endParaRPr lang="en-US" dirty="0"/>
          </a:p>
          <a:p>
            <a:endParaRPr lang="en-US" dirty="0"/>
          </a:p>
          <a:p>
            <a:r>
              <a:rPr lang="en-US" dirty="0"/>
              <a:t>The skill didn't die — it moved from the chatbox to the codebase. From sentences to architecture.</a:t>
            </a:r>
            <a:endParaRPr lang="en-US" dirty="0"/>
          </a:p>
          <a:p>
            <a:endParaRPr lang="en-US" dirty="0"/>
          </a:p>
          <a:p>
            <a:r>
              <a:rPr lang="en-US" dirty="0"/>
              <a:t>So what matters in 2026? Instructing agents, not chatbots. Designing workflows, not magic phrases. Measuring reliability, not vibes. And it's becoming a skill inside every technical role, not a job title.</a:t>
            </a:r>
            <a:endParaRPr lang="en-US" dirty="0"/>
          </a:p>
          <a:p>
            <a:endParaRPr lang="en-US" dirty="0"/>
          </a:p>
          <a:p>
            <a:r>
              <a:rPr lang="en-US" dirty="0"/>
              <a:t>That's what this talk is about. The foundations that transfer from chat to agents to production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entire presentation. If you remember nothing else, remember this.</a:t>
            </a:r>
            <a:endParaRPr lang="en-US" dirty="0"/>
          </a:p>
          <a:p>
            <a:endParaRPr lang="en-US" dirty="0"/>
          </a:p>
          <a:p>
            <a:r>
              <a:rPr lang="en-US" dirty="0"/>
              <a:t>Three habits. That's it. These three things will transform your results more than all the advanced techniques combined.</a:t>
            </a:r>
            <a:endParaRPr lang="en-US" dirty="0"/>
          </a:p>
          <a:p>
            <a:endParaRPr lang="en-US" dirty="0"/>
          </a:p>
          <a:p>
            <a:r>
              <a:rPr lang="en-US" dirty="0"/>
              <a:t>Number one: Be specific. This sounds obvious but it's where 80% of people fail. "Summarize this" is not a prompt — it's a wish. WHO is the summary for? HOW long? What FORMAT? What should it EMPHASIZE? The more specific you are, the less the model has to guess, and the better the output.</a:t>
            </a:r>
            <a:endParaRPr lang="en-US" dirty="0"/>
          </a:p>
          <a:p>
            <a:endParaRPr lang="en-US" dirty="0"/>
          </a:p>
          <a:p>
            <a:r>
              <a:rPr lang="en-US" dirty="0"/>
              <a:t>Number two: Show, don't tell. This is few-shot prompting in plain English. Instead of describing what you want — which is hard — SHOW an example of what good looks like. Paste an email you like and say "write one like this." The model picks up patterns from examples far better than from descriptions.</a:t>
            </a:r>
            <a:endParaRPr lang="en-US" dirty="0"/>
          </a:p>
          <a:p>
            <a:endParaRPr lang="en-US" dirty="0"/>
          </a:p>
          <a:p>
            <a:r>
              <a:rPr lang="en-US" dirty="0"/>
              <a:t>Number three: Iterate, don't restart. This is the mindset shift. Your first prompt is NOT supposed to be perfect. It's a rough draft. Read the output, tell the model what to change, and refine. Three quick rounds of feedback beats one hour of crafting the "perfect" prompt.</a:t>
            </a:r>
            <a:endParaRPr lang="en-US" dirty="0"/>
          </a:p>
          <a:p>
            <a:endParaRPr lang="en-US" dirty="0"/>
          </a:p>
          <a:p>
            <a:r>
              <a:rPr lang="en-US" dirty="0"/>
              <a:t>Everything else in this talk — Chain of Thought, RAG, Context Engineering — those are power tools for specific situations. But these three habits are your daily toolkit. Nail these, and you're already better than 90% of AI users.</a:t>
            </a:r>
            <a:endParaRPr lang="en-US" dirty="0"/>
          </a:p>
          <a:p>
            <a:endParaRPr lang="en-US" dirty="0"/>
          </a:p>
          <a:p>
            <a:r>
              <a:rPr lang="en-US" dirty="0"/>
              <a:t>I'll keep coming back to these three throughout the talk. Watch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phones out! Let's test this right now. I want you to actually feel the difference, not just hear me talk about it.</a:t>
            </a:r>
            <a:endParaRPr lang="en-US" dirty="0"/>
          </a:p>
          <a:p>
            <a:endParaRPr lang="en-US" dirty="0"/>
          </a:p>
          <a:p>
            <a:r>
              <a:rPr lang="en-US" dirty="0"/>
              <a:t>[PAUSE — give people 15 seconds to open their app]</a:t>
            </a:r>
            <a:endParaRPr lang="en-US" dirty="0"/>
          </a:p>
          <a:p>
            <a:endParaRPr lang="en-US" dirty="0"/>
          </a:p>
          <a:p>
            <a:r>
              <a:rPr lang="en-US" dirty="0"/>
              <a:t>Step 1: Type in the vague prompt on the left. "Help me write an email about a project delay." Just hit send. Look at what you get.</a:t>
            </a:r>
            <a:endParaRPr lang="en-US" dirty="0"/>
          </a:p>
          <a:p>
            <a:endParaRPr lang="en-US" dirty="0"/>
          </a:p>
          <a:p>
            <a:r>
              <a:rPr lang="en-US" dirty="0"/>
              <a:t>[PAUSE — 20 seconds]</a:t>
            </a:r>
            <a:endParaRPr lang="en-US" dirty="0"/>
          </a:p>
          <a:p>
            <a:endParaRPr lang="en-US" dirty="0"/>
          </a:p>
          <a:p>
            <a:r>
              <a:rPr lang="en-US" dirty="0"/>
              <a:t>What did you get? Probably something long, generic, full of phrases like "I hope this email finds you well" and "We sincerely apologize for any inconvenience." Not terrible, but you'd never actually send it, right?</a:t>
            </a:r>
            <a:endParaRPr lang="en-US" dirty="0"/>
          </a:p>
          <a:p>
            <a:endParaRPr lang="en-US" dirty="0"/>
          </a:p>
          <a:p>
            <a:r>
              <a:rPr lang="en-US" dirty="0"/>
              <a:t>Now Step 2: try the specific prompt on the right. Same task, but now we've added WHO it's for, HOW long, the REASON for the delay, the TONE, and what to END with.</a:t>
            </a:r>
            <a:endParaRPr lang="en-US" dirty="0"/>
          </a:p>
          <a:p>
            <a:endParaRPr lang="en-US" dirty="0"/>
          </a:p>
          <a:p>
            <a:r>
              <a:rPr lang="en-US" dirty="0"/>
              <a:t>[PAUSE — 20 seconds]</a:t>
            </a:r>
            <a:endParaRPr lang="en-US" dirty="0"/>
          </a:p>
          <a:p>
            <a:endParaRPr lang="en-US" dirty="0"/>
          </a:p>
          <a:p>
            <a:r>
              <a:rPr lang="en-US" dirty="0"/>
              <a:t>Better, right? Dramatically better. Same model, same topic, but now the output is something you could actually send.</a:t>
            </a:r>
            <a:endParaRPr lang="en-US" dirty="0"/>
          </a:p>
          <a:p>
            <a:endParaRPr lang="en-US" dirty="0"/>
          </a:p>
          <a:p>
            <a:r>
              <a:rPr lang="en-US" dirty="0"/>
              <a:t>Step 3: Now iterate. Tell it what to change. "Good, but make it warmer" or "Too long, cut it to 2 sentences." Whatever feels off — just say it.</a:t>
            </a:r>
            <a:endParaRPr lang="en-US" dirty="0"/>
          </a:p>
          <a:p>
            <a:endParaRPr lang="en-US" dirty="0"/>
          </a:p>
          <a:p>
            <a:r>
              <a:rPr lang="en-US" dirty="0"/>
              <a:t>[PAUSE — 15 seconds]</a:t>
            </a:r>
            <a:endParaRPr lang="en-US" dirty="0"/>
          </a:p>
          <a:p>
            <a:endParaRPr lang="en-US" dirty="0"/>
          </a:p>
          <a:p>
            <a:r>
              <a:rPr lang="en-US" dirty="0"/>
              <a:t>THIS is the entire talk in 60 seconds. Be specific, show what you want, iterate. Everything else we'll cover today is refinement of these three principles.</a:t>
            </a:r>
            <a:endParaRPr lang="en-US" dirty="0"/>
          </a:p>
          <a:p>
            <a:endParaRPr lang="en-US" dirty="0"/>
          </a:p>
          <a:p>
            <a:r>
              <a:rPr lang="en-US" dirty="0"/>
              <a:t>How many of you got something you'd actually send on the second or third try? [Show of hands] That's prompt engineering. That's what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session.</a:t>
            </a:r>
            <a:endParaRPr lang="en-US" dirty="0"/>
          </a:p>
          <a:p>
            <a:endParaRPr lang="en-US" dirty="0"/>
          </a:p>
          <a:p>
            <a:r>
              <a:rPr lang="en-US" dirty="0"/>
              <a:t>Part 1: We start with the foundation — understanding how LLMs actually work. This sounds basic but it changes everything about how you write prompts.</a:t>
            </a:r>
            <a:endParaRPr lang="en-US" dirty="0"/>
          </a:p>
          <a:p>
            <a:endParaRPr lang="en-US" dirty="0"/>
          </a:p>
          <a:p>
            <a:r>
              <a:rPr lang="en-US" dirty="0"/>
              <a:t>Part 2: Core techniques — the 5 Principles, the Playwriting metaphor, document types, few-shot learning. These are the bread and butter.</a:t>
            </a:r>
            <a:endParaRPr lang="en-US" dirty="0"/>
          </a:p>
          <a:p>
            <a:endParaRPr lang="en-US" dirty="0"/>
          </a:p>
          <a:p>
            <a:r>
              <a:rPr lang="en-US" dirty="0"/>
              <a:t>Part 3: Advanced patterns — this is where it gets interesting. Reasoning techniques, agents, RAG, the new concept of context engineering, meta prompting, and more.</a:t>
            </a:r>
            <a:endParaRPr lang="en-US" dirty="0"/>
          </a:p>
          <a:p>
            <a:endParaRPr lang="en-US" dirty="0"/>
          </a:p>
          <a:p>
            <a:r>
              <a:rPr lang="en-US" dirty="0"/>
              <a:t>Part 4: Practice — common mistakes everyone makes, real before-and-after rewrites, the iteration mindset, systematic evaluation, and a template library you can screenshot and use tomorrow.</a:t>
            </a:r>
            <a:endParaRPr lang="en-US" dirty="0"/>
          </a:p>
          <a:p>
            <a:endParaRPr lang="en-US" dirty="0"/>
          </a:p>
          <a:p>
            <a:r>
              <a:rPr lang="en-US" dirty="0"/>
              <a:t>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foundation: understanding how LLMs actually work.</a:t>
            </a:r>
            <a:endParaRPr lang="en-US" dirty="0"/>
          </a:p>
          <a:p>
            <a:endParaRPr lang="en-US" dirty="0"/>
          </a:p>
          <a:p>
            <a:r>
              <a:rPr lang="en-US" dirty="0"/>
              <a:t>I know many of you already use these tools daily. But understanding the mechanics underneath changes HOW you use them — and that's what makes the difference between frustration and reliable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fundamental insight from the book, and honestly the single most important thing I'll say today:</a:t>
            </a:r>
            <a:endParaRPr lang="en-US" dirty="0"/>
          </a:p>
          <a:p>
            <a:endParaRPr lang="en-US" dirty="0"/>
          </a:p>
          <a:p>
            <a:r>
              <a:rPr lang="en-US" dirty="0"/>
              <a:t>LLMs are document completers. They don't "understand" or "think." They predict the most likely next token based on patterns in their training data.</a:t>
            </a:r>
            <a:endParaRPr lang="en-US" dirty="0"/>
          </a:p>
          <a:p>
            <a:endParaRPr lang="en-US" dirty="0"/>
          </a:p>
          <a:p>
            <a:r>
              <a:rPr lang="en-US" dirty="0"/>
              <a:t>What does that mean practically? Your prompt is the beginning of a document. The model writes what should come next — the most plausible continuation.</a:t>
            </a:r>
            <a:endParaRPr lang="en-US" dirty="0"/>
          </a:p>
          <a:p>
            <a:endParaRPr lang="en-US" dirty="0"/>
          </a:p>
          <a:p>
            <a:r>
              <a:rPr lang="en-US" dirty="0"/>
              <a:t>So if your prompt looks like the start of a Wikipedia article, you get Wikipedia-style output. If it looks like the start of a professional code review, you get a code review.</a:t>
            </a:r>
            <a:endParaRPr lang="en-US" dirty="0"/>
          </a:p>
          <a:p>
            <a:endParaRPr lang="en-US" dirty="0"/>
          </a:p>
          <a:p>
            <a:r>
              <a:rPr lang="en-US" dirty="0"/>
              <a:t>Better beginning leads to better continuation leads to better results. This one mental model will improve every prompt you write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that are fundamentally different about how LLMs process text compared to humans:</a:t>
            </a:r>
            <a:endParaRPr lang="en-US" dirty="0"/>
          </a:p>
          <a:p>
            <a:endParaRPr lang="en-US" dirty="0"/>
          </a:p>
          <a:p>
            <a:r>
              <a:rPr lang="en-US" dirty="0"/>
              <a:t>First, they go one token at a time. They can't skip ahead, can't go back and re-read. This means the ORDER of your prompt matters enormously. Put the most important context first.</a:t>
            </a:r>
            <a:endParaRPr lang="en-US" dirty="0"/>
          </a:p>
          <a:p>
            <a:endParaRPr lang="en-US" dirty="0"/>
          </a:p>
          <a:p>
            <a:r>
              <a:rPr lang="en-US" dirty="0"/>
              <a:t>Second, they see tokens, not letters. 'ChatGPT' becomes three tokens: 'Chat', 'G', 'PT'. This is why they struggle with spelling tasks, counting letters, or anything character-level.</a:t>
            </a:r>
            <a:endParaRPr lang="en-US" dirty="0"/>
          </a:p>
          <a:p>
            <a:endParaRPr lang="en-US" dirty="0"/>
          </a:p>
          <a:p>
            <a:r>
              <a:rPr lang="en-US" dirty="0"/>
              <a:t>Third, it's pattern matching, not comprehension. This is actually good news — because it means few-shot examples work incredibly well. Show the model a pattern, and it will follow it. We'll come back to this.</a:t>
            </a:r>
            <a:endParaRPr lang="en-US" dirty="0"/>
          </a:p>
          <a:p>
            <a:endParaRPr lang="en-US" dirty="0"/>
          </a:p>
          <a:p>
            <a:r>
              <a:rPr lang="en-US" dirty="0"/>
              <a:t>Understanding these three things prevents the most common frustrations people have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the model's working memory — everything it can see at one time.</a:t>
            </a:r>
            <a:endParaRPr lang="en-US" dirty="0"/>
          </a:p>
          <a:p>
            <a:endParaRPr lang="en-US" dirty="0"/>
          </a:p>
          <a:p>
            <a:r>
              <a:rPr lang="en-US" dirty="0"/>
              <a:t>Think of it as a budget. You have three sections competing for this space: the system prompt with hidden instructions, your prompt with instructions and data, and the model's output.</a:t>
            </a:r>
            <a:endParaRPr lang="en-US" dirty="0"/>
          </a:p>
          <a:p>
            <a:endParaRPr lang="en-US" dirty="0"/>
          </a:p>
          <a:p>
            <a:r>
              <a:rPr lang="en-US" dirty="0"/>
              <a:t>Practical numbers: one token is roughly three-quarters of a word. GPT-4o has 128K tokens. Claude has 200K tokens. Sounds like a lot, but when you're doing RAG or feeding in documents, it fills up fast.</a:t>
            </a:r>
            <a:endParaRPr lang="en-US" dirty="0"/>
          </a:p>
          <a:p>
            <a:endParaRPr lang="en-US" dirty="0"/>
          </a:p>
          <a:p>
            <a:r>
              <a:rPr lang="en-US" dirty="0"/>
              <a:t>The key insight: every token you spend on your prompt is one fewer token available for the response. So be efficient. Cut the fluff. Front-load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Framework from the book — this is THE organizing principle for every LLM application, whether it's a simple chat or a complex agent.</a:t>
            </a:r>
            <a:endParaRPr lang="en-US" dirty="0"/>
          </a:p>
          <a:p>
            <a:endParaRPr lang="en-US" dirty="0"/>
          </a:p>
          <a:p>
            <a:r>
              <a:rPr lang="en-US" dirty="0"/>
              <a:t>Four steps: The user has a problem, expressed in human terms. YOUR job is to convert that into the model domain — adding role, context, examples, format. The LLM then completes based on the pattern you created. And YOUR job again is to transform that back — parse, validate, extract what matters.</a:t>
            </a:r>
            <a:endParaRPr lang="en-US" dirty="0"/>
          </a:p>
          <a:p>
            <a:endParaRPr lang="en-US" dirty="0"/>
          </a:p>
          <a:p>
            <a:r>
              <a:rPr lang="en-US" dirty="0"/>
              <a:t>When something fails — and it will — this framework tells you where to look. Was it a bad conversion? Your prompt wasn't clear enough. Wrong completion? Need better examples or constraints. Poor transformation? Your output format doesn't match the need.</a:t>
            </a:r>
            <a:endParaRPr lang="en-US" dirty="0"/>
          </a:p>
          <a:p>
            <a:endParaRPr lang="en-US" dirty="0"/>
          </a:p>
          <a:p>
            <a:r>
              <a:rPr lang="en-US" dirty="0"/>
              <a:t>This debugging mindset is incredibly powerful. Instead of saying "AI is bad at this," you ask "which step in the loop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how LLMs work, let's learn the core techniques for communicating effectively with them.</a:t>
            </a:r>
            <a:endParaRPr lang="en-US" dirty="0"/>
          </a:p>
          <a:p>
            <a:endParaRPr lang="en-US" dirty="0"/>
          </a:p>
          <a:p>
            <a:r>
              <a:rPr lang="en-US" dirty="0"/>
              <a:t>This section gives you the practical toolkit you'll use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 Principles from Chapter 5 — this is your complete prompting toolkit.</a:t>
            </a:r>
            <a:endParaRPr lang="en-US" dirty="0"/>
          </a:p>
          <a:p>
            <a:endParaRPr lang="en-US" dirty="0"/>
          </a:p>
          <a:p>
            <a:r>
              <a:rPr lang="en-US" dirty="0"/>
              <a:t>One: Give Direction. Assign a role. "You are a senior data analyst." This single addition shapes expertise, perspective, and tone.</a:t>
            </a:r>
            <a:endParaRPr lang="en-US" dirty="0"/>
          </a:p>
          <a:p>
            <a:endParaRPr lang="en-US" dirty="0"/>
          </a:p>
          <a:p>
            <a:r>
              <a:rPr lang="en-US" dirty="0"/>
              <a:t>Two: Specify Format. Tell it exactly what the output should look like. Bullets? JSON? Table? Word count? This eliminates the biggest source of disappointment — ambiguous expectations.</a:t>
            </a:r>
            <a:endParaRPr lang="en-US" dirty="0"/>
          </a:p>
          <a:p>
            <a:endParaRPr lang="en-US" dirty="0"/>
          </a:p>
          <a:p>
            <a:r>
              <a:rPr lang="en-US" dirty="0"/>
              <a:t>Three: Provide Examples. Few-shot learning. Show 2-3 examples of input to output. This is the most powerful technique, and we'll deep-dive into it shortly.</a:t>
            </a:r>
            <a:endParaRPr lang="en-US" dirty="0"/>
          </a:p>
          <a:p>
            <a:endParaRPr lang="en-US" dirty="0"/>
          </a:p>
          <a:p>
            <a:r>
              <a:rPr lang="en-US" dirty="0"/>
              <a:t>Four: Evaluate Quality. Build in self-checking. "Rate your confidence 1-5." "If unsure, say so." "Cite sources." Make the model accountable.</a:t>
            </a:r>
            <a:endParaRPr lang="en-US" dirty="0"/>
          </a:p>
          <a:p>
            <a:endParaRPr lang="en-US" dirty="0"/>
          </a:p>
          <a:p>
            <a:r>
              <a:rPr lang="en-US" dirty="0"/>
              <a:t>Five: Divide Labor. Complex tasks need multiple prompts. Break them down. This becomes prompt chaining, which we'll cover later.</a:t>
            </a:r>
            <a:endParaRPr lang="en-US" dirty="0"/>
          </a:p>
          <a:p>
            <a:endParaRPr lang="en-US" dirty="0"/>
          </a:p>
          <a:p>
            <a:r>
              <a:rPr lang="en-US" dirty="0"/>
              <a:t>The beauty is these compose — use two or three together and the quality jumps dramatically.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Berryman's central metaphor and I think it's the most useful mindset shift in the whole book.</a:t>
            </a:r>
            <a:endParaRPr lang="en-US" dirty="0"/>
          </a:p>
          <a:p>
            <a:endParaRPr lang="en-US" dirty="0"/>
          </a:p>
          <a:p>
            <a:r>
              <a:rPr lang="en-US" dirty="0"/>
              <a:t>You're not interrogating a search engine. You're writing a script for a brilliant actor. Like playwriting, you need to:</a:t>
            </a:r>
            <a:endParaRPr lang="en-US" dirty="0"/>
          </a:p>
          <a:p>
            <a:endParaRPr lang="en-US" dirty="0"/>
          </a:p>
          <a:p>
            <a:r>
              <a:rPr lang="en-US" dirty="0"/>
              <a:t>Set the Stage — provide context and background. What's the situation? What's already happened?</a:t>
            </a:r>
            <a:endParaRPr lang="en-US" dirty="0"/>
          </a:p>
          <a:p>
            <a:r>
              <a:rPr lang="en-US" dirty="0"/>
              <a:t>Cast the Role — what character should the AI play? What expertise do they have?</a:t>
            </a:r>
            <a:endParaRPr lang="en-US" dirty="0"/>
          </a:p>
          <a:p>
            <a:r>
              <a:rPr lang="en-US" dirty="0"/>
              <a:t>Write the Lines — show examples of the style and format you want.</a:t>
            </a:r>
            <a:endParaRPr lang="en-US" dirty="0"/>
          </a:p>
          <a:p>
            <a:r>
              <a:rPr lang="en-US" dirty="0"/>
              <a:t>Direct the Scene — set constraints on tone, format, length, boundaries.</a:t>
            </a:r>
            <a:endParaRPr lang="en-US" dirty="0"/>
          </a:p>
          <a:p>
            <a:endParaRPr lang="en-US" dirty="0"/>
          </a:p>
          <a:p>
            <a:r>
              <a:rPr lang="en-US" dirty="0"/>
              <a:t>Next time a prompt fails, ask yourself: "If I were directing an actor and they gave me this performance, what instruction was missing from my script?" That question alone will improve your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Chapter 4's unique contribution — thinking about which TYPE of document you want the model to produce.</a:t>
            </a:r>
            <a:endParaRPr lang="en-US" dirty="0"/>
          </a:p>
          <a:p>
            <a:endParaRPr lang="en-US" dirty="0"/>
          </a:p>
          <a:p>
            <a:r>
              <a:rPr lang="en-US" dirty="0"/>
              <a:t>Most people default to Advice Conversation mode. That's the natural Q&amp;A dialogue — great for brainstorming and exploration.</a:t>
            </a:r>
            <a:endParaRPr lang="en-US" dirty="0"/>
          </a:p>
          <a:p>
            <a:endParaRPr lang="en-US" dirty="0"/>
          </a:p>
          <a:p>
            <a:r>
              <a:rPr lang="en-US" dirty="0"/>
              <a:t>But Analytic Report mode — where the model plays analyst — is far better for code review, data analysis, comparisons.</a:t>
            </a:r>
            <a:endParaRPr lang="en-US" dirty="0"/>
          </a:p>
          <a:p>
            <a:endParaRPr lang="en-US" dirty="0"/>
          </a:p>
          <a:p>
            <a:r>
              <a:rPr lang="en-US" dirty="0"/>
              <a:t>And Structured Document mode — where the model fills in a template — is what you want for JSON, CSV, forms, standardized output.</a:t>
            </a:r>
            <a:endParaRPr lang="en-US" dirty="0"/>
          </a:p>
          <a:p>
            <a:endParaRPr lang="en-US" dirty="0"/>
          </a:p>
          <a:p>
            <a:r>
              <a:rPr lang="en-US" dirty="0"/>
              <a:t>Choosing the right document type before you start writing your prompt changes everything about how you structure it. The mistake I see most often: people trying to get structured data out of a conversational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dimensions that determine how your prompt elements interact:</a:t>
            </a:r>
            <a:endParaRPr lang="en-US" dirty="0"/>
          </a:p>
          <a:p>
            <a:endParaRPr lang="en-US" dirty="0"/>
          </a:p>
          <a:p>
            <a:r>
              <a:rPr lang="en-US" dirty="0"/>
              <a:t>Position: elements at the start and end get the most attention. This is primacy and recency effect, same as in human cognition. Put your critical constraints EARLY.</a:t>
            </a:r>
            <a:endParaRPr lang="en-US" dirty="0"/>
          </a:p>
          <a:p>
            <a:endParaRPr lang="en-US" dirty="0"/>
          </a:p>
          <a:p>
            <a:r>
              <a:rPr lang="en-US" dirty="0"/>
              <a:t>Importance: not all elements carry equal weight. Role and format instructions dominate the output. Examples outweigh verbal descriptions every time. Explicit constraints beat suggestions.</a:t>
            </a:r>
            <a:endParaRPr lang="en-US" dirty="0"/>
          </a:p>
          <a:p>
            <a:endParaRPr lang="en-US" dirty="0"/>
          </a:p>
          <a:p>
            <a:r>
              <a:rPr lang="en-US" dirty="0"/>
              <a:t>Dependency: elements don't exist in isolation. The role you assign changes how examples are interpreted. Format requirements can conflict with task complexity.</a:t>
            </a:r>
            <a:endParaRPr lang="en-US" dirty="0"/>
          </a:p>
          <a:p>
            <a:endParaRPr lang="en-US" dirty="0"/>
          </a:p>
          <a:p>
            <a:r>
              <a:rPr lang="en-US" dirty="0"/>
              <a:t>Practical takeaway: when a prompt isn't working, don't just add more instructions. Check: is it in the right position? Are the most important elements getting priority? Are any elements conflicting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ESSENTIAL TECHNIQUE — this is probably the single highest-impact technique after being specific.</a:t>
            </a:r>
            <a:endParaRPr lang="en-US" dirty="0"/>
          </a:p>
          <a:p>
            <a:endParaRPr lang="en-US" dirty="0"/>
          </a:p>
          <a:p>
            <a:r>
              <a:rPr lang="en-US" dirty="0"/>
              <a:t>Let me share a real failure story. A team I worked with was building an AI-powered code review tool. They wrote a beautiful, detailed system prompt describing exactly what kind of feedback they wanted — tone, format, level of detail, everything. The output was... mediocre. Generic comments, missed the project conventions, felt like boilerplate.</a:t>
            </a:r>
            <a:endParaRPr lang="en-US" dirty="0"/>
          </a:p>
          <a:p>
            <a:endParaRPr lang="en-US" dirty="0"/>
          </a:p>
          <a:p>
            <a:r>
              <a:rPr lang="en-US" dirty="0"/>
              <a:t>The fix? They added three examples of actual code reviews their senior developers had written. Three examples. The output quality jumped dramatically overnight. The model stopped guessing what good looked like and started MATCHING what good looked like.</a:t>
            </a:r>
            <a:endParaRPr lang="en-US" dirty="0"/>
          </a:p>
          <a:p>
            <a:endParaRPr lang="en-US" dirty="0"/>
          </a:p>
          <a:p>
            <a:r>
              <a:rPr lang="en-US" dirty="0"/>
              <a:t>Few-shot prompting — I'll say it plainly: this is the single technique that will improve your results more than any other.</a:t>
            </a:r>
            <a:endParaRPr lang="en-US" dirty="0"/>
          </a:p>
          <a:p>
            <a:endParaRPr lang="en-US" dirty="0"/>
          </a:p>
          <a:p>
            <a:r>
              <a:rPr lang="en-US" dirty="0"/>
              <a:t>Instead of describing what you want, you SHOW examples. Without examples, "convert casual to formal" gives you inconsistent results every time. Different style, different tone, unpredictable.</a:t>
            </a:r>
            <a:endParaRPr lang="en-US" dirty="0"/>
          </a:p>
          <a:p>
            <a:endParaRPr lang="en-US" dirty="0"/>
          </a:p>
          <a:p>
            <a:r>
              <a:rPr lang="en-US" dirty="0"/>
              <a:t>With 3 examples? The model learns YOUR exact pattern. Consistent, predictable, matches your tone precisely.</a:t>
            </a:r>
            <a:endParaRPr lang="en-US" dirty="0"/>
          </a:p>
          <a:p>
            <a:endParaRPr lang="en-US" dirty="0"/>
          </a:p>
          <a:p>
            <a:r>
              <a:rPr lang="en-US" dirty="0"/>
              <a:t>Why does this work so well? Remember slide 7 — LLMs are pattern matching machines. Examples play directly to their core strength. There's no ambiguity possible when you show exactly what you want.</a:t>
            </a:r>
            <a:endParaRPr lang="en-US" dirty="0"/>
          </a:p>
          <a:p>
            <a:endParaRPr lang="en-US" dirty="0"/>
          </a:p>
          <a:p>
            <a:r>
              <a:rPr lang="en-US" dirty="0"/>
              <a:t>The sweet spot is 2-3 diverse examples. Include at least one edge case. Mark them clearly with delimiters. This is the technique I recommend everyone starts with today.</a:t>
            </a:r>
            <a:endParaRPr lang="en-US" dirty="0"/>
          </a:p>
          <a:p>
            <a:endParaRPr lang="en-US" dirty="0"/>
          </a:p>
          <a:p>
            <a:r>
              <a:rPr lang="en-US" dirty="0"/>
              <a:t>If you lead a team: making a shared library of few-shot examples for your domain is one of the highest-ROI things you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how ALL the pieces fit together in one prompt.</a:t>
            </a:r>
            <a:endParaRPr lang="en-US" dirty="0"/>
          </a:p>
          <a:p>
            <a:endParaRPr lang="en-US" dirty="0"/>
          </a:p>
          <a:p>
            <a:r>
              <a:rPr lang="en-US" dirty="0"/>
              <a:t>Role at the top: "You are a senior Python developer." That's Give Direction.</a:t>
            </a:r>
            <a:endParaRPr lang="en-US" dirty="0"/>
          </a:p>
          <a:p>
            <a:r>
              <a:rPr lang="en-US" dirty="0"/>
              <a:t>Context: "reviewing code for a REST API." That's Setting the Stage.</a:t>
            </a:r>
            <a:endParaRPr lang="en-US" dirty="0"/>
          </a:p>
          <a:p>
            <a:r>
              <a:rPr lang="en-US" dirty="0"/>
              <a:t>Task: "Review for security, bugs, performance." Be Specific.</a:t>
            </a:r>
            <a:endParaRPr lang="en-US" dirty="0"/>
          </a:p>
          <a:p>
            <a:r>
              <a:rPr lang="en-US" dirty="0"/>
              <a:t>Format: "For each issue, describe it, rate severity, suggest a fix." Specify Format.</a:t>
            </a:r>
            <a:endParaRPr lang="en-US" dirty="0"/>
          </a:p>
          <a:p>
            <a:r>
              <a:rPr lang="en-US" dirty="0"/>
              <a:t>Examples: include 1-2 examples of ideal output. Provide Examples.</a:t>
            </a:r>
            <a:endParaRPr lang="en-US" dirty="0"/>
          </a:p>
          <a:p>
            <a:r>
              <a:rPr lang="en-US" dirty="0"/>
              <a:t>And Chain of Thought: "Think through each concern systematically." Divide Labor.</a:t>
            </a:r>
            <a:endParaRPr lang="en-US" dirty="0"/>
          </a:p>
          <a:p>
            <a:endParaRPr lang="en-US" dirty="0"/>
          </a:p>
          <a:p>
            <a:r>
              <a:rPr lang="en-US" dirty="0"/>
              <a:t>Each layer adds precision. Together they compose into prompts that reliably produce excellent results. This is the anatomy you should aim for on any non-trivial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level up. The advanced patterns in this section unlock the most powerful capabilities of LLMs.</a:t>
            </a:r>
            <a:endParaRPr lang="en-US" dirty="0"/>
          </a:p>
          <a:p>
            <a:endParaRPr lang="en-US" dirty="0"/>
          </a:p>
          <a:p>
            <a:r>
              <a:rPr lang="en-US" dirty="0"/>
              <a:t>We'll go from reasoning techniques to agents to the bigger picture of context engineering. Each technique builds on what we've covered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ESSENTIAL TECHNIQUE — this directly extends the 80/20: being specific about HOW to reason, not just WHAT to answer. Chain of Thought — asking the model to show its work, like showing work in a math class.</a:t>
            </a:r>
            <a:endParaRPr lang="en-US" dirty="0"/>
          </a:p>
          <a:p>
            <a:endParaRPr lang="en-US" dirty="0"/>
          </a:p>
          <a:p>
            <a:r>
              <a:rPr lang="en-US" dirty="0"/>
              <a:t>Now, important update for 2025: modern reasoning models like OpenAI's o3, Claude with extended thinking, and Gemini 2.5 Pro now do this automatically. You don't need to say "think step by step" — they already do.</a:t>
            </a:r>
            <a:endParaRPr lang="en-US" dirty="0"/>
          </a:p>
          <a:p>
            <a:endParaRPr lang="en-US" dirty="0"/>
          </a:p>
          <a:p>
            <a:r>
              <a:rPr lang="en-US" dirty="0"/>
              <a:t>So why is this slide still here? Three reasons:</a:t>
            </a:r>
            <a:endParaRPr lang="en-US" dirty="0"/>
          </a:p>
          <a:p>
            <a:endParaRPr lang="en-US" dirty="0"/>
          </a:p>
          <a:p>
            <a:r>
              <a:rPr lang="en-US" dirty="0"/>
              <a:t>First, debugging. When output is wrong, explicitly asking for reasoning helps you find WHERE the logic broke. Instead of "wrong answer," you can see "ah, it made a wrong assumption in step 3."</a:t>
            </a:r>
            <a:endParaRPr lang="en-US" dirty="0"/>
          </a:p>
          <a:p>
            <a:endParaRPr lang="en-US" dirty="0"/>
          </a:p>
          <a:p>
            <a:r>
              <a:rPr lang="en-US" dirty="0"/>
              <a:t>Second, smaller models. GPT-4o-mini, Claude Haiku, local open-source models — they still benefit enormously from explicit CoT prompting. The performance difference can be 50%+.</a:t>
            </a:r>
            <a:endParaRPr lang="en-US" dirty="0"/>
          </a:p>
          <a:p>
            <a:endParaRPr lang="en-US" dirty="0"/>
          </a:p>
          <a:p>
            <a:r>
              <a:rPr lang="en-US" dirty="0"/>
              <a:t>Third, structured output. For complex tasks where you need both reasoning AND a specific format, "think first, then format your answer" prevents the model from taking shortcuts.</a:t>
            </a:r>
            <a:endParaRPr lang="en-US" dirty="0"/>
          </a:p>
          <a:p>
            <a:endParaRPr lang="en-US" dirty="0"/>
          </a:p>
          <a:p>
            <a:r>
              <a:rPr lang="en-US" dirty="0"/>
              <a:t>CoT went from technique to architecture. It's now built into the best models. But knowing WHY it works makes you a better prompt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UNDERRATED DAILY TECHNIQUE — think of this as a twist on the 80/20. Instead of showing the model examples, you ask it to generate its own context first. Prewarming — also called internal retrieval. Before asking your real question, ask the model to first brainstorm relevant knowledge. Then use that as context for the actual task.</a:t>
            </a:r>
            <a:endParaRPr lang="en-US" dirty="0"/>
          </a:p>
          <a:p>
            <a:endParaRPr lang="en-US" dirty="0"/>
          </a:p>
          <a:p>
            <a:r>
              <a:rPr lang="en-US" dirty="0"/>
              <a:t>Without prewarming: generic output. With prewarming — Step 1: "List expert tips for this domain." Step 2: "Now using those tips, do the task." The model primes itself with expertise and quality jumps dramatically.</a:t>
            </a:r>
            <a:endParaRPr lang="en-US" dirty="0"/>
          </a:p>
          <a:p>
            <a:endParaRPr lang="en-US" dirty="0"/>
          </a:p>
          <a:p>
            <a:r>
              <a:rPr lang="en-US" dirty="0"/>
              <a:t>It's like a student reviewing notes before an exam. Works for any domain — coding, strategy, writing. Takes 10 extra seconds, immediate quality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ESSENTIAL IF YOU'RE BUILDING AI FEATURES. ReAct — Reasoning plus Action. THE pattern behind every AI agent. Think → Act → Observe → Repeat. This is how ChatGPT plugins, GitHub Copilot, and Claude with tools all work behind the scenes. If you're building AI automation, this is the foundational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ESSENTIAL TECHNIQUE — this is the 80/20 principle of iteration, but applied to the prompt itself. Instead of iterating on one big prompt, you iterate across a pipeline of small ones. Prompt Chaining — break complex tasks into a pipeline. Output of step A becomes input of step B. Each step simple, testable, reliable. This is how production AI apps are built.</a:t>
            </a:r>
            <a:endParaRPr lang="en-US" dirty="0"/>
          </a:p>
          <a:p>
            <a:endParaRPr lang="en-US" dirty="0"/>
          </a:p>
          <a:p>
            <a:r>
              <a:rPr lang="en-US" dirty="0"/>
              <a:t>For engineering leads: prompt chains are reviewable, testable, and versionable — the structure teams need to move AI from experiments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being specific taken to its logical extreme — instead of describing context, you inject the actual source documents. LLMs don't know YOUR data. RAG fetches relevant docs at query time, injects into prompt, generates grounded answers. No retraining needed. Always up to date. Dramatically reduces hallucination.</a:t>
            </a:r>
            <a:endParaRPr lang="en-US" dirty="0"/>
          </a:p>
          <a:p>
            <a:endParaRPr lang="en-US" dirty="0"/>
          </a:p>
          <a:p>
            <a:r>
              <a:rPr lang="en-US" dirty="0"/>
              <a:t>Critical for documentation bots, code search, customer support, enterprise knowledge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 THE hot topic. Prompt engineering is evolving to designing the full information architecture: system instructions, memory, retrieved docs, tool schemas, conversation history, and current task. Six layers to optimize.</a:t>
            </a:r>
            <a:endParaRPr lang="en-US" dirty="0"/>
          </a:p>
          <a:p>
            <a:endParaRPr lang="en-US" dirty="0"/>
          </a:p>
          <a:p>
            <a:r>
              <a:rPr lang="en-US" dirty="0"/>
              <a:t>For engineering leaders: if your team only discusses "the prompt," they're missing five of six layers. Context engineering should be part of design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paradigm shift that defines 2026.</a:t>
            </a:r>
            <a:endParaRPr lang="en-US" dirty="0"/>
          </a:p>
          <a:p>
            <a:endParaRPr lang="en-US" dirty="0"/>
          </a:p>
          <a:p>
            <a:r>
              <a:rPr lang="en-US" dirty="0"/>
              <a:t>Look at the two columns. Left: chat mode — you type, AI responds, you iterate manually. Totally fine for quick tasks.</a:t>
            </a:r>
            <a:endParaRPr lang="en-US" dirty="0"/>
          </a:p>
          <a:p>
            <a:endParaRPr lang="en-US" dirty="0"/>
          </a:p>
          <a:p>
            <a:r>
              <a:rPr lang="en-US" dirty="0"/>
              <a:t>Right: agent mode — you write instructions ONCE, the agent executes autonomously. It reads your codebase, makes changes across files, runs tests, fixes errors, loops until done. This is Claude Code, Copilot agent mode, Codex — over 20 million Copilot users now, with agent mode becoming the default workflow.</a:t>
            </a:r>
            <a:endParaRPr lang="en-US" dirty="0"/>
          </a:p>
          <a:p>
            <a:endParaRPr lang="en-US" dirty="0"/>
          </a:p>
          <a:p>
            <a:r>
              <a:rPr lang="en-US" dirty="0"/>
              <a:t>Andrew Ng's insight: GPT-3.5 in an agentic workflow scored 95% on HumanEval. GPT-4 with a single prompt? 67%. A weaker model in a better workflow crushed a stronger model. The architecture matters more than the phrasing.</a:t>
            </a:r>
            <a:endParaRPr lang="en-US" dirty="0"/>
          </a:p>
          <a:p>
            <a:endParaRPr lang="en-US" dirty="0"/>
          </a:p>
          <a:p>
            <a:r>
              <a:rPr lang="en-US" dirty="0"/>
              <a:t>But the 80/20 applies to BOTH. Be specific, show examples, set constraints. The difference: in chat you do this every conversation. In agent mode, you write it once and it applies to thousands of interactions.</a:t>
            </a:r>
            <a:endParaRPr lang="en-US" dirty="0"/>
          </a:p>
          <a:p>
            <a:endParaRPr lang="en-US" dirty="0"/>
          </a:p>
          <a:p>
            <a:r>
              <a:rPr lang="en-US" dirty="0"/>
              <a:t>For me personally — I almost never use chat for coding anymore. It's Claude Code or Copilot agent mode for anything substantial. Chat is for quick questions or when I'm in the browser.</a:t>
            </a:r>
            <a:endParaRPr lang="en-US" dirty="0"/>
          </a:p>
          <a:p>
            <a:endParaRPr lang="en-US" dirty="0"/>
          </a:p>
          <a:p>
            <a:r>
              <a:rPr lang="en-US" dirty="0"/>
              <a:t>How many of you already use agent mode? For those who don't — try it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your prompting skills actually live in 2026.</a:t>
            </a:r>
            <a:endParaRPr lang="en-US" dirty="0"/>
          </a:p>
          <a:p>
            <a:endParaRPr lang="en-US" dirty="0"/>
          </a:p>
          <a:p>
            <a:r>
              <a:rPr lang="en-US" dirty="0"/>
              <a:t>CLAUDE.md — configuration file for Claude Code. Lives in your repo, version-controlled, shared with your team. Your coding conventions, testing requirements, architecture decisions — all in Markdown. Everything about being specific and setting constraints applies, you're just writing it in a file.</a:t>
            </a:r>
            <a:endParaRPr lang="en-US" dirty="0"/>
          </a:p>
          <a:p>
            <a:endParaRPr lang="en-US" dirty="0"/>
          </a:p>
          <a:p>
            <a:r>
              <a:rPr lang="en-US" dirty="0"/>
              <a:t>copilot-instructions.md — same for GitHub Copilot. Lives in .github/. Tells Copilot your conventions: language, framework, error handling, patterns. More specific = better suggestions.</a:t>
            </a:r>
            <a:endParaRPr lang="en-US" dirty="0"/>
          </a:p>
          <a:p>
            <a:endParaRPr lang="en-US" dirty="0"/>
          </a:p>
          <a:p>
            <a:r>
              <a:rPr lang="en-US" dirty="0"/>
              <a:t>System prompts for production agents — identity, rules, format, guardrails. We cover this in detail later.</a:t>
            </a:r>
            <a:endParaRPr lang="en-US" dirty="0"/>
          </a:p>
          <a:p>
            <a:endParaRPr lang="en-US" dirty="0"/>
          </a:p>
          <a:p>
            <a:r>
              <a:rPr lang="en-US" dirty="0"/>
              <a:t>Notice the bottom line: same skills, new surface. The 80/20 from slide 5 — be specific, give examples, set constraints — applies directly. You're just writing it in a file instead of a chatbox. And that file gets version-controlled, reviewed in PRs, and affects every developer on your team.</a:t>
            </a:r>
            <a:endParaRPr lang="en-US" dirty="0"/>
          </a:p>
          <a:p>
            <a:endParaRPr lang="en-US" dirty="0"/>
          </a:p>
          <a:p>
            <a:r>
              <a:rPr lang="en-US" dirty="0"/>
              <a:t>This is why prompt engineering is not dead — it moved from ephemeral chat messages to persistent, reviewable, scalable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Prompting — use LLMs to write your prompts. Describe what you want, the LLM generates an optimized prompt, you test and iterate. Anthropic Console, OpenAI Playground, or just ask Claude: "Help me write a prompt that does X."</a:t>
            </a:r>
            <a:endParaRPr lang="en-US" dirty="0"/>
          </a:p>
          <a:p>
            <a:endParaRPr lang="en-US" dirty="0"/>
          </a:p>
          <a:p>
            <a:r>
              <a:rPr lang="en-US" dirty="0"/>
              <a:t>Recursion at its finest. Most experienced prompt engineers use this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USE TECHNIQUE — this is 80/20 habit number three, iterate, turned up to eleven. Instead of YOU critiquing the output, you make the model do it. Self-Critique — don't accept the first draft. Ask the model to critique its OWN work, then rewrite. Generate → Critique → Revise. LLMs are better critics than creators.</a:t>
            </a:r>
            <a:endParaRPr lang="en-US" dirty="0"/>
          </a:p>
          <a:p>
            <a:endParaRPr lang="en-US" dirty="0"/>
          </a:p>
          <a:p>
            <a:r>
              <a:rPr lang="en-US" dirty="0"/>
              <a:t>Power moves: "What's missing?" forces thinking about gaps. Cross-model critique — give Claude's output to GPT for feedback. Costs nothing extra. Just add "Now critique this" to any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Style Unbundling — this is 80/20 habit number two, show don't tell, for writing style. From the Phoenix and Taylor book. Instead of describing style, EXTRACT features from example text, then apply explicitly.</a:t>
            </a:r>
            <a:endParaRPr lang="en-US" dirty="0"/>
          </a:p>
          <a:p>
            <a:endParaRPr lang="en-US" dirty="0"/>
          </a:p>
          <a:p>
            <a:r>
              <a:rPr lang="en-US" dirty="0"/>
              <a:t>Three steps: provide sample → extract features (tone, sentence length, vocabulary, rhetorical devices) → generate new content using those exact features. Much more reliable than vague style descriptions.</a:t>
            </a:r>
            <a:endParaRPr lang="en-US" dirty="0"/>
          </a:p>
          <a:p>
            <a:endParaRPr lang="en-US" dirty="0"/>
          </a:p>
          <a:p>
            <a:r>
              <a:rPr lang="en-US" dirty="0"/>
              <a:t>Killer use cases: brand voice consistency and ghostwriting.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controls randomness: low (0.1) for facts and code, medium (0.5) for professional writing, high (0.9) for creative work. Start at 0.3-0.5 and adjust.</a:t>
            </a:r>
            <a:endParaRPr lang="en-US" dirty="0"/>
          </a:p>
          <a:p>
            <a:endParaRPr lang="en-US" dirty="0"/>
          </a:p>
          <a:p>
            <a:r>
              <a:rPr lang="en-US" dirty="0"/>
              <a:t>The Alignment Tax — RLHF made models helpful but also verbose, hedging, and overly cautious. Modern models are much better, but when you see it: be explicit. "Be concise. No disclaimers. Direct answers only."</a:t>
            </a:r>
            <a:endParaRPr lang="en-US" dirty="0"/>
          </a:p>
          <a:p>
            <a:endParaRPr lang="en-US" dirty="0"/>
          </a:p>
          <a:p>
            <a:r>
              <a:rPr lang="en-US" dirty="0"/>
              <a:t>I merged these two concepts into one slide because they're both about understanding model behavior. Temperature is a knob you turn. Alignment tax is a pattern you recognize and work around. Neither is a technique — they're mental models for debugging when output feels "off."</a:t>
            </a:r>
            <a:endParaRPr lang="en-US" dirty="0"/>
          </a:p>
          <a:p>
            <a:endParaRPr lang="en-US" dirty="0"/>
          </a:p>
          <a:p>
            <a:r>
              <a:rPr lang="en-US" dirty="0"/>
              <a:t>Quick tip from experience: if a model keeps hedging or adding disclaimers in production, don't just add "be concise" to the user prompt. Put it in the system prompt. That's where behavior constraints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remember when you walk out of here.</a:t>
            </a:r>
            <a:endParaRPr lang="en-US" dirty="0"/>
          </a:p>
          <a:p>
            <a:endParaRPr lang="en-US" dirty="0"/>
          </a:p>
          <a:p>
            <a:r>
              <a:rPr lang="en-US" dirty="0"/>
              <a:t>Notice the three tiers. This is deliberate. I've organized these by how often you'll actually use them.</a:t>
            </a:r>
            <a:endParaRPr lang="en-US" dirty="0"/>
          </a:p>
          <a:p>
            <a:endParaRPr lang="en-US" dirty="0"/>
          </a:p>
          <a:p>
            <a:r>
              <a:rPr lang="en-US" dirty="0"/>
              <a:t>Top tier, daily use — magenta. These four solve probably 80-90% of your day-to-day AI interactions. Be specific, use examples, self-critique your outputs, and use meta prompting to help you write better prompts. If you only learn these four, you're already ahead of most people.</a:t>
            </a:r>
            <a:endParaRPr lang="en-US" dirty="0"/>
          </a:p>
          <a:p>
            <a:endParaRPr lang="en-US" dirty="0"/>
          </a:p>
          <a:p>
            <a:r>
              <a:rPr lang="en-US" dirty="0"/>
              <a:t>Middle tier, situational — blue. These are for when the daily techniques aren't enough. Complex multi-step tasks need chaining. Domain expertise needs prewarming. Style matching needs unbundling. High-stakes decisions need self-consistency. You won't use these every day, but when you need them, they're game changers.</a:t>
            </a:r>
            <a:endParaRPr lang="en-US" dirty="0"/>
          </a:p>
          <a:p>
            <a:endParaRPr lang="en-US" dirty="0"/>
          </a:p>
          <a:p>
            <a:r>
              <a:rPr lang="en-US" dirty="0"/>
              <a:t>Bottom tier, product-grade — teal. These are for engineering teams building AI features. Context engineering and SOMA are how you go from "it works in a demo" to "it works in production." Most people in this room won't need these immediately, but if you're leading AI initiatives, this is your roadmap.</a:t>
            </a:r>
            <a:endParaRPr lang="en-US" dirty="0"/>
          </a:p>
          <a:p>
            <a:endParaRPr lang="en-US" dirty="0"/>
          </a:p>
          <a:p>
            <a:r>
              <a:rPr lang="en-US" dirty="0"/>
              <a:t>The key message: start at the top. Move down ONLY when the simpler approach isn't enough. I see so many teams jump straight to complex architectures when being specific with their prompts would have solved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 lot of theory and techniques. Now comes the part that separates knowledge from skill.</a:t>
            </a:r>
            <a:endParaRPr lang="en-US" dirty="0"/>
          </a:p>
          <a:p>
            <a:endParaRPr lang="en-US" dirty="0"/>
          </a:p>
          <a:p>
            <a:r>
              <a:rPr lang="en-US" dirty="0"/>
              <a:t>This section is about muscle memory. We'll look at the five most common mistakes — and I guarantee you'll recognize at least three. We'll see real before-and-after rewrites. We'll practice the iteration mindset. And we'll walk out with templates you can use tomorrow.</a:t>
            </a:r>
            <a:endParaRPr lang="en-US" dirty="0"/>
          </a:p>
          <a:p>
            <a:endParaRPr lang="en-US" dirty="0"/>
          </a:p>
          <a:p>
            <a:r>
              <a:rPr lang="en-US" dirty="0"/>
              <a:t>If Part 3 was the toolbox, Part 4 is the workshop. Let's get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pitfalls that I see ALL the time. And I guarantee you'll recognize at least three.</a:t>
            </a:r>
            <a:endParaRPr lang="en-US" dirty="0"/>
          </a:p>
          <a:p>
            <a:endParaRPr lang="en-US" dirty="0"/>
          </a:p>
          <a:p>
            <a:r>
              <a:rPr lang="en-US" dirty="0"/>
              <a:t>Being too vague — this is number one by a mile. "Help me with this" is not a prompt. Add WHO it's for, WHAT format, HOW long. This maps directly to 80/20 habit one.</a:t>
            </a:r>
            <a:endParaRPr lang="en-US" dirty="0"/>
          </a:p>
          <a:p>
            <a:endParaRPr lang="en-US" dirty="0"/>
          </a:p>
          <a:p>
            <a:r>
              <a:rPr lang="en-US" dirty="0"/>
              <a:t>Negative instructions — "Don't be too technical" tells the model what to avoid, not what to DO. Flip it: "Write at a 10th-grade level." Positive framing works better because the model is predicting what comes next, not what doesn't.</a:t>
            </a:r>
            <a:endParaRPr lang="en-US" dirty="0"/>
          </a:p>
          <a:p>
            <a:endParaRPr lang="en-US" dirty="0"/>
          </a:p>
          <a:p>
            <a:r>
              <a:rPr lang="en-US" dirty="0"/>
              <a:t>Monolithic prompts — trying to do everything in one shot. "Analyze Q3 sales, find trends, compare Q2, write report." Break it into steps. This is prompt chaining in practice.</a:t>
            </a:r>
            <a:endParaRPr lang="en-US" dirty="0"/>
          </a:p>
          <a:p>
            <a:endParaRPr lang="en-US" dirty="0"/>
          </a:p>
          <a:p>
            <a:r>
              <a:rPr lang="en-US" dirty="0"/>
              <a:t>Ignoring hallucinations — always ask for sources or add "If you're not sure, say so." Models will happily make things up with complete confidence.</a:t>
            </a:r>
            <a:endParaRPr lang="en-US" dirty="0"/>
          </a:p>
          <a:p>
            <a:endParaRPr lang="en-US" dirty="0"/>
          </a:p>
          <a:p>
            <a:r>
              <a:rPr lang="en-US" dirty="0"/>
              <a:t>Not iterating — this is 80/20 habit three. Your first prompt is a rough draft. The iteration loop is where the magic happens. Three rounds of 30 seconds beats one perfect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before-and-after rewrites. Every good rewrite applies one of three transformations: add specificity, add structure, or decompose into steps.</a:t>
            </a:r>
            <a:endParaRPr lang="en-US" dirty="0"/>
          </a:p>
          <a:p>
            <a:endParaRPr lang="en-US" dirty="0"/>
          </a:p>
          <a:p>
            <a:r>
              <a:rPr lang="en-US" dirty="0"/>
              <a:t>Vague to specific: "Summarize these meeting notes" becomes "Extract key decisions, action items with owners, and open questions, max 150 words." We added WHO it's for, WHAT to extract, HOW long.</a:t>
            </a:r>
            <a:endParaRPr lang="en-US" dirty="0"/>
          </a:p>
          <a:p>
            <a:endParaRPr lang="en-US" dirty="0"/>
          </a:p>
          <a:p>
            <a:r>
              <a:rPr lang="en-US" dirty="0"/>
              <a:t>Negative to positive: "Don't be too technical and don't use jargon" becomes "Explain at high school level. Everyday analogies. Under 100 words." We flipped from avoidance to concrete targets.</a:t>
            </a:r>
            <a:endParaRPr lang="en-US" dirty="0"/>
          </a:p>
          <a:p>
            <a:endParaRPr lang="en-US" dirty="0"/>
          </a:p>
          <a:p>
            <a:r>
              <a:rPr lang="en-US" dirty="0"/>
              <a:t>Monolith to chained: "Analyze Q3 sales, find trends, compare Q2, write report" becomes four sequential steps. Each step simple, testable, focused.</a:t>
            </a:r>
            <a:endParaRPr lang="en-US" dirty="0"/>
          </a:p>
          <a:p>
            <a:endParaRPr lang="en-US" dirty="0"/>
          </a:p>
          <a:p>
            <a:r>
              <a:rPr lang="en-US" dirty="0"/>
              <a:t>When your prompt isn't working, ask: which of these three transformations haven't I applied yet? That diagnosis solves 80% of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about the moment prompt engineering clicked for me.</a:t>
            </a:r>
            <a:endParaRPr lang="en-US" dirty="0"/>
          </a:p>
          <a:p>
            <a:endParaRPr lang="en-US" dirty="0"/>
          </a:p>
          <a:p>
            <a:r>
              <a:rPr lang="en-US" dirty="0"/>
              <a:t>I was writing a blog post about Infrastructure as Code. I asked Claude to draft it. The result was... technically correct but completely lifeless. Generic cloud platitudes, no personality, read like every other tech blog on the internet.</a:t>
            </a:r>
            <a:endParaRPr lang="en-US" dirty="0"/>
          </a:p>
          <a:p>
            <a:endParaRPr lang="en-US" dirty="0"/>
          </a:p>
          <a:p>
            <a:r>
              <a:rPr lang="en-US" dirty="0"/>
              <a:t>My instinct was to rewrite the prompt from scratch. Spend 15 minutes crafting the perfect instruction. But instead, I tried something different. I just told it what was wrong.</a:t>
            </a:r>
            <a:endParaRPr lang="en-US" dirty="0"/>
          </a:p>
          <a:p>
            <a:endParaRPr lang="en-US" dirty="0"/>
          </a:p>
          <a:p>
            <a:r>
              <a:rPr lang="en-US" dirty="0"/>
              <a:t>"This reads like a corporate whitepaper. I want it to sound like I'm explaining this to a smart colleague over coffee. More opinionated. Use a concrete example from Azure DevOps, not generic cloud stuff."</a:t>
            </a:r>
            <a:endParaRPr lang="en-US" dirty="0"/>
          </a:p>
          <a:p>
            <a:endParaRPr lang="en-US" dirty="0"/>
          </a:p>
          <a:p>
            <a:r>
              <a:rPr lang="en-US" dirty="0"/>
              <a:t>Thirty seconds of feedback. The second draft was dramatically better. Still not perfect — the examples were a bit forced. So I said "The Azure DevOps example is good but make it feel like a real problem I actually hit, not a textbook scenario."</a:t>
            </a:r>
            <a:endParaRPr lang="en-US" dirty="0"/>
          </a:p>
          <a:p>
            <a:endParaRPr lang="en-US" dirty="0"/>
          </a:p>
          <a:p>
            <a:r>
              <a:rPr lang="en-US" dirty="0"/>
              <a:t>Third draft? I published it with minor edits.</a:t>
            </a:r>
            <a:endParaRPr lang="en-US" dirty="0"/>
          </a:p>
          <a:p>
            <a:endParaRPr lang="en-US" dirty="0"/>
          </a:p>
          <a:p>
            <a:r>
              <a:rPr lang="en-US" dirty="0"/>
              <a:t>Three rounds of 30 seconds each. Ninety seconds of iteration beat 15 minutes of prompt crafting. That's the moment I stopped trying to write perfect prompts and started having conversations instead.</a:t>
            </a:r>
            <a:endParaRPr lang="en-US" dirty="0"/>
          </a:p>
          <a:p>
            <a:endParaRPr lang="en-US" dirty="0"/>
          </a:p>
          <a:p>
            <a:r>
              <a:rPr lang="en-US" dirty="0"/>
              <a:t>That's 80/20 habit number three in action. Your first prompt is a rough draft. Read the output. Tell the model what's wrong. Refine. The iteration mindset is the single most important behavioral change you can make.</a:t>
            </a:r>
            <a:endParaRPr lang="en-US" dirty="0"/>
          </a:p>
          <a:p>
            <a:endParaRPr lang="en-US" dirty="0"/>
          </a:p>
          <a:p>
            <a:r>
              <a:rPr lang="en-US" dirty="0"/>
              <a:t>Look at the slide — three attempts, each getting dramatically better. Not because the prompts got more complex, but because each round added the ONE thing that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prompt engineering becomes software engineering. And honestly, this is what separates people who play with AI from people who build with AI.</a:t>
            </a:r>
            <a:endParaRPr lang="en-US" dirty="0"/>
          </a:p>
          <a:p>
            <a:endParaRPr lang="en-US" dirty="0"/>
          </a:p>
          <a:p>
            <a:r>
              <a:rPr lang="en-US" dirty="0"/>
              <a:t>SOMA — four letters, and if you're building anything that goes to production, you need all four.</a:t>
            </a:r>
            <a:endParaRPr lang="en-US" dirty="0"/>
          </a:p>
          <a:p>
            <a:endParaRPr lang="en-US" dirty="0"/>
          </a:p>
          <a:p>
            <a:r>
              <a:rPr lang="en-US" dirty="0"/>
              <a:t>S — Specificity. Don't test with "does it work?" Test with concrete scenarios. "Given this input, I expect this output." Write 10-20 specific test cases. Include the weird ones — what happens with empty input? What about an input in Dutch instead of English? What if the user pastes an entire PDF? The edge cases are where your system breaks.</a:t>
            </a:r>
            <a:endParaRPr lang="en-US" dirty="0"/>
          </a:p>
          <a:p>
            <a:endParaRPr lang="en-US" dirty="0"/>
          </a:p>
          <a:p>
            <a:r>
              <a:rPr lang="en-US" dirty="0"/>
              <a:t>O — Objective Measurement. "It looks good" is not a metric. Define what success means in numbers. Accuracy — does it get the facts right? Consistency — does it give the same quality answer every time? Format compliance — does it actually return JSON when you asked for JSON? Pick 2-3 metrics and track them. You can automate scoring with a second LLM call that grades the first one.</a:t>
            </a:r>
            <a:endParaRPr lang="en-US" dirty="0"/>
          </a:p>
          <a:p>
            <a:endParaRPr lang="en-US" dirty="0"/>
          </a:p>
          <a:p>
            <a:r>
              <a:rPr lang="en-US" dirty="0"/>
              <a:t>M — Multiple Scenarios. The happy path always works. That's not what breaks in production. Test with different input lengths, different languages, adversarial inputs, ambiguous requests. If your prompt works for 10 different scenarios, it'll probably work for 1,000. If it only works for your one demo example, it won't survive real users.</a:t>
            </a:r>
            <a:endParaRPr lang="en-US" dirty="0"/>
          </a:p>
          <a:p>
            <a:endParaRPr lang="en-US" dirty="0"/>
          </a:p>
          <a:p>
            <a:r>
              <a:rPr lang="en-US" dirty="0"/>
              <a:t>A — Automation. This is the key insight: put your prompt tests in CI/CD. Just like unit tests. Every time someone changes a system prompt or CLAUDE.md, the tests run automatically. You catch regressions before they hit users. This is PromptOps — treating prompts with the same rigor as code.</a:t>
            </a:r>
            <a:endParaRPr lang="en-US" dirty="0"/>
          </a:p>
          <a:p>
            <a:endParaRPr lang="en-US" dirty="0"/>
          </a:p>
          <a:p>
            <a:r>
              <a:rPr lang="en-US" dirty="0"/>
              <a:t>Real talk: most teams skip this entirely. They test manually, eyeball the results, and ship. Then the model updates, or the prompt drifts, and quality degrades silently. SOMA prevents that.</a:t>
            </a:r>
            <a:endParaRPr lang="en-US" dirty="0"/>
          </a:p>
          <a:p>
            <a:endParaRPr lang="en-US" dirty="0"/>
          </a:p>
          <a:p>
            <a:r>
              <a:rPr lang="en-US" dirty="0"/>
              <a:t>Start small — 10 test cases for your most important prompt. Automate the scoring. Add a test every time you find a bug. Within a month, you'll have a robust eval suite that catches problems before your users do.</a:t>
            </a:r>
            <a:endParaRPr lang="en-US" dirty="0"/>
          </a:p>
          <a:p>
            <a:endParaRPr lang="en-US" dirty="0"/>
          </a:p>
          <a:p>
            <a:r>
              <a:rPr lang="en-US" dirty="0"/>
              <a:t>For those of you building AI features at clients: this is the slide that justifies your consulting rate. Anyone can write a prompt. Very few teams can prove their prompts work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prompts — if you're building anything production-grade, this is where the magic happens. This is a product-grade technique from our decision framework.</a:t>
            </a:r>
            <a:endParaRPr lang="en-US" dirty="0"/>
          </a:p>
          <a:p>
            <a:endParaRPr lang="en-US" dirty="0"/>
          </a:p>
          <a:p>
            <a:r>
              <a:rPr lang="en-US" dirty="0"/>
              <a:t>Four components, and I want you to think of them like layers of a contract.</a:t>
            </a:r>
            <a:endParaRPr lang="en-US" dirty="0"/>
          </a:p>
          <a:p>
            <a:endParaRPr lang="en-US" dirty="0"/>
          </a:p>
          <a:p>
            <a:r>
              <a:rPr lang="en-US" dirty="0"/>
              <a:t>Identity: who is this AI? Not just a name — what does it know, what's its expertise, what company does it work for? "You are a customer support agent for Acme Cloud, a B2B SaaS platform." That single sentence shapes every response.</a:t>
            </a:r>
            <a:endParaRPr lang="en-US" dirty="0"/>
          </a:p>
          <a:p>
            <a:endParaRPr lang="en-US" dirty="0"/>
          </a:p>
          <a:p>
            <a:r>
              <a:rPr lang="en-US" dirty="0"/>
              <a:t>Rules: behavioral boundaries. "Never share internal pricing." "Always check the knowledge base before answering." "Escalate billing issues to humans." This is where you prevent the scary stuff — the AI going off-script.</a:t>
            </a:r>
            <a:endParaRPr lang="en-US" dirty="0"/>
          </a:p>
          <a:p>
            <a:endParaRPr lang="en-US" dirty="0"/>
          </a:p>
          <a:p>
            <a:r>
              <a:rPr lang="en-US" dirty="0"/>
              <a:t>Format: how should responses look? Short paragraphs, end with a clear next step. This is where brand voice lives.</a:t>
            </a:r>
            <a:endParaRPr lang="en-US" dirty="0"/>
          </a:p>
          <a:p>
            <a:endParaRPr lang="en-US" dirty="0"/>
          </a:p>
          <a:p>
            <a:r>
              <a:rPr lang="en-US" dirty="0"/>
              <a:t>Guardrails: the safety net. What happens when the model doesn't know? "If you can't help, say: Let me connect you with a specialist." Always have a fallback.</a:t>
            </a:r>
            <a:endParaRPr lang="en-US" dirty="0"/>
          </a:p>
          <a:p>
            <a:endParaRPr lang="en-US" dirty="0"/>
          </a:p>
          <a:p>
            <a:r>
              <a:rPr lang="en-US" dirty="0"/>
              <a:t>If you remember the 80/20 from earlier — system prompts are where being specific REALLY pays off. Every vague instruction in a system prompt gets amplified across thousands of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real-world scenarios showing multiple principles composed together.</a:t>
            </a:r>
            <a:endParaRPr lang="en-US" dirty="0"/>
          </a:p>
          <a:p>
            <a:endParaRPr lang="en-US" dirty="0"/>
          </a:p>
          <a:p>
            <a:r>
              <a:rPr lang="en-US" dirty="0"/>
              <a:t>Code review: role plus specific criteria plus severity rating. This is three principles in one prompt.</a:t>
            </a:r>
            <a:endParaRPr lang="en-US" dirty="0"/>
          </a:p>
          <a:p>
            <a:endParaRPr lang="en-US" dirty="0"/>
          </a:p>
          <a:p>
            <a:r>
              <a:rPr lang="en-US" dirty="0"/>
              <a:t>Data analysis: specific task plus format plus constraints. Notice it says "Top 3" not "analyze everything."</a:t>
            </a:r>
            <a:endParaRPr lang="en-US" dirty="0"/>
          </a:p>
          <a:p>
            <a:endParaRPr lang="en-US" dirty="0"/>
          </a:p>
          <a:p>
            <a:r>
              <a:rPr lang="en-US" dirty="0"/>
              <a:t>Email drafting: context plus tone plus goal. The goal at the end shapes the entire email.</a:t>
            </a:r>
            <a:endParaRPr lang="en-US" dirty="0"/>
          </a:p>
          <a:p>
            <a:endParaRPr lang="en-US" dirty="0"/>
          </a:p>
          <a:p>
            <a:r>
              <a:rPr lang="en-US" dirty="0"/>
              <a:t>Content creation: role plus specs plus audience plus tone. Every blank is a constraint that reduces ambiguity.</a:t>
            </a:r>
            <a:endParaRPr lang="en-US" dirty="0"/>
          </a:p>
          <a:p>
            <a:endParaRPr lang="en-US" dirty="0"/>
          </a:p>
          <a:p>
            <a:r>
              <a:rPr lang="en-US" dirty="0"/>
              <a:t>The pattern: every good prompt composes 2-4 principles. Role plus format plus constraints is the most common combination. In agent mode, these become sections of your instructions file rather than individual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to screenshot. Templates on the left, rules on the right. Everything you need in one place.</a:t>
            </a:r>
            <a:endParaRPr lang="en-US" dirty="0"/>
          </a:p>
          <a:p>
            <a:endParaRPr lang="en-US" dirty="0"/>
          </a:p>
          <a:p>
            <a:r>
              <a:rPr lang="en-US" dirty="0"/>
              <a:t>Four templates for the most common situations — Expert for advisory, Extractor for pulling data, Analyst for making sense of data, Creator for content. Fill in the blanks, customize for your domain.</a:t>
            </a:r>
            <a:endParaRPr lang="en-US" dirty="0"/>
          </a:p>
          <a:p>
            <a:endParaRPr lang="en-US" dirty="0"/>
          </a:p>
          <a:p>
            <a:r>
              <a:rPr lang="en-US" dirty="0"/>
              <a:t>Eight rules that cover 90% of everyday prompting. Notice they map directly to the 80/20: clear verbs and roles equals being specific. Examples equals show don't tell. Iterate equals iterate.</a:t>
            </a:r>
            <a:endParaRPr lang="en-US" dirty="0"/>
          </a:p>
          <a:p>
            <a:endParaRPr lang="en-US" dirty="0"/>
          </a:p>
          <a:p>
            <a:r>
              <a:rPr lang="en-US" dirty="0"/>
              <a:t>Start with these, then build your own library over time. The best prompt engineers I know have 10-20 templates they reuse constantly. For agent workflows, these same templates become sections of your CLAUDE.md or copilot-instructions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 yes, five now, not four. Let me tie them back to where we started.</a:t>
            </a:r>
            <a:endParaRPr lang="en-US" dirty="0"/>
          </a:p>
          <a:p>
            <a:endParaRPr lang="en-US" dirty="0"/>
          </a:p>
          <a:p>
            <a:r>
              <a:rPr lang="en-US" dirty="0"/>
              <a:t>Remember slide 5 — the 80/20? Be specific, show don't tell, iterate. If that's ALL you take away, you're already ahead of 90% of AI users.</a:t>
            </a:r>
            <a:endParaRPr lang="en-US" dirty="0"/>
          </a:p>
          <a:p>
            <a:endParaRPr lang="en-US" dirty="0"/>
          </a:p>
          <a:p>
            <a:r>
              <a:rPr lang="en-US" dirty="0"/>
              <a:t>One: LLMs see the world differently. Tokens, pattern matching, one at a time. Understanding this stops you from blaming the tool.</a:t>
            </a:r>
            <a:endParaRPr lang="en-US" dirty="0"/>
          </a:p>
          <a:p>
            <a:endParaRPr lang="en-US" dirty="0"/>
          </a:p>
          <a:p>
            <a:r>
              <a:rPr lang="en-US" dirty="0"/>
              <a:t>Two: The Loop is your mental model. You're the translator between human intent and model patterns.</a:t>
            </a:r>
            <a:endParaRPr lang="en-US" dirty="0"/>
          </a:p>
          <a:p>
            <a:endParaRPr lang="en-US" dirty="0"/>
          </a:p>
          <a:p>
            <a:r>
              <a:rPr lang="en-US" dirty="0"/>
              <a:t>Three: From prompts to context engineering. If you're building AI products, design all six layers.</a:t>
            </a:r>
            <a:endParaRPr lang="en-US" dirty="0"/>
          </a:p>
          <a:p>
            <a:endParaRPr lang="en-US" dirty="0"/>
          </a:p>
          <a:p>
            <a:r>
              <a:rPr lang="en-US" dirty="0"/>
              <a:t>Four — and this is new: your prompting skills now live in files, not chatboxes. CLAUDE.md, copilot-instructions, agent.md, skills, system prompts. The skill didn't die — it moved to the codebase. Whether you're in chat mode or agent mode, the 80/20 applies.</a:t>
            </a:r>
            <a:endParaRPr lang="en-US" dirty="0"/>
          </a:p>
          <a:p>
            <a:endParaRPr lang="en-US" dirty="0"/>
          </a:p>
          <a:p>
            <a:r>
              <a:rPr lang="en-US" dirty="0"/>
              <a:t>Five: Evaluate systematically. SOMA. The gap between playing with AI and building with AI is measurement.</a:t>
            </a:r>
            <a:endParaRPr lang="en-US" dirty="0"/>
          </a:p>
          <a:p>
            <a:endParaRPr lang="en-US" dirty="0"/>
          </a:p>
          <a:p>
            <a:r>
              <a:rPr lang="en-US" dirty="0"/>
              <a:t>Don't let the advanced stuff intimidate you. Start with the 80/20. Be specific. Show examples. Iterate. And this week — try writing a CLAUDE.md or copilot-instructions file for one of your repos. See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Pick ONE technique — few-shot or self-critique — apply it to a real task today, iterate. The difference between frustration and results is how you ask. Happy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Shape 1"/>
          <p:cNvSpPr/>
          <p:nvPr/>
        </p:nvSpPr>
        <p:spPr>
          <a:xfrm>
            <a:off x="5943600" y="-731520"/>
            <a:ext cx="4572000" cy="4572000"/>
          </a:xfrm>
          <a:prstGeom prst="ellipse">
            <a:avLst/>
          </a:prstGeom>
          <a:solidFill>
            <a:srgbClr val="E91E8C">
              <a:alpha val="10000"/>
            </a:srgbClr>
          </a:solidFill>
          <a:ln/>
        </p:spPr>
      </p:sp>
      <p:sp>
        <p:nvSpPr>
          <p:cNvPr id="4" name="Shape 2"/>
          <p:cNvSpPr/>
          <p:nvPr/>
        </p:nvSpPr>
        <p:spPr>
          <a:xfrm>
            <a:off x="6583680" y="0"/>
            <a:ext cx="3200400" cy="3200400"/>
          </a:xfrm>
          <a:prstGeom prst="ellipse">
            <a:avLst/>
          </a:prstGeom>
          <a:solidFill>
            <a:srgbClr val="E91E8C">
              <a:alpha val="15000"/>
            </a:srgbClr>
          </a:solidFill>
          <a:ln/>
        </p:spPr>
      </p:sp>
      <p:sp>
        <p:nvSpPr>
          <p:cNvPr id="5" name="Text 3"/>
          <p:cNvSpPr/>
          <p:nvPr/>
        </p:nvSpPr>
        <p:spPr>
          <a:xfrm>
            <a:off x="731520" y="731520"/>
            <a:ext cx="5943600" cy="2011680"/>
          </a:xfrm>
          <a:prstGeom prst="rect">
            <a:avLst/>
          </a:prstGeom>
          <a:noFill/>
          <a:ln/>
        </p:spPr>
        <p:txBody>
          <a:bodyPr wrap="square" lIns="0" tIns="0" rIns="0" bIns="0" rtlCol="0" anchor="ctr"/>
          <a:lstStyle/>
          <a:p>
            <a:pPr indent="0" marL="0">
              <a:lnSpc>
                <a:spcPct val="90000"/>
              </a:lnSpc>
              <a:buNone/>
            </a:pPr>
            <a:r>
              <a:rPr lang="en-US" sz="4800" b="1" dirty="0">
                <a:solidFill>
                  <a:srgbClr val="FFFFFF"/>
                </a:solidFill>
                <a:latin typeface="Arial Black" pitchFamily="34" charset="0"/>
                <a:ea typeface="Arial Black" pitchFamily="34" charset="-122"/>
                <a:cs typeface="Arial Black" pitchFamily="34" charset="-120"/>
              </a:rPr>
              <a:t>Prompt</a:t>
            </a:r>
            <a:endParaRPr lang="en-US" sz="4800" dirty="0"/>
          </a:p>
          <a:p>
            <a:pPr indent="0" marL="0">
              <a:lnSpc>
                <a:spcPct val="90000"/>
              </a:lnSpc>
              <a:buNone/>
            </a:pPr>
            <a:r>
              <a:rPr lang="en-US" sz="4800" b="1" dirty="0">
                <a:solidFill>
                  <a:srgbClr val="FFFFFF"/>
                </a:solidFill>
                <a:latin typeface="Arial Black" pitchFamily="34" charset="0"/>
                <a:ea typeface="Arial Black" pitchFamily="34" charset="-122"/>
                <a:cs typeface="Arial Black" pitchFamily="34" charset="-120"/>
              </a:rPr>
              <a:t>Engineering</a:t>
            </a:r>
            <a:endParaRPr lang="en-US" sz="4800" dirty="0"/>
          </a:p>
        </p:txBody>
      </p:sp>
      <p:sp>
        <p:nvSpPr>
          <p:cNvPr id="6" name="Text 4"/>
          <p:cNvSpPr/>
          <p:nvPr/>
        </p:nvSpPr>
        <p:spPr>
          <a:xfrm>
            <a:off x="731520" y="2651760"/>
            <a:ext cx="5486400" cy="548640"/>
          </a:xfrm>
          <a:prstGeom prst="rect">
            <a:avLst/>
          </a:prstGeom>
          <a:noFill/>
          <a:ln/>
        </p:spPr>
        <p:txBody>
          <a:bodyPr wrap="square" lIns="0" tIns="0" rIns="0" bIns="0" rtlCol="0" anchor="ctr"/>
          <a:lstStyle/>
          <a:p>
            <a:pPr indent="0" marL="0">
              <a:buNone/>
            </a:pPr>
            <a:r>
              <a:rPr lang="en-US" sz="2800" i="1" dirty="0">
                <a:solidFill>
                  <a:srgbClr val="E91E8C"/>
                </a:solidFill>
                <a:latin typeface="Arial" pitchFamily="34" charset="0"/>
                <a:ea typeface="Arial" pitchFamily="34" charset="-122"/>
                <a:cs typeface="Arial" pitchFamily="34" charset="-120"/>
              </a:rPr>
              <a:t>that actually works</a:t>
            </a:r>
            <a:endParaRPr lang="en-US" sz="2800" dirty="0"/>
          </a:p>
        </p:txBody>
      </p:sp>
      <p:sp>
        <p:nvSpPr>
          <p:cNvPr id="7" name="Text 5"/>
          <p:cNvSpPr/>
          <p:nvPr/>
        </p:nvSpPr>
        <p:spPr>
          <a:xfrm>
            <a:off x="731520" y="3383280"/>
            <a:ext cx="5029200" cy="457200"/>
          </a:xfrm>
          <a:prstGeom prst="rect">
            <a:avLst/>
          </a:prstGeom>
          <a:noFill/>
          <a:ln/>
        </p:spPr>
        <p:txBody>
          <a:bodyPr wrap="square" lIns="0" tIns="0" rIns="0" bIns="0" rtlCol="0" anchor="ctr"/>
          <a:lstStyle/>
          <a:p>
            <a:pPr indent="0" marL="0">
              <a:buNone/>
            </a:pPr>
            <a:r>
              <a:rPr lang="en-US" sz="1400" dirty="0">
                <a:solidFill>
                  <a:srgbClr val="9B9BB0"/>
                </a:solidFill>
                <a:latin typeface="Arial" pitchFamily="34" charset="0"/>
                <a:ea typeface="Arial" pitchFamily="34" charset="-122"/>
                <a:cs typeface="Arial" pitchFamily="34" charset="-120"/>
              </a:rPr>
              <a:t>How to communicate effectively with large language models</a:t>
            </a:r>
            <a:endParaRPr lang="en-US" sz="1400" dirty="0"/>
          </a:p>
        </p:txBody>
      </p:sp>
      <p:sp>
        <p:nvSpPr>
          <p:cNvPr id="8" name="Shape 6"/>
          <p:cNvSpPr/>
          <p:nvPr/>
        </p:nvSpPr>
        <p:spPr>
          <a:xfrm>
            <a:off x="0" y="4160520"/>
            <a:ext cx="9144000" cy="978408"/>
          </a:xfrm>
          <a:prstGeom prst="rect">
            <a:avLst/>
          </a:prstGeom>
          <a:solidFill>
            <a:srgbClr val="16162A"/>
          </a:solidFill>
          <a:ln/>
        </p:spPr>
      </p:sp>
      <p:sp>
        <p:nvSpPr>
          <p:cNvPr id="9" name="Text 7"/>
          <p:cNvSpPr/>
          <p:nvPr/>
        </p:nvSpPr>
        <p:spPr>
          <a:xfrm>
            <a:off x="731520" y="425196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 xml:space="preserve">Based on </a:t>
            </a:r>
            <a:pPr indent="0" marL="0">
              <a:buNone/>
            </a:pPr>
            <a:r>
              <a:rPr lang="en-US" sz="1100" i="1" dirty="0">
                <a:solidFill>
                  <a:srgbClr val="E91E8C"/>
                </a:solidFill>
                <a:latin typeface="Arial" pitchFamily="34" charset="0"/>
                <a:ea typeface="Arial" pitchFamily="34" charset="-122"/>
                <a:cs typeface="Arial" pitchFamily="34" charset="-120"/>
              </a:rPr>
              <a:t>"Prompt Engineering for LLMs"</a:t>
            </a:r>
            <a:pPr indent="0" marL="0">
              <a:buNone/>
            </a:pPr>
            <a:r>
              <a:rPr lang="en-US" sz="1100" dirty="0">
                <a:solidFill>
                  <a:srgbClr val="9B9BB0"/>
                </a:solidFill>
                <a:latin typeface="Arial" pitchFamily="34" charset="0"/>
                <a:ea typeface="Arial" pitchFamily="34" charset="-122"/>
                <a:cs typeface="Arial" pitchFamily="34" charset="-120"/>
              </a:rPr>
              <a:t xml:space="preserve"> by Berryman &amp; Ziegler</a:t>
            </a:r>
            <a:endParaRPr lang="en-US" sz="1100" dirty="0"/>
          </a:p>
        </p:txBody>
      </p:sp>
      <p:sp>
        <p:nvSpPr>
          <p:cNvPr id="10" name="Text 8"/>
          <p:cNvSpPr/>
          <p:nvPr/>
        </p:nvSpPr>
        <p:spPr>
          <a:xfrm>
            <a:off x="731520" y="448056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 xml:space="preserve">and </a:t>
            </a:r>
            <a:pPr indent="0" marL="0">
              <a:buNone/>
            </a:pPr>
            <a:r>
              <a:rPr lang="en-US" sz="1100" i="1" dirty="0">
                <a:solidFill>
                  <a:srgbClr val="E91E8C"/>
                </a:solidFill>
                <a:latin typeface="Arial" pitchFamily="34" charset="0"/>
                <a:ea typeface="Arial" pitchFamily="34" charset="-122"/>
                <a:cs typeface="Arial" pitchFamily="34" charset="-120"/>
              </a:rPr>
              <a:t>"Prompt Engineering for Generative AI"</a:t>
            </a:r>
            <a:pPr indent="0" marL="0">
              <a:buNone/>
            </a:pPr>
            <a:r>
              <a:rPr lang="en-US" sz="1100" dirty="0">
                <a:solidFill>
                  <a:srgbClr val="9B9BB0"/>
                </a:solidFill>
                <a:latin typeface="Arial" pitchFamily="34" charset="0"/>
                <a:ea typeface="Arial" pitchFamily="34" charset="-122"/>
                <a:cs typeface="Arial" pitchFamily="34" charset="-120"/>
              </a:rPr>
              <a:t xml:space="preserve"> by Phoenix &amp; Taylor</a:t>
            </a:r>
            <a:endParaRPr lang="en-US" sz="1100" dirty="0"/>
          </a:p>
        </p:txBody>
      </p:sp>
      <p:sp>
        <p:nvSpPr>
          <p:cNvPr id="11" name="Text 9"/>
          <p:cNvSpPr/>
          <p:nvPr/>
        </p:nvSpPr>
        <p:spPr>
          <a:xfrm>
            <a:off x="731520" y="4754880"/>
            <a:ext cx="3657600" cy="228600"/>
          </a:xfrm>
          <a:prstGeom prst="rect">
            <a:avLst/>
          </a:prstGeom>
          <a:noFill/>
          <a:ln/>
        </p:spPr>
        <p:txBody>
          <a:bodyPr wrap="square" lIns="0" tIns="0" rIns="0" bIns="0" rtlCol="0" anchor="ctr"/>
          <a:lstStyle/>
          <a:p>
            <a:pPr indent="0" marL="0">
              <a:buNone/>
            </a:pPr>
            <a:r>
              <a:rPr lang="en-US" sz="1000" i="1" dirty="0">
                <a:solidFill>
                  <a:srgbClr val="C8C8D8"/>
                </a:solidFill>
                <a:latin typeface="Arial" pitchFamily="34" charset="0"/>
                <a:ea typeface="Arial" pitchFamily="34" charset="-122"/>
                <a:cs typeface="Arial" pitchFamily="34" charset="-120"/>
              </a:rPr>
              <a:t>No PhD required. Just curiosity.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Shape 1"/>
          <p:cNvSpPr/>
          <p:nvPr/>
        </p:nvSpPr>
        <p:spPr>
          <a:xfrm>
            <a:off x="5943600" y="-457200"/>
            <a:ext cx="4572000" cy="4572000"/>
          </a:xfrm>
          <a:prstGeom prst="ellipse">
            <a:avLst/>
          </a:prstGeom>
          <a:solidFill>
            <a:srgbClr val="E91E8C">
              <a:alpha val="8000"/>
            </a:srgbClr>
          </a:solidFill>
          <a:ln/>
        </p:spPr>
      </p:sp>
      <p:sp>
        <p:nvSpPr>
          <p:cNvPr id="4" name="Text 2"/>
          <p:cNvSpPr/>
          <p:nvPr/>
        </p:nvSpPr>
        <p:spPr>
          <a:xfrm>
            <a:off x="731520" y="457200"/>
            <a:ext cx="4572000" cy="548640"/>
          </a:xfrm>
          <a:prstGeom prst="rect">
            <a:avLst/>
          </a:prstGeom>
          <a:noFill/>
          <a:ln/>
        </p:spPr>
        <p:txBody>
          <a:bodyPr wrap="square" lIns="0" tIns="0" rIns="0" bIns="0" rtlCol="0" anchor="ctr"/>
          <a:lstStyle/>
          <a:p>
            <a:pPr indent="0" marL="0">
              <a:buNone/>
            </a:pPr>
            <a:r>
              <a:rPr lang="en-US" sz="3600" dirty="0">
                <a:solidFill>
                  <a:srgbClr val="FFFFFF"/>
                </a:solidFill>
                <a:latin typeface="Arial Black" pitchFamily="34" charset="0"/>
                <a:ea typeface="Arial Black" pitchFamily="34" charset="-122"/>
                <a:cs typeface="Arial Black" pitchFamily="34" charset="-120"/>
              </a:rPr>
              <a:t>Hidde de Smet</a:t>
            </a:r>
            <a:endParaRPr lang="en-US" sz="3600" dirty="0"/>
          </a:p>
        </p:txBody>
      </p:sp>
      <p:sp>
        <p:nvSpPr>
          <p:cNvPr id="5" name="Text 3"/>
          <p:cNvSpPr/>
          <p:nvPr/>
        </p:nvSpPr>
        <p:spPr>
          <a:xfrm>
            <a:off x="731520" y="1005840"/>
            <a:ext cx="7315200" cy="320040"/>
          </a:xfrm>
          <a:prstGeom prst="rect">
            <a:avLst/>
          </a:prstGeom>
          <a:noFill/>
          <a:ln/>
        </p:spPr>
        <p:txBody>
          <a:bodyPr wrap="square" lIns="0" tIns="0" rIns="0" bIns="0" rtlCol="0" anchor="ctr"/>
          <a:lstStyle/>
          <a:p>
            <a:pPr indent="0" marL="0">
              <a:buNone/>
            </a:pPr>
            <a:r>
              <a:rPr lang="en-US" sz="1500" dirty="0">
                <a:solidFill>
                  <a:srgbClr val="E91E8C"/>
                </a:solidFill>
                <a:latin typeface="Arial" pitchFamily="34" charset="0"/>
                <a:ea typeface="Arial" pitchFamily="34" charset="-122"/>
                <a:cs typeface="Arial" pitchFamily="34" charset="-120"/>
              </a:rPr>
              <a:t>Tech Consultant — Azure, Cloud Infrastructure &amp; AI</a:t>
            </a:r>
            <a:endParaRPr lang="en-US" sz="1500" dirty="0"/>
          </a:p>
        </p:txBody>
      </p:sp>
      <p:sp>
        <p:nvSpPr>
          <p:cNvPr id="6" name="Shape 4"/>
          <p:cNvSpPr/>
          <p:nvPr/>
        </p:nvSpPr>
        <p:spPr>
          <a:xfrm>
            <a:off x="731520" y="1691640"/>
            <a:ext cx="6858000" cy="4572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7" name="Shape 5"/>
          <p:cNvSpPr/>
          <p:nvPr/>
        </p:nvSpPr>
        <p:spPr>
          <a:xfrm>
            <a:off x="731520" y="1691640"/>
            <a:ext cx="45720" cy="457200"/>
          </a:xfrm>
          <a:prstGeom prst="rect">
            <a:avLst/>
          </a:prstGeom>
          <a:solidFill>
            <a:srgbClr val="E91E8C"/>
          </a:solidFill>
          <a:ln/>
        </p:spPr>
      </p:sp>
      <p:sp>
        <p:nvSpPr>
          <p:cNvPr id="8" name="Text 6"/>
          <p:cNvSpPr/>
          <p:nvPr/>
        </p:nvSpPr>
        <p:spPr>
          <a:xfrm>
            <a:off x="914400" y="1691640"/>
            <a:ext cx="36576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9" name="Text 7"/>
          <p:cNvSpPr/>
          <p:nvPr/>
        </p:nvSpPr>
        <p:spPr>
          <a:xfrm>
            <a:off x="1325880" y="1691640"/>
            <a:ext cx="6035040" cy="45720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Xebia — Azure architecture, cloud infrastructure, and AI development tooling</a:t>
            </a:r>
            <a:endParaRPr lang="en-US" sz="1200" dirty="0"/>
          </a:p>
        </p:txBody>
      </p:sp>
      <p:sp>
        <p:nvSpPr>
          <p:cNvPr id="10" name="Shape 8"/>
          <p:cNvSpPr/>
          <p:nvPr/>
        </p:nvSpPr>
        <p:spPr>
          <a:xfrm>
            <a:off x="731520" y="2286000"/>
            <a:ext cx="6858000" cy="4572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1" name="Shape 9"/>
          <p:cNvSpPr/>
          <p:nvPr/>
        </p:nvSpPr>
        <p:spPr>
          <a:xfrm>
            <a:off x="731520" y="2286000"/>
            <a:ext cx="45720" cy="457200"/>
          </a:xfrm>
          <a:prstGeom prst="rect">
            <a:avLst/>
          </a:prstGeom>
          <a:solidFill>
            <a:srgbClr val="4A9FFF"/>
          </a:solidFill>
          <a:ln/>
        </p:spPr>
      </p:sp>
      <p:sp>
        <p:nvSpPr>
          <p:cNvPr id="12" name="Text 10"/>
          <p:cNvSpPr/>
          <p:nvPr/>
        </p:nvSpPr>
        <p:spPr>
          <a:xfrm>
            <a:off x="914400" y="2286000"/>
            <a:ext cx="36576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1325880" y="2286000"/>
            <a:ext cx="6035040" cy="45720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Exploring how AI-assisted workflows change the way we build and operate cloud platforms</a:t>
            </a:r>
            <a:endParaRPr lang="en-US" sz="1200" dirty="0"/>
          </a:p>
        </p:txBody>
      </p:sp>
      <p:sp>
        <p:nvSpPr>
          <p:cNvPr id="14" name="Shape 12"/>
          <p:cNvSpPr/>
          <p:nvPr/>
        </p:nvSpPr>
        <p:spPr>
          <a:xfrm>
            <a:off x="731520" y="2880360"/>
            <a:ext cx="6858000" cy="4572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5" name="Shape 13"/>
          <p:cNvSpPr/>
          <p:nvPr/>
        </p:nvSpPr>
        <p:spPr>
          <a:xfrm>
            <a:off x="731520" y="2880360"/>
            <a:ext cx="45720" cy="457200"/>
          </a:xfrm>
          <a:prstGeom prst="rect">
            <a:avLst/>
          </a:prstGeom>
          <a:solidFill>
            <a:srgbClr val="00D4AA"/>
          </a:solidFill>
          <a:ln/>
        </p:spPr>
      </p:sp>
      <p:sp>
        <p:nvSpPr>
          <p:cNvPr id="16" name="Text 14"/>
          <p:cNvSpPr/>
          <p:nvPr/>
        </p:nvSpPr>
        <p:spPr>
          <a:xfrm>
            <a:off x="914400" y="2880360"/>
            <a:ext cx="36576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1325880" y="2880360"/>
            <a:ext cx="6035040" cy="45720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Blog: hiddedesmet.com — writing about structured AI-assisted development</a:t>
            </a:r>
            <a:endParaRPr lang="en-US" sz="1200" dirty="0"/>
          </a:p>
        </p:txBody>
      </p:sp>
      <p:sp>
        <p:nvSpPr>
          <p:cNvPr id="18" name="Shape 16"/>
          <p:cNvSpPr/>
          <p:nvPr/>
        </p:nvSpPr>
        <p:spPr>
          <a:xfrm>
            <a:off x="731520" y="3474720"/>
            <a:ext cx="6858000" cy="4572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9" name="Shape 17"/>
          <p:cNvSpPr/>
          <p:nvPr/>
        </p:nvSpPr>
        <p:spPr>
          <a:xfrm>
            <a:off x="731520" y="3474720"/>
            <a:ext cx="45720" cy="457200"/>
          </a:xfrm>
          <a:prstGeom prst="rect">
            <a:avLst/>
          </a:prstGeom>
          <a:solidFill>
            <a:srgbClr val="FF3DAB"/>
          </a:solidFill>
          <a:ln/>
        </p:spPr>
      </p:sp>
      <p:sp>
        <p:nvSpPr>
          <p:cNvPr id="20" name="Text 18"/>
          <p:cNvSpPr/>
          <p:nvPr/>
        </p:nvSpPr>
        <p:spPr>
          <a:xfrm>
            <a:off x="914400" y="3474720"/>
            <a:ext cx="36576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1325880" y="3474720"/>
            <a:ext cx="6035040" cy="45720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Today's mission: practical prompt engineering techniques you can use tomorrow</a:t>
            </a:r>
            <a:endParaRPr lang="en-US" sz="1200" dirty="0"/>
          </a:p>
        </p:txBody>
      </p:sp>
      <p:sp>
        <p:nvSpPr>
          <p:cNvPr id="22" name="Shape 20"/>
          <p:cNvSpPr/>
          <p:nvPr/>
        </p:nvSpPr>
        <p:spPr>
          <a:xfrm>
            <a:off x="731520" y="4114800"/>
            <a:ext cx="6858000" cy="411480"/>
          </a:xfrm>
          <a:prstGeom prst="rect">
            <a:avLst/>
          </a:prstGeom>
          <a:solidFill>
            <a:srgbClr val="0D0D1A"/>
          </a:solidFill>
          <a:ln/>
        </p:spPr>
      </p:sp>
      <p:sp>
        <p:nvSpPr>
          <p:cNvPr id="23" name="Text 21"/>
          <p:cNvSpPr/>
          <p:nvPr/>
        </p:nvSpPr>
        <p:spPr>
          <a:xfrm>
            <a:off x="731520" y="4114800"/>
            <a:ext cx="6858000" cy="411480"/>
          </a:xfrm>
          <a:prstGeom prst="rect">
            <a:avLst/>
          </a:prstGeom>
          <a:noFill/>
          <a:ln/>
        </p:spPr>
        <p:txBody>
          <a:bodyPr wrap="square" lIns="0" tIns="0" rIns="0" bIns="0" rtlCol="0" anchor="ctr"/>
          <a:lstStyle/>
          <a:p>
            <a:pPr algn="ctr" indent="0" marL="0">
              <a:buNone/>
            </a:pPr>
            <a:r>
              <a:rPr lang="en-US" sz="1200" dirty="0">
                <a:solidFill>
                  <a:srgbClr val="E91E8C"/>
                </a:solidFill>
                <a:latin typeface="Arial" pitchFamily="34" charset="0"/>
                <a:ea typeface="Arial" pitchFamily="34" charset="-122"/>
                <a:cs typeface="Arial" pitchFamily="34" charset="-120"/>
              </a:rPr>
              <a:t>hiddedesmet.com</a:t>
            </a:r>
            <a:pPr algn="ctr" indent="0" marL="0">
              <a:buNone/>
            </a:pPr>
            <a:r>
              <a:rPr lang="en-US" sz="1200" dirty="0">
                <a:solidFill>
                  <a:srgbClr val="9B9BB0"/>
                </a:solidFill>
                <a:latin typeface="Arial" pitchFamily="34" charset="0"/>
                <a:ea typeface="Arial" pitchFamily="34" charset="-122"/>
                <a:cs typeface="Arial" pitchFamily="34" charset="-120"/>
              </a:rPr>
              <a:t xml:space="preserve">    •    </a:t>
            </a:r>
            <a:pPr algn="ctr" indent="0" marL="0">
              <a:buNone/>
            </a:pPr>
            <a:r>
              <a:rPr lang="en-US" sz="1200" dirty="0">
                <a:solidFill>
                  <a:srgbClr val="00D4AA"/>
                </a:solidFill>
                <a:latin typeface="Arial" pitchFamily="34" charset="0"/>
                <a:ea typeface="Arial" pitchFamily="34" charset="-122"/>
                <a:cs typeface="Arial" pitchFamily="34" charset="-120"/>
              </a:rPr>
              <a:t>Xebia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We've all been here...</a:t>
            </a:r>
            <a:endParaRPr lang="en-US" sz="2800" dirty="0"/>
          </a:p>
        </p:txBody>
      </p:sp>
      <p:sp>
        <p:nvSpPr>
          <p:cNvPr id="4" name="Shape 2"/>
          <p:cNvSpPr/>
          <p:nvPr/>
        </p:nvSpPr>
        <p:spPr>
          <a:xfrm>
            <a:off x="457200" y="1097280"/>
            <a:ext cx="3840480" cy="3474720"/>
          </a:xfrm>
          <a:prstGeom prst="rect">
            <a:avLst/>
          </a:prstGeom>
          <a:solidFill>
            <a:srgbClr val="1A1020"/>
          </a:solidFill>
          <a:ln/>
          <a:effectLst>
            <a:outerShdw sx="100000" sy="100000" kx="0" ky="0" algn="bl" rotWithShape="0" blurRad="152400" dist="50800" dir="8100000">
              <a:srgbClr val="000000">
                <a:alpha val="50000"/>
              </a:srgbClr>
            </a:outerShdw>
          </a:effectLst>
        </p:spPr>
      </p:sp>
      <p:sp>
        <p:nvSpPr>
          <p:cNvPr id="5" name="Shape 3"/>
          <p:cNvSpPr/>
          <p:nvPr/>
        </p:nvSpPr>
        <p:spPr>
          <a:xfrm>
            <a:off x="457200" y="1097280"/>
            <a:ext cx="3840480" cy="54864"/>
          </a:xfrm>
          <a:prstGeom prst="rect">
            <a:avLst/>
          </a:prstGeom>
          <a:solidFill>
            <a:srgbClr val="FF4444"/>
          </a:solidFill>
          <a:ln/>
        </p:spPr>
      </p:sp>
      <p:pic>
        <p:nvPicPr>
          <p:cNvPr id="6" name="Image 0" descr="preencoded.png"/>
          <p:cNvPicPr>
            <a:picLocks noChangeAspect="1"/>
          </p:cNvPicPr>
          <p:nvPr/>
        </p:nvPicPr>
        <p:blipFill>
          <a:blip r:embed="rId1"/>
          <a:stretch>
            <a:fillRect/>
          </a:stretch>
        </p:blipFill>
        <p:spPr>
          <a:xfrm>
            <a:off x="731520" y="1371600"/>
            <a:ext cx="320040" cy="320040"/>
          </a:xfrm>
          <a:prstGeom prst="rect">
            <a:avLst/>
          </a:prstGeom>
        </p:spPr>
      </p:pic>
      <p:sp>
        <p:nvSpPr>
          <p:cNvPr id="7" name="Text 4"/>
          <p:cNvSpPr/>
          <p:nvPr/>
        </p:nvSpPr>
        <p:spPr>
          <a:xfrm>
            <a:off x="1143000" y="1371600"/>
            <a:ext cx="2743200" cy="320040"/>
          </a:xfrm>
          <a:prstGeom prst="rect">
            <a:avLst/>
          </a:prstGeom>
          <a:noFill/>
          <a:ln/>
        </p:spPr>
        <p:txBody>
          <a:bodyPr wrap="square" lIns="0" tIns="0" rIns="0" bIns="0" rtlCol="0" anchor="ctr"/>
          <a:lstStyle/>
          <a:p>
            <a:pPr indent="0" marL="0">
              <a:buNone/>
            </a:pPr>
            <a:r>
              <a:rPr lang="en-US" sz="1600" b="1" dirty="0">
                <a:solidFill>
                  <a:srgbClr val="FF6666"/>
                </a:solidFill>
                <a:latin typeface="Arial" pitchFamily="34" charset="0"/>
                <a:ea typeface="Arial" pitchFamily="34" charset="-122"/>
                <a:cs typeface="Arial" pitchFamily="34" charset="-120"/>
              </a:rPr>
              <a:t>The vague prompt</a:t>
            </a:r>
            <a:endParaRPr lang="en-US" sz="1600" dirty="0"/>
          </a:p>
        </p:txBody>
      </p:sp>
      <p:sp>
        <p:nvSpPr>
          <p:cNvPr id="8" name="Shape 5"/>
          <p:cNvSpPr/>
          <p:nvPr/>
        </p:nvSpPr>
        <p:spPr>
          <a:xfrm>
            <a:off x="731520" y="1920240"/>
            <a:ext cx="3291840" cy="502920"/>
          </a:xfrm>
          <a:prstGeom prst="rect">
            <a:avLst/>
          </a:prstGeom>
          <a:solidFill>
            <a:srgbClr val="0D0D1A"/>
          </a:solidFill>
          <a:ln/>
        </p:spPr>
      </p:sp>
      <p:sp>
        <p:nvSpPr>
          <p:cNvPr id="9" name="Text 6"/>
          <p:cNvSpPr/>
          <p:nvPr/>
        </p:nvSpPr>
        <p:spPr>
          <a:xfrm>
            <a:off x="822960" y="1965960"/>
            <a:ext cx="3108960" cy="411480"/>
          </a:xfrm>
          <a:prstGeom prst="rect">
            <a:avLst/>
          </a:prstGeom>
          <a:noFill/>
          <a:ln/>
        </p:spPr>
        <p:txBody>
          <a:bodyPr wrap="square" lIns="0" tIns="0" rIns="0" bIns="0" rtlCol="0" anchor="ctr"/>
          <a:lstStyle/>
          <a:p>
            <a:pPr indent="0" marL="0">
              <a:buNone/>
            </a:pPr>
            <a:r>
              <a:rPr lang="en-US" sz="1300" dirty="0">
                <a:solidFill>
                  <a:srgbClr val="C8C8D8"/>
                </a:solidFill>
                <a:latin typeface="Consolas" pitchFamily="34" charset="0"/>
                <a:ea typeface="Consolas" pitchFamily="34" charset="-122"/>
                <a:cs typeface="Consolas" pitchFamily="34" charset="-120"/>
              </a:rPr>
              <a:t>"Tell me about AI"</a:t>
            </a:r>
            <a:endParaRPr lang="en-US" sz="1300" dirty="0"/>
          </a:p>
        </p:txBody>
      </p:sp>
      <p:sp>
        <p:nvSpPr>
          <p:cNvPr id="10" name="Text 7"/>
          <p:cNvSpPr/>
          <p:nvPr/>
        </p:nvSpPr>
        <p:spPr>
          <a:xfrm>
            <a:off x="731520" y="2651760"/>
            <a:ext cx="3291840" cy="1645920"/>
          </a:xfrm>
          <a:prstGeom prst="rect">
            <a:avLst/>
          </a:prstGeom>
          <a:noFill/>
          <a:ln/>
        </p:spPr>
        <p:txBody>
          <a:bodyPr wrap="square" lIns="0" tIns="0" rIns="0" bIns="0" rtlCol="0" anchor="ctr"/>
          <a:lstStyle/>
          <a:p>
            <a:pPr indent="0" marL="0">
              <a:spcAft>
                <a:spcPts val="600"/>
              </a:spcAft>
              <a:buNone/>
            </a:pPr>
            <a:r>
              <a:rPr lang="en-US" sz="1100" dirty="0">
                <a:solidFill>
                  <a:srgbClr val="9B9BB0"/>
                </a:solidFill>
                <a:latin typeface="Arial" pitchFamily="34" charset="0"/>
                <a:ea typeface="Arial" pitchFamily="34" charset="-122"/>
                <a:cs typeface="Arial" pitchFamily="34" charset="-120"/>
              </a:rPr>
              <a:t>→ 500 words of generic overview</a:t>
            </a:r>
            <a:endParaRPr lang="en-US" sz="1100" dirty="0"/>
          </a:p>
          <a:p>
            <a:pPr indent="0" marL="0">
              <a:spcAft>
                <a:spcPts val="600"/>
              </a:spcAft>
              <a:buNone/>
            </a:pPr>
            <a:r>
              <a:rPr lang="en-US" sz="1100" dirty="0">
                <a:solidFill>
                  <a:srgbClr val="9B9BB0"/>
                </a:solidFill>
                <a:latin typeface="Arial" pitchFamily="34" charset="0"/>
                <a:ea typeface="Arial" pitchFamily="34" charset="-122"/>
                <a:cs typeface="Arial" pitchFamily="34" charset="-120"/>
              </a:rPr>
              <a:t>→ No clear structure</a:t>
            </a:r>
            <a:endParaRPr lang="en-US" sz="1100" dirty="0"/>
          </a:p>
          <a:p>
            <a:pPr indent="0" marL="0">
              <a:spcAft>
                <a:spcPts val="600"/>
              </a:spcAft>
              <a:buNone/>
            </a:pPr>
            <a:r>
              <a:rPr lang="en-US" sz="1100" dirty="0">
                <a:solidFill>
                  <a:srgbClr val="9B9BB0"/>
                </a:solidFill>
                <a:latin typeface="Arial" pitchFamily="34" charset="0"/>
                <a:ea typeface="Arial" pitchFamily="34" charset="-122"/>
                <a:cs typeface="Arial" pitchFamily="34" charset="-120"/>
              </a:rPr>
              <a:t>→ Probably hallucinated dates</a:t>
            </a:r>
            <a:endParaRPr lang="en-US" sz="1100" dirty="0"/>
          </a:p>
          <a:p>
            <a:pPr indent="0" marL="0">
              <a:spcAft>
                <a:spcPts val="600"/>
              </a:spcAft>
              <a:buNone/>
            </a:pPr>
            <a:r>
              <a:rPr lang="en-US" sz="1100" dirty="0">
                <a:solidFill>
                  <a:srgbClr val="9B9BB0"/>
                </a:solidFill>
                <a:latin typeface="Arial" pitchFamily="34" charset="0"/>
                <a:ea typeface="Arial" pitchFamily="34" charset="-122"/>
                <a:cs typeface="Arial" pitchFamily="34" charset="-120"/>
              </a:rPr>
              <a:t>→ Not useful for your actual needs</a:t>
            </a:r>
            <a:endParaRPr lang="en-US" sz="1100" dirty="0"/>
          </a:p>
        </p:txBody>
      </p:sp>
      <p:sp>
        <p:nvSpPr>
          <p:cNvPr id="11" name="Shape 8"/>
          <p:cNvSpPr/>
          <p:nvPr/>
        </p:nvSpPr>
        <p:spPr>
          <a:xfrm>
            <a:off x="4846320" y="1097280"/>
            <a:ext cx="3840480" cy="3474720"/>
          </a:xfrm>
          <a:prstGeom prst="rect">
            <a:avLst/>
          </a:prstGeom>
          <a:solidFill>
            <a:srgbClr val="101A20"/>
          </a:solidFill>
          <a:ln/>
          <a:effectLst>
            <a:outerShdw sx="100000" sy="100000" kx="0" ky="0" algn="bl" rotWithShape="0" blurRad="152400" dist="50800" dir="8100000">
              <a:srgbClr val="000000">
                <a:alpha val="50000"/>
              </a:srgbClr>
            </a:outerShdw>
          </a:effectLst>
        </p:spPr>
      </p:sp>
      <p:sp>
        <p:nvSpPr>
          <p:cNvPr id="12" name="Shape 9"/>
          <p:cNvSpPr/>
          <p:nvPr/>
        </p:nvSpPr>
        <p:spPr>
          <a:xfrm>
            <a:off x="4846320" y="1097280"/>
            <a:ext cx="3840480" cy="54864"/>
          </a:xfrm>
          <a:prstGeom prst="rect">
            <a:avLst/>
          </a:prstGeom>
          <a:solidFill>
            <a:srgbClr val="00D4AA"/>
          </a:solidFill>
          <a:ln/>
        </p:spPr>
      </p:sp>
      <p:pic>
        <p:nvPicPr>
          <p:cNvPr id="13" name="Image 1" descr="preencoded.png"/>
          <p:cNvPicPr>
            <a:picLocks noChangeAspect="1"/>
          </p:cNvPicPr>
          <p:nvPr/>
        </p:nvPicPr>
        <p:blipFill>
          <a:blip r:embed="rId2"/>
          <a:stretch>
            <a:fillRect/>
          </a:stretch>
        </p:blipFill>
        <p:spPr>
          <a:xfrm>
            <a:off x="5120640" y="1371600"/>
            <a:ext cx="320040" cy="320040"/>
          </a:xfrm>
          <a:prstGeom prst="rect">
            <a:avLst/>
          </a:prstGeom>
        </p:spPr>
      </p:pic>
      <p:sp>
        <p:nvSpPr>
          <p:cNvPr id="14" name="Text 10"/>
          <p:cNvSpPr/>
          <p:nvPr/>
        </p:nvSpPr>
        <p:spPr>
          <a:xfrm>
            <a:off x="5532120" y="1371600"/>
            <a:ext cx="2926080" cy="320040"/>
          </a:xfrm>
          <a:prstGeom prst="rect">
            <a:avLst/>
          </a:prstGeom>
          <a:noFill/>
          <a:ln/>
        </p:spPr>
        <p:txBody>
          <a:bodyPr wrap="square" lIns="0" tIns="0" rIns="0" bIns="0" rtlCol="0" anchor="ctr"/>
          <a:lstStyle/>
          <a:p>
            <a:pPr indent="0" marL="0">
              <a:buNone/>
            </a:pPr>
            <a:r>
              <a:rPr lang="en-US" sz="1600" b="1" dirty="0">
                <a:solidFill>
                  <a:srgbClr val="00D4AA"/>
                </a:solidFill>
                <a:latin typeface="Arial" pitchFamily="34" charset="0"/>
                <a:ea typeface="Arial" pitchFamily="34" charset="-122"/>
                <a:cs typeface="Arial" pitchFamily="34" charset="-120"/>
              </a:rPr>
              <a:t>The engineered prompt</a:t>
            </a:r>
            <a:endParaRPr lang="en-US" sz="1600" dirty="0"/>
          </a:p>
        </p:txBody>
      </p:sp>
      <p:sp>
        <p:nvSpPr>
          <p:cNvPr id="15" name="Shape 11"/>
          <p:cNvSpPr/>
          <p:nvPr/>
        </p:nvSpPr>
        <p:spPr>
          <a:xfrm>
            <a:off x="5120640" y="1920240"/>
            <a:ext cx="3291840" cy="777240"/>
          </a:xfrm>
          <a:prstGeom prst="rect">
            <a:avLst/>
          </a:prstGeom>
          <a:solidFill>
            <a:srgbClr val="0D1A18"/>
          </a:solidFill>
          <a:ln/>
        </p:spPr>
      </p:sp>
      <p:sp>
        <p:nvSpPr>
          <p:cNvPr id="16" name="Text 12"/>
          <p:cNvSpPr/>
          <p:nvPr/>
        </p:nvSpPr>
        <p:spPr>
          <a:xfrm>
            <a:off x="5212080" y="1965960"/>
            <a:ext cx="3108960" cy="685800"/>
          </a:xfrm>
          <a:prstGeom prst="rect">
            <a:avLst/>
          </a:prstGeom>
          <a:noFill/>
          <a:ln/>
        </p:spPr>
        <p:txBody>
          <a:bodyPr wrap="square" lIns="0" tIns="0" rIns="0" bIns="0" rtlCol="0" anchor="ctr"/>
          <a:lstStyle/>
          <a:p>
            <a:pPr indent="0" marL="0">
              <a:buNone/>
            </a:pPr>
            <a:r>
              <a:rPr lang="en-US" sz="1050" dirty="0">
                <a:solidFill>
                  <a:srgbClr val="00D4AA"/>
                </a:solidFill>
                <a:latin typeface="Consolas" pitchFamily="34" charset="0"/>
                <a:ea typeface="Consolas" pitchFamily="34" charset="-122"/>
                <a:cs typeface="Consolas" pitchFamily="34" charset="-120"/>
              </a:rPr>
              <a:t>"You are a tech analyst writing for a CTO audience. Compare the top 3 AI approaches..."</a:t>
            </a:r>
            <a:endParaRPr lang="en-US" sz="1050" dirty="0"/>
          </a:p>
        </p:txBody>
      </p:sp>
      <p:sp>
        <p:nvSpPr>
          <p:cNvPr id="17" name="Text 13"/>
          <p:cNvSpPr/>
          <p:nvPr/>
        </p:nvSpPr>
        <p:spPr>
          <a:xfrm>
            <a:off x="5120640" y="2926080"/>
            <a:ext cx="3291840" cy="1371600"/>
          </a:xfrm>
          <a:prstGeom prst="rect">
            <a:avLst/>
          </a:prstGeom>
          <a:noFill/>
          <a:ln/>
        </p:spPr>
        <p:txBody>
          <a:bodyPr wrap="square" lIns="0" tIns="0" rIns="0" bIns="0" rtlCol="0" anchor="ctr"/>
          <a:lstStyle/>
          <a:p>
            <a:pPr indent="0" marL="0">
              <a:spcAft>
                <a:spcPts val="600"/>
              </a:spcAft>
              <a:buNone/>
            </a:pPr>
            <a:r>
              <a:rPr lang="en-US" sz="1100" dirty="0">
                <a:solidFill>
                  <a:srgbClr val="C8C8D8"/>
                </a:solidFill>
                <a:latin typeface="Arial" pitchFamily="34" charset="0"/>
                <a:ea typeface="Arial" pitchFamily="34" charset="-122"/>
                <a:cs typeface="Arial" pitchFamily="34" charset="-120"/>
              </a:rPr>
              <a:t>→ Focused comparison table</a:t>
            </a:r>
            <a:endParaRPr lang="en-US" sz="1100" dirty="0"/>
          </a:p>
          <a:p>
            <a:pPr indent="0" marL="0">
              <a:spcAft>
                <a:spcPts val="600"/>
              </a:spcAft>
              <a:buNone/>
            </a:pPr>
            <a:r>
              <a:rPr lang="en-US" sz="1100" dirty="0">
                <a:solidFill>
                  <a:srgbClr val="C8C8D8"/>
                </a:solidFill>
                <a:latin typeface="Arial" pitchFamily="34" charset="0"/>
                <a:ea typeface="Arial" pitchFamily="34" charset="-122"/>
                <a:cs typeface="Arial" pitchFamily="34" charset="-120"/>
              </a:rPr>
              <a:t>→ CTO-appropriate depth</a:t>
            </a:r>
            <a:endParaRPr lang="en-US" sz="1100" dirty="0"/>
          </a:p>
          <a:p>
            <a:pPr indent="0" marL="0">
              <a:spcAft>
                <a:spcPts val="600"/>
              </a:spcAft>
              <a:buNone/>
            </a:pPr>
            <a:r>
              <a:rPr lang="en-US" sz="1100" dirty="0">
                <a:solidFill>
                  <a:srgbClr val="C8C8D8"/>
                </a:solidFill>
                <a:latin typeface="Arial" pitchFamily="34" charset="0"/>
                <a:ea typeface="Arial" pitchFamily="34" charset="-122"/>
                <a:cs typeface="Arial" pitchFamily="34" charset="-120"/>
              </a:rPr>
              <a:t>→ Actionable insights</a:t>
            </a:r>
            <a:endParaRPr lang="en-US" sz="1100" dirty="0"/>
          </a:p>
          <a:p>
            <a:pPr indent="0" marL="0">
              <a:spcAft>
                <a:spcPts val="600"/>
              </a:spcAft>
              <a:buNone/>
            </a:pPr>
            <a:r>
              <a:rPr lang="en-US" sz="1100" dirty="0">
                <a:solidFill>
                  <a:srgbClr val="C8C8D8"/>
                </a:solidFill>
                <a:latin typeface="Arial" pitchFamily="34" charset="0"/>
                <a:ea typeface="Arial" pitchFamily="34" charset="-122"/>
                <a:cs typeface="Arial" pitchFamily="34" charset="-120"/>
              </a:rPr>
              <a:t>→ Exactly what you needed</a:t>
            </a:r>
            <a:endParaRPr lang="en-US" sz="1100" dirty="0"/>
          </a:p>
        </p:txBody>
      </p:sp>
      <p:sp>
        <p:nvSpPr>
          <p:cNvPr id="18" name="Text 14"/>
          <p:cNvSpPr/>
          <p:nvPr/>
        </p:nvSpPr>
        <p:spPr>
          <a:xfrm>
            <a:off x="731520" y="4709160"/>
            <a:ext cx="7680960" cy="320040"/>
          </a:xfrm>
          <a:prstGeom prst="rect">
            <a:avLst/>
          </a:prstGeom>
          <a:noFill/>
          <a:ln/>
        </p:spPr>
        <p:txBody>
          <a:bodyPr wrap="square" lIns="0" tIns="0" rIns="0" bIns="0" rtlCol="0" anchor="ctr"/>
          <a:lstStyle/>
          <a:p>
            <a:pPr algn="ctr" indent="0" marL="0">
              <a:buNone/>
            </a:pPr>
            <a:r>
              <a:rPr lang="en-US" sz="1400" b="1" i="1" dirty="0">
                <a:solidFill>
                  <a:srgbClr val="E91E8C"/>
                </a:solidFill>
                <a:latin typeface="Arial" pitchFamily="34" charset="0"/>
                <a:ea typeface="Arial" pitchFamily="34" charset="-122"/>
                <a:cs typeface="Arial" pitchFamily="34" charset="-120"/>
              </a:rPr>
              <a:t>Same model. Same topic. Completely different result.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"Prompt engineering is dead"</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You've seen the headlines. Let's be honest about it.</a:t>
            </a:r>
            <a:endParaRPr lang="en-US" sz="1100" dirty="0"/>
          </a:p>
        </p:txBody>
      </p:sp>
      <p:sp>
        <p:nvSpPr>
          <p:cNvPr id="5" name="Shape 3"/>
          <p:cNvSpPr/>
          <p:nvPr/>
        </p:nvSpPr>
        <p:spPr>
          <a:xfrm>
            <a:off x="457200" y="1051560"/>
            <a:ext cx="8229600" cy="59436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594360"/>
          </a:xfrm>
          <a:prstGeom prst="rect">
            <a:avLst/>
          </a:prstGeom>
          <a:solidFill>
            <a:srgbClr val="FF4444"/>
          </a:solidFill>
          <a:ln/>
        </p:spPr>
      </p:sp>
      <p:sp>
        <p:nvSpPr>
          <p:cNvPr id="7" name="Text 5"/>
          <p:cNvSpPr/>
          <p:nvPr/>
        </p:nvSpPr>
        <p:spPr>
          <a:xfrm>
            <a:off x="731520" y="1097280"/>
            <a:ext cx="7680960" cy="2286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Models got smarter. You don't need magic spells anymore.</a:t>
            </a:r>
            <a:endParaRPr lang="en-US" sz="1400" dirty="0"/>
          </a:p>
        </p:txBody>
      </p:sp>
      <p:sp>
        <p:nvSpPr>
          <p:cNvPr id="8" name="Text 6"/>
          <p:cNvSpPr/>
          <p:nvPr/>
        </p:nvSpPr>
        <p:spPr>
          <a:xfrm>
            <a:off x="731520" y="1353312"/>
            <a:ext cx="7680960" cy="22860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 2024, phrasing mattered enormously. In 2026, Claude and GPT understand vague intent much better. The "prompt wizard" era is over.</a:t>
            </a:r>
            <a:endParaRPr lang="en-US" sz="1100" dirty="0"/>
          </a:p>
        </p:txBody>
      </p:sp>
      <p:sp>
        <p:nvSpPr>
          <p:cNvPr id="9" name="Shape 7"/>
          <p:cNvSpPr/>
          <p:nvPr/>
        </p:nvSpPr>
        <p:spPr>
          <a:xfrm>
            <a:off x="457200" y="1920240"/>
            <a:ext cx="2697480" cy="2377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920240"/>
            <a:ext cx="2697480" cy="54864"/>
          </a:xfrm>
          <a:prstGeom prst="rect">
            <a:avLst/>
          </a:prstGeom>
          <a:solidFill>
            <a:srgbClr val="FF4444"/>
          </a:solidFill>
          <a:ln/>
        </p:spPr>
      </p:sp>
      <p:sp>
        <p:nvSpPr>
          <p:cNvPr id="11" name="Text 9"/>
          <p:cNvSpPr/>
          <p:nvPr/>
        </p:nvSpPr>
        <p:spPr>
          <a:xfrm>
            <a:off x="594360" y="2011680"/>
            <a:ext cx="2377440" cy="320040"/>
          </a:xfrm>
          <a:prstGeom prst="rect">
            <a:avLst/>
          </a:prstGeom>
          <a:noFill/>
          <a:ln/>
        </p:spPr>
        <p:txBody>
          <a:bodyPr wrap="square" lIns="0" tIns="0" rIns="0" bIns="0" rtlCol="0" anchor="ctr"/>
          <a:lstStyle/>
          <a:p>
            <a:pPr indent="0" marL="0">
              <a:buNone/>
            </a:pPr>
            <a:r>
              <a:rPr lang="en-US" sz="1400" b="1" dirty="0">
                <a:solidFill>
                  <a:srgbClr val="FF4444"/>
                </a:solidFill>
                <a:latin typeface="Arial" pitchFamily="34" charset="0"/>
                <a:ea typeface="Arial" pitchFamily="34" charset="-122"/>
                <a:cs typeface="Arial" pitchFamily="34" charset="-120"/>
              </a:rPr>
              <a:t>What died</a:t>
            </a:r>
            <a:endParaRPr lang="en-US" sz="1400" dirty="0"/>
          </a:p>
        </p:txBody>
      </p:sp>
      <p:sp>
        <p:nvSpPr>
          <p:cNvPr id="12" name="Text 10"/>
          <p:cNvSpPr/>
          <p:nvPr/>
        </p:nvSpPr>
        <p:spPr>
          <a:xfrm>
            <a:off x="594360" y="2377440"/>
            <a:ext cx="2377440" cy="1645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Memorizing magic phrases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"Act as a..." formulas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Prompt libraries of 500 templates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Prompt engineer as a job title</a:t>
            </a:r>
            <a:endParaRPr lang="en-US" sz="1100" dirty="0"/>
          </a:p>
        </p:txBody>
      </p:sp>
      <p:sp>
        <p:nvSpPr>
          <p:cNvPr id="13" name="Shape 11"/>
          <p:cNvSpPr/>
          <p:nvPr/>
        </p:nvSpPr>
        <p:spPr>
          <a:xfrm>
            <a:off x="3337560" y="1920240"/>
            <a:ext cx="2697480" cy="2377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4" name="Shape 12"/>
          <p:cNvSpPr/>
          <p:nvPr/>
        </p:nvSpPr>
        <p:spPr>
          <a:xfrm>
            <a:off x="3337560" y="1920240"/>
            <a:ext cx="2697480" cy="54864"/>
          </a:xfrm>
          <a:prstGeom prst="rect">
            <a:avLst/>
          </a:prstGeom>
          <a:solidFill>
            <a:srgbClr val="00D4AA"/>
          </a:solidFill>
          <a:ln/>
        </p:spPr>
      </p:sp>
      <p:sp>
        <p:nvSpPr>
          <p:cNvPr id="15" name="Text 13"/>
          <p:cNvSpPr/>
          <p:nvPr/>
        </p:nvSpPr>
        <p:spPr>
          <a:xfrm>
            <a:off x="3474720" y="2011680"/>
            <a:ext cx="2377440" cy="32004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What evolved</a:t>
            </a:r>
            <a:endParaRPr lang="en-US" sz="1400" dirty="0"/>
          </a:p>
        </p:txBody>
      </p:sp>
      <p:sp>
        <p:nvSpPr>
          <p:cNvPr id="16" name="Text 14"/>
          <p:cNvSpPr/>
          <p:nvPr/>
        </p:nvSpPr>
        <p:spPr>
          <a:xfrm>
            <a:off x="3474720" y="2377440"/>
            <a:ext cx="2377440" cy="1645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Clear communication with AI</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System prompts for agents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CLAUDE.md &amp; copilot-instructions.md</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Context architecture at scale</a:t>
            </a:r>
            <a:endParaRPr lang="en-US" sz="1100" dirty="0"/>
          </a:p>
        </p:txBody>
      </p:sp>
      <p:sp>
        <p:nvSpPr>
          <p:cNvPr id="17" name="Shape 15"/>
          <p:cNvSpPr/>
          <p:nvPr/>
        </p:nvSpPr>
        <p:spPr>
          <a:xfrm>
            <a:off x="6217920" y="1920240"/>
            <a:ext cx="2697480" cy="2377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8" name="Shape 16"/>
          <p:cNvSpPr/>
          <p:nvPr/>
        </p:nvSpPr>
        <p:spPr>
          <a:xfrm>
            <a:off x="6217920" y="1920240"/>
            <a:ext cx="2697480" cy="54864"/>
          </a:xfrm>
          <a:prstGeom prst="rect">
            <a:avLst/>
          </a:prstGeom>
          <a:solidFill>
            <a:srgbClr val="E91E8C"/>
          </a:solidFill>
          <a:ln/>
        </p:spPr>
      </p:sp>
      <p:sp>
        <p:nvSpPr>
          <p:cNvPr id="19" name="Text 17"/>
          <p:cNvSpPr/>
          <p:nvPr/>
        </p:nvSpPr>
        <p:spPr>
          <a:xfrm>
            <a:off x="6355080" y="2011680"/>
            <a:ext cx="2377440" cy="320040"/>
          </a:xfrm>
          <a:prstGeom prst="rect">
            <a:avLst/>
          </a:prstGeom>
          <a:noFill/>
          <a:ln/>
        </p:spPr>
        <p:txBody>
          <a:bodyPr wrap="square" lIns="0" tIns="0" rIns="0" bIns="0" rtlCol="0" anchor="ctr"/>
          <a:lstStyle/>
          <a:p>
            <a:pPr indent="0" marL="0">
              <a:buNone/>
            </a:pPr>
            <a:r>
              <a:rPr lang="en-US" sz="1400" b="1" dirty="0">
                <a:solidFill>
                  <a:srgbClr val="E91E8C"/>
                </a:solidFill>
                <a:latin typeface="Arial" pitchFamily="34" charset="0"/>
                <a:ea typeface="Arial" pitchFamily="34" charset="-122"/>
                <a:cs typeface="Arial" pitchFamily="34" charset="-120"/>
              </a:rPr>
              <a:t>What matters in 2026</a:t>
            </a:r>
            <a:endParaRPr lang="en-US" sz="1400" dirty="0"/>
          </a:p>
        </p:txBody>
      </p:sp>
      <p:sp>
        <p:nvSpPr>
          <p:cNvPr id="20" name="Text 18"/>
          <p:cNvSpPr/>
          <p:nvPr/>
        </p:nvSpPr>
        <p:spPr>
          <a:xfrm>
            <a:off x="6355080" y="2377440"/>
            <a:ext cx="2377440" cy="1645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Instructing agents, not chatbots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Designing workflows, not sentences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Evaluation &amp; reliability</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The skill inside every role</a:t>
            </a:r>
            <a:endParaRPr lang="en-US" sz="1100" dirty="0"/>
          </a:p>
        </p:txBody>
      </p:sp>
      <p:sp>
        <p:nvSpPr>
          <p:cNvPr id="21" name="Text 19"/>
          <p:cNvSpPr/>
          <p:nvPr/>
        </p:nvSpPr>
        <p:spPr>
          <a:xfrm>
            <a:off x="457200" y="4526280"/>
            <a:ext cx="8229600" cy="502920"/>
          </a:xfrm>
          <a:prstGeom prst="rect">
            <a:avLst/>
          </a:prstGeom>
          <a:noFill/>
          <a:ln/>
        </p:spPr>
        <p:txBody>
          <a:bodyPr wrap="square" lIns="0" tIns="0" rIns="0" bIns="0" rtlCol="0" anchor="ctr"/>
          <a:lstStyle/>
          <a:p>
            <a:pPr algn="ctr" indent="0" marL="0">
              <a:buNone/>
            </a:pPr>
            <a:r>
              <a:rPr lang="en-US" sz="1300" b="1" i="1" dirty="0">
                <a:solidFill>
                  <a:srgbClr val="E91E8C"/>
                </a:solidFill>
                <a:latin typeface="Arial" pitchFamily="34" charset="0"/>
                <a:ea typeface="Arial" pitchFamily="34" charset="-122"/>
                <a:cs typeface="Arial" pitchFamily="34" charset="-120"/>
              </a:rPr>
              <a:t>This talk teaches the skill that survived: communicating effectively with AI systems — from chat to agents.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80/20 of prompt engineering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Three habits that deliver most of the results</a:t>
            </a:r>
            <a:endParaRPr lang="en-US" sz="1100" dirty="0"/>
          </a:p>
        </p:txBody>
      </p:sp>
      <p:sp>
        <p:nvSpPr>
          <p:cNvPr id="5" name="Shape 3"/>
          <p:cNvSpPr/>
          <p:nvPr/>
        </p:nvSpPr>
        <p:spPr>
          <a:xfrm>
            <a:off x="457200" y="1051560"/>
            <a:ext cx="8229600" cy="59436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594360"/>
          </a:xfrm>
          <a:prstGeom prst="rect">
            <a:avLst/>
          </a:prstGeom>
          <a:solidFill>
            <a:srgbClr val="E91E8C"/>
          </a:solidFill>
          <a:ln/>
        </p:spPr>
      </p:sp>
      <p:sp>
        <p:nvSpPr>
          <p:cNvPr id="7" name="Text 5"/>
          <p:cNvSpPr/>
          <p:nvPr/>
        </p:nvSpPr>
        <p:spPr>
          <a:xfrm>
            <a:off x="731520" y="1097280"/>
            <a:ext cx="7680960" cy="2286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There are dozens of techniques. Three of them deliver 80% of the value.</a:t>
            </a:r>
            <a:endParaRPr lang="en-US" sz="1500" dirty="0"/>
          </a:p>
        </p:txBody>
      </p:sp>
      <p:sp>
        <p:nvSpPr>
          <p:cNvPr id="8" name="Text 6"/>
          <p:cNvSpPr/>
          <p:nvPr/>
        </p:nvSpPr>
        <p:spPr>
          <a:xfrm>
            <a:off x="731520" y="1353312"/>
            <a:ext cx="7680960" cy="22860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Master these first. Everything else in this talk is for when these aren't enough.</a:t>
            </a:r>
            <a:endParaRPr lang="en-US" sz="1100" dirty="0"/>
          </a:p>
        </p:txBody>
      </p:sp>
      <p:sp>
        <p:nvSpPr>
          <p:cNvPr id="9" name="Shape 7"/>
          <p:cNvSpPr/>
          <p:nvPr/>
        </p:nvSpPr>
        <p:spPr>
          <a:xfrm>
            <a:off x="457200" y="1874520"/>
            <a:ext cx="2697480" cy="28803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874520"/>
            <a:ext cx="2697480" cy="54864"/>
          </a:xfrm>
          <a:prstGeom prst="rect">
            <a:avLst/>
          </a:prstGeom>
          <a:solidFill>
            <a:srgbClr val="E91E8C"/>
          </a:solidFill>
          <a:ln/>
        </p:spPr>
      </p:sp>
      <p:sp>
        <p:nvSpPr>
          <p:cNvPr id="11" name="Shape 9"/>
          <p:cNvSpPr/>
          <p:nvPr/>
        </p:nvSpPr>
        <p:spPr>
          <a:xfrm>
            <a:off x="566928" y="2011680"/>
            <a:ext cx="365760" cy="365760"/>
          </a:xfrm>
          <a:prstGeom prst="ellipse">
            <a:avLst/>
          </a:prstGeom>
          <a:solidFill>
            <a:srgbClr val="E91E8C"/>
          </a:solidFill>
          <a:ln/>
        </p:spPr>
      </p:sp>
      <p:sp>
        <p:nvSpPr>
          <p:cNvPr id="12" name="Text 10"/>
          <p:cNvSpPr/>
          <p:nvPr/>
        </p:nvSpPr>
        <p:spPr>
          <a:xfrm>
            <a:off x="566928" y="2011680"/>
            <a:ext cx="365760" cy="365760"/>
          </a:xfrm>
          <a:prstGeom prst="rect">
            <a:avLst/>
          </a:prstGeom>
          <a:noFill/>
          <a:ln/>
        </p:spPr>
        <p:txBody>
          <a:bodyPr wrap="square" lIns="0" tIns="0" rIns="0" bIns="0" rtlCol="0" anchor="ctr"/>
          <a:lstStyle/>
          <a:p>
            <a:pPr algn="ctr" indent="0" marL="0">
              <a:buNone/>
            </a:pPr>
            <a:r>
              <a:rPr lang="en-US" sz="1800" b="1" dirty="0">
                <a:solidFill>
                  <a:srgbClr val="0D0D0D"/>
                </a:solidFill>
                <a:latin typeface="Arial" pitchFamily="34" charset="0"/>
                <a:ea typeface="Arial" pitchFamily="34" charset="-122"/>
                <a:cs typeface="Arial" pitchFamily="34" charset="-120"/>
              </a:rPr>
              <a:t>1</a:t>
            </a:r>
            <a:endParaRPr lang="en-US" sz="1800" dirty="0"/>
          </a:p>
        </p:txBody>
      </p:sp>
      <p:sp>
        <p:nvSpPr>
          <p:cNvPr id="13" name="Text 11"/>
          <p:cNvSpPr/>
          <p:nvPr/>
        </p:nvSpPr>
        <p:spPr>
          <a:xfrm>
            <a:off x="1005840" y="2029968"/>
            <a:ext cx="1920240" cy="320040"/>
          </a:xfrm>
          <a:prstGeom prst="rect">
            <a:avLst/>
          </a:prstGeom>
          <a:noFill/>
          <a:ln/>
        </p:spPr>
        <p:txBody>
          <a:bodyPr wrap="square" lIns="0" tIns="0" rIns="0" bIns="0" rtlCol="0" anchor="ctr"/>
          <a:lstStyle/>
          <a:p>
            <a:pPr indent="0" marL="0">
              <a:buNone/>
            </a:pPr>
            <a:r>
              <a:rPr lang="en-US" sz="1600" b="1" dirty="0">
                <a:solidFill>
                  <a:srgbClr val="E91E8C"/>
                </a:solidFill>
                <a:latin typeface="Arial" pitchFamily="34" charset="0"/>
                <a:ea typeface="Arial" pitchFamily="34" charset="-122"/>
                <a:cs typeface="Arial" pitchFamily="34" charset="-120"/>
              </a:rPr>
              <a:t>Be specific</a:t>
            </a:r>
            <a:endParaRPr lang="en-US" sz="1600" dirty="0"/>
          </a:p>
        </p:txBody>
      </p:sp>
      <p:sp>
        <p:nvSpPr>
          <p:cNvPr id="14" name="Text 12"/>
          <p:cNvSpPr/>
          <p:nvPr/>
        </p:nvSpPr>
        <p:spPr>
          <a:xfrm>
            <a:off x="566928" y="2468880"/>
            <a:ext cx="2468880" cy="77724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Say who it's for, what format you want,</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how long, and what good looks like.</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Vagueness is the #1 cause of bad output.</a:t>
            </a:r>
            <a:endParaRPr lang="en-US" sz="1000" dirty="0"/>
          </a:p>
        </p:txBody>
      </p:sp>
      <p:sp>
        <p:nvSpPr>
          <p:cNvPr id="15" name="Shape 13"/>
          <p:cNvSpPr/>
          <p:nvPr/>
        </p:nvSpPr>
        <p:spPr>
          <a:xfrm>
            <a:off x="566928" y="3337560"/>
            <a:ext cx="2468880" cy="640080"/>
          </a:xfrm>
          <a:prstGeom prst="rect">
            <a:avLst/>
          </a:prstGeom>
          <a:solidFill>
            <a:srgbClr val="0D0D1A"/>
          </a:solidFill>
          <a:ln/>
        </p:spPr>
      </p:sp>
      <p:sp>
        <p:nvSpPr>
          <p:cNvPr id="16" name="Text 14"/>
          <p:cNvSpPr/>
          <p:nvPr/>
        </p:nvSpPr>
        <p:spPr>
          <a:xfrm>
            <a:off x="658368" y="3383280"/>
            <a:ext cx="2286000" cy="548640"/>
          </a:xfrm>
          <a:prstGeom prst="rect">
            <a:avLst/>
          </a:prstGeom>
          <a:noFill/>
          <a:ln/>
        </p:spPr>
        <p:txBody>
          <a:bodyPr wrap="square" lIns="0" tIns="0" rIns="0" bIns="0" rtlCol="0" anchor="ctr"/>
          <a:lstStyle/>
          <a:p>
            <a:pPr indent="0" marL="0">
              <a:buNone/>
            </a:pPr>
            <a:r>
              <a:rPr lang="en-US" sz="900" dirty="0">
                <a:solidFill>
                  <a:srgbClr val="E91E8C"/>
                </a:solidFill>
                <a:latin typeface="Consolas" pitchFamily="34" charset="0"/>
                <a:ea typeface="Consolas" pitchFamily="34" charset="-122"/>
                <a:cs typeface="Consolas" pitchFamily="34" charset="-120"/>
              </a:rPr>
              <a:t>"Summarize this for a CTO in 3 bullets"</a:t>
            </a:r>
            <a:endParaRPr lang="en-US" sz="900" dirty="0"/>
          </a:p>
          <a:p>
            <a:pPr indent="0" marL="0">
              <a:buNone/>
            </a:pPr>
            <a:r>
              <a:rPr lang="en-US" sz="900" dirty="0">
                <a:solidFill>
                  <a:srgbClr val="E91E8C"/>
                </a:solidFill>
                <a:latin typeface="Consolas" pitchFamily="34" charset="0"/>
                <a:ea typeface="Consolas" pitchFamily="34" charset="-122"/>
                <a:cs typeface="Consolas" pitchFamily="34" charset="-120"/>
              </a:rPr>
              <a:t>not "Summarize this"</a:t>
            </a:r>
            <a:endParaRPr lang="en-US" sz="900" dirty="0"/>
          </a:p>
        </p:txBody>
      </p:sp>
      <p:sp>
        <p:nvSpPr>
          <p:cNvPr id="17" name="Shape 15"/>
          <p:cNvSpPr/>
          <p:nvPr/>
        </p:nvSpPr>
        <p:spPr>
          <a:xfrm>
            <a:off x="3337560" y="1874520"/>
            <a:ext cx="2697480" cy="28803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8" name="Shape 16"/>
          <p:cNvSpPr/>
          <p:nvPr/>
        </p:nvSpPr>
        <p:spPr>
          <a:xfrm>
            <a:off x="3337560" y="1874520"/>
            <a:ext cx="2697480" cy="54864"/>
          </a:xfrm>
          <a:prstGeom prst="rect">
            <a:avLst/>
          </a:prstGeom>
          <a:solidFill>
            <a:srgbClr val="4A9FFF"/>
          </a:solidFill>
          <a:ln/>
        </p:spPr>
      </p:sp>
      <p:sp>
        <p:nvSpPr>
          <p:cNvPr id="19" name="Shape 17"/>
          <p:cNvSpPr/>
          <p:nvPr/>
        </p:nvSpPr>
        <p:spPr>
          <a:xfrm>
            <a:off x="3447288" y="2011680"/>
            <a:ext cx="365760" cy="365760"/>
          </a:xfrm>
          <a:prstGeom prst="ellipse">
            <a:avLst/>
          </a:prstGeom>
          <a:solidFill>
            <a:srgbClr val="4A9FFF"/>
          </a:solidFill>
          <a:ln/>
        </p:spPr>
      </p:sp>
      <p:sp>
        <p:nvSpPr>
          <p:cNvPr id="20" name="Text 18"/>
          <p:cNvSpPr/>
          <p:nvPr/>
        </p:nvSpPr>
        <p:spPr>
          <a:xfrm>
            <a:off x="3447288" y="2011680"/>
            <a:ext cx="365760" cy="365760"/>
          </a:xfrm>
          <a:prstGeom prst="rect">
            <a:avLst/>
          </a:prstGeom>
          <a:noFill/>
          <a:ln/>
        </p:spPr>
        <p:txBody>
          <a:bodyPr wrap="square" lIns="0" tIns="0" rIns="0" bIns="0" rtlCol="0" anchor="ctr"/>
          <a:lstStyle/>
          <a:p>
            <a:pPr algn="ctr" indent="0" marL="0">
              <a:buNone/>
            </a:pPr>
            <a:r>
              <a:rPr lang="en-US" sz="1800" b="1" dirty="0">
                <a:solidFill>
                  <a:srgbClr val="0D0D0D"/>
                </a:solidFill>
                <a:latin typeface="Arial" pitchFamily="34" charset="0"/>
                <a:ea typeface="Arial" pitchFamily="34" charset="-122"/>
                <a:cs typeface="Arial" pitchFamily="34" charset="-120"/>
              </a:rPr>
              <a:t>2</a:t>
            </a:r>
            <a:endParaRPr lang="en-US" sz="1800" dirty="0"/>
          </a:p>
        </p:txBody>
      </p:sp>
      <p:sp>
        <p:nvSpPr>
          <p:cNvPr id="21" name="Text 19"/>
          <p:cNvSpPr/>
          <p:nvPr/>
        </p:nvSpPr>
        <p:spPr>
          <a:xfrm>
            <a:off x="3886200" y="2029968"/>
            <a:ext cx="1920240" cy="320040"/>
          </a:xfrm>
          <a:prstGeom prst="rect">
            <a:avLst/>
          </a:prstGeom>
          <a:noFill/>
          <a:ln/>
        </p:spPr>
        <p:txBody>
          <a:bodyPr wrap="square" lIns="0" tIns="0" rIns="0" bIns="0" rtlCol="0" anchor="ctr"/>
          <a:lstStyle/>
          <a:p>
            <a:pPr indent="0" marL="0">
              <a:buNone/>
            </a:pPr>
            <a:r>
              <a:rPr lang="en-US" sz="1600" b="1" dirty="0">
                <a:solidFill>
                  <a:srgbClr val="4A9FFF"/>
                </a:solidFill>
                <a:latin typeface="Arial" pitchFamily="34" charset="0"/>
                <a:ea typeface="Arial" pitchFamily="34" charset="-122"/>
                <a:cs typeface="Arial" pitchFamily="34" charset="-120"/>
              </a:rPr>
              <a:t>Show, don't tell</a:t>
            </a:r>
            <a:endParaRPr lang="en-US" sz="1600" dirty="0"/>
          </a:p>
        </p:txBody>
      </p:sp>
      <p:sp>
        <p:nvSpPr>
          <p:cNvPr id="22" name="Text 20"/>
          <p:cNvSpPr/>
          <p:nvPr/>
        </p:nvSpPr>
        <p:spPr>
          <a:xfrm>
            <a:off x="3447288" y="2468880"/>
            <a:ext cx="2468880" cy="77724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Give 2-3 examples of what you want.</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Models learn patterns faster from examples</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than from instructions.</a:t>
            </a:r>
            <a:endParaRPr lang="en-US" sz="1000" dirty="0"/>
          </a:p>
        </p:txBody>
      </p:sp>
      <p:sp>
        <p:nvSpPr>
          <p:cNvPr id="23" name="Shape 21"/>
          <p:cNvSpPr/>
          <p:nvPr/>
        </p:nvSpPr>
        <p:spPr>
          <a:xfrm>
            <a:off x="3447288" y="3337560"/>
            <a:ext cx="2468880" cy="640080"/>
          </a:xfrm>
          <a:prstGeom prst="rect">
            <a:avLst/>
          </a:prstGeom>
          <a:solidFill>
            <a:srgbClr val="0D0D1A"/>
          </a:solidFill>
          <a:ln/>
        </p:spPr>
      </p:sp>
      <p:sp>
        <p:nvSpPr>
          <p:cNvPr id="24" name="Text 22"/>
          <p:cNvSpPr/>
          <p:nvPr/>
        </p:nvSpPr>
        <p:spPr>
          <a:xfrm>
            <a:off x="3538728" y="3383280"/>
            <a:ext cx="2286000" cy="548640"/>
          </a:xfrm>
          <a:prstGeom prst="rect">
            <a:avLst/>
          </a:prstGeom>
          <a:noFill/>
          <a:ln/>
        </p:spPr>
        <p:txBody>
          <a:bodyPr wrap="square" lIns="0" tIns="0" rIns="0" bIns="0" rtlCol="0" anchor="ctr"/>
          <a:lstStyle/>
          <a:p>
            <a:pPr indent="0" marL="0">
              <a:buNone/>
            </a:pPr>
            <a:r>
              <a:rPr lang="en-US" sz="900" dirty="0">
                <a:solidFill>
                  <a:srgbClr val="4A9FFF"/>
                </a:solidFill>
                <a:latin typeface="Consolas" pitchFamily="34" charset="0"/>
                <a:ea typeface="Consolas" pitchFamily="34" charset="-122"/>
                <a:cs typeface="Consolas" pitchFamily="34" charset="-120"/>
              </a:rPr>
              <a:t>Paste an example email, then say:</a:t>
            </a:r>
            <a:endParaRPr lang="en-US" sz="900" dirty="0"/>
          </a:p>
          <a:p>
            <a:pPr indent="0" marL="0">
              <a:buNone/>
            </a:pPr>
            <a:r>
              <a:rPr lang="en-US" sz="900" dirty="0">
                <a:solidFill>
                  <a:srgbClr val="4A9FFF"/>
                </a:solidFill>
                <a:latin typeface="Consolas" pitchFamily="34" charset="0"/>
                <a:ea typeface="Consolas" pitchFamily="34" charset="-122"/>
                <a:cs typeface="Consolas" pitchFamily="34" charset="-120"/>
              </a:rPr>
              <a:t>"Write one like this for [new topic]"</a:t>
            </a:r>
            <a:endParaRPr lang="en-US" sz="900" dirty="0"/>
          </a:p>
        </p:txBody>
      </p:sp>
      <p:sp>
        <p:nvSpPr>
          <p:cNvPr id="25" name="Shape 23"/>
          <p:cNvSpPr/>
          <p:nvPr/>
        </p:nvSpPr>
        <p:spPr>
          <a:xfrm>
            <a:off x="6217920" y="1874520"/>
            <a:ext cx="2697480" cy="28803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6" name="Shape 24"/>
          <p:cNvSpPr/>
          <p:nvPr/>
        </p:nvSpPr>
        <p:spPr>
          <a:xfrm>
            <a:off x="6217920" y="1874520"/>
            <a:ext cx="2697480" cy="54864"/>
          </a:xfrm>
          <a:prstGeom prst="rect">
            <a:avLst/>
          </a:prstGeom>
          <a:solidFill>
            <a:srgbClr val="00D4AA"/>
          </a:solidFill>
          <a:ln/>
        </p:spPr>
      </p:sp>
      <p:sp>
        <p:nvSpPr>
          <p:cNvPr id="27" name="Shape 25"/>
          <p:cNvSpPr/>
          <p:nvPr/>
        </p:nvSpPr>
        <p:spPr>
          <a:xfrm>
            <a:off x="6327648" y="2011680"/>
            <a:ext cx="365760" cy="365760"/>
          </a:xfrm>
          <a:prstGeom prst="ellipse">
            <a:avLst/>
          </a:prstGeom>
          <a:solidFill>
            <a:srgbClr val="00D4AA"/>
          </a:solidFill>
          <a:ln/>
        </p:spPr>
      </p:sp>
      <p:sp>
        <p:nvSpPr>
          <p:cNvPr id="28" name="Text 26"/>
          <p:cNvSpPr/>
          <p:nvPr/>
        </p:nvSpPr>
        <p:spPr>
          <a:xfrm>
            <a:off x="6327648" y="2011680"/>
            <a:ext cx="365760" cy="365760"/>
          </a:xfrm>
          <a:prstGeom prst="rect">
            <a:avLst/>
          </a:prstGeom>
          <a:noFill/>
          <a:ln/>
        </p:spPr>
        <p:txBody>
          <a:bodyPr wrap="square" lIns="0" tIns="0" rIns="0" bIns="0" rtlCol="0" anchor="ctr"/>
          <a:lstStyle/>
          <a:p>
            <a:pPr algn="ctr" indent="0" marL="0">
              <a:buNone/>
            </a:pPr>
            <a:r>
              <a:rPr lang="en-US" sz="1800" b="1" dirty="0">
                <a:solidFill>
                  <a:srgbClr val="0D0D0D"/>
                </a:solidFill>
                <a:latin typeface="Arial" pitchFamily="34" charset="0"/>
                <a:ea typeface="Arial" pitchFamily="34" charset="-122"/>
                <a:cs typeface="Arial" pitchFamily="34" charset="-120"/>
              </a:rPr>
              <a:t>3</a:t>
            </a:r>
            <a:endParaRPr lang="en-US" sz="1800" dirty="0"/>
          </a:p>
        </p:txBody>
      </p:sp>
      <p:sp>
        <p:nvSpPr>
          <p:cNvPr id="29" name="Text 27"/>
          <p:cNvSpPr/>
          <p:nvPr/>
        </p:nvSpPr>
        <p:spPr>
          <a:xfrm>
            <a:off x="6766560" y="2029968"/>
            <a:ext cx="1920240" cy="320040"/>
          </a:xfrm>
          <a:prstGeom prst="rect">
            <a:avLst/>
          </a:prstGeom>
          <a:noFill/>
          <a:ln/>
        </p:spPr>
        <p:txBody>
          <a:bodyPr wrap="square" lIns="0" tIns="0" rIns="0" bIns="0" rtlCol="0" anchor="ctr"/>
          <a:lstStyle/>
          <a:p>
            <a:pPr indent="0" marL="0">
              <a:buNone/>
            </a:pPr>
            <a:r>
              <a:rPr lang="en-US" sz="1600" b="1" dirty="0">
                <a:solidFill>
                  <a:srgbClr val="00D4AA"/>
                </a:solidFill>
                <a:latin typeface="Arial" pitchFamily="34" charset="0"/>
                <a:ea typeface="Arial" pitchFamily="34" charset="-122"/>
                <a:cs typeface="Arial" pitchFamily="34" charset="-120"/>
              </a:rPr>
              <a:t>Iterate, don't restart</a:t>
            </a:r>
            <a:endParaRPr lang="en-US" sz="1600" dirty="0"/>
          </a:p>
        </p:txBody>
      </p:sp>
      <p:sp>
        <p:nvSpPr>
          <p:cNvPr id="30" name="Text 28"/>
          <p:cNvSpPr/>
          <p:nvPr/>
        </p:nvSpPr>
        <p:spPr>
          <a:xfrm>
            <a:off x="6327648" y="2468880"/>
            <a:ext cx="2468880" cy="77724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Your first prompt is a rough draft.</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Read the output, tell the model what to fix.</a:t>
            </a:r>
            <a:endParaRPr lang="en-US" sz="1000" dirty="0"/>
          </a:p>
          <a:p>
            <a:pPr indent="0" marL="0">
              <a:buNone/>
            </a:pPr>
            <a:r>
              <a:rPr lang="en-US" sz="1000" dirty="0">
                <a:solidFill>
                  <a:srgbClr val="C8C8D8"/>
                </a:solidFill>
                <a:latin typeface="Arial" pitchFamily="34" charset="0"/>
                <a:ea typeface="Arial" pitchFamily="34" charset="-122"/>
                <a:cs typeface="Arial" pitchFamily="34" charset="-120"/>
              </a:rPr>
              <a:t>Three rounds beats one perfect prompt.</a:t>
            </a:r>
            <a:endParaRPr lang="en-US" sz="1000" dirty="0"/>
          </a:p>
        </p:txBody>
      </p:sp>
      <p:sp>
        <p:nvSpPr>
          <p:cNvPr id="31" name="Shape 29"/>
          <p:cNvSpPr/>
          <p:nvPr/>
        </p:nvSpPr>
        <p:spPr>
          <a:xfrm>
            <a:off x="6327648" y="3337560"/>
            <a:ext cx="2468880" cy="640080"/>
          </a:xfrm>
          <a:prstGeom prst="rect">
            <a:avLst/>
          </a:prstGeom>
          <a:solidFill>
            <a:srgbClr val="0D0D1A"/>
          </a:solidFill>
          <a:ln/>
        </p:spPr>
      </p:sp>
      <p:sp>
        <p:nvSpPr>
          <p:cNvPr id="32" name="Text 30"/>
          <p:cNvSpPr/>
          <p:nvPr/>
        </p:nvSpPr>
        <p:spPr>
          <a:xfrm>
            <a:off x="6419088" y="3383280"/>
            <a:ext cx="2286000" cy="548640"/>
          </a:xfrm>
          <a:prstGeom prst="rect">
            <a:avLst/>
          </a:prstGeom>
          <a:noFill/>
          <a:ln/>
        </p:spPr>
        <p:txBody>
          <a:bodyPr wrap="square" lIns="0" tIns="0" rIns="0" bIns="0" rtlCol="0" anchor="ctr"/>
          <a:lstStyle/>
          <a:p>
            <a:pPr indent="0" marL="0">
              <a:buNone/>
            </a:pPr>
            <a:r>
              <a:rPr lang="en-US" sz="900" dirty="0">
                <a:solidFill>
                  <a:srgbClr val="00D4AA"/>
                </a:solidFill>
                <a:latin typeface="Consolas" pitchFamily="34" charset="0"/>
                <a:ea typeface="Consolas" pitchFamily="34" charset="-122"/>
                <a:cs typeface="Consolas" pitchFamily="34" charset="-120"/>
              </a:rPr>
              <a:t>"Good, but make it shorter and remove</a:t>
            </a:r>
            <a:endParaRPr lang="en-US" sz="900" dirty="0"/>
          </a:p>
          <a:p>
            <a:pPr indent="0" marL="0">
              <a:buNone/>
            </a:pPr>
            <a:r>
              <a:rPr lang="en-US" sz="900" dirty="0">
                <a:solidFill>
                  <a:srgbClr val="00D4AA"/>
                </a:solidFill>
                <a:latin typeface="Consolas" pitchFamily="34" charset="0"/>
                <a:ea typeface="Consolas" pitchFamily="34" charset="-122"/>
                <a:cs typeface="Consolas" pitchFamily="34" charset="-120"/>
              </a:rPr>
              <a:t>the jargon. Keep the data points."</a:t>
            </a:r>
            <a:endParaRPr lang="en-US" sz="900" dirty="0"/>
          </a:p>
        </p:txBody>
      </p:sp>
      <p:sp>
        <p:nvSpPr>
          <p:cNvPr id="33" name="Text 31"/>
          <p:cNvSpPr/>
          <p:nvPr/>
        </p:nvSpPr>
        <p:spPr>
          <a:xfrm>
            <a:off x="457200" y="4892040"/>
            <a:ext cx="8229600" cy="22860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Everything else in this talk? Power tools for the 20%. We'll get there — but nail these first.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Try it now</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60-second challenge — test the 80/20 on your phone</a:t>
            </a:r>
            <a:endParaRPr lang="en-US" sz="1100" dirty="0"/>
          </a:p>
        </p:txBody>
      </p:sp>
      <p:sp>
        <p:nvSpPr>
          <p:cNvPr id="5" name="Shape 3"/>
          <p:cNvSpPr/>
          <p:nvPr/>
        </p:nvSpPr>
        <p:spPr>
          <a:xfrm>
            <a:off x="457200" y="1051560"/>
            <a:ext cx="8229600" cy="50292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502920"/>
          </a:xfrm>
          <a:prstGeom prst="rect">
            <a:avLst/>
          </a:prstGeom>
          <a:solidFill>
            <a:srgbClr val="E91E8C"/>
          </a:solidFill>
          <a:ln/>
        </p:spPr>
      </p:sp>
      <p:sp>
        <p:nvSpPr>
          <p:cNvPr id="7" name="Text 5"/>
          <p:cNvSpPr/>
          <p:nvPr/>
        </p:nvSpPr>
        <p:spPr>
          <a:xfrm>
            <a:off x="731520" y="1097280"/>
            <a:ext cx="768096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Open ChatGPT, Claude, or Copilot on your phone. We're going to see the 80/20 in action.</a:t>
            </a:r>
            <a:endParaRPr lang="en-US" sz="1400" dirty="0"/>
          </a:p>
        </p:txBody>
      </p:sp>
      <p:sp>
        <p:nvSpPr>
          <p:cNvPr id="8" name="Shape 6"/>
          <p:cNvSpPr/>
          <p:nvPr/>
        </p:nvSpPr>
        <p:spPr>
          <a:xfrm>
            <a:off x="457200" y="1783080"/>
            <a:ext cx="3931920" cy="1554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9" name="Shape 7"/>
          <p:cNvSpPr/>
          <p:nvPr/>
        </p:nvSpPr>
        <p:spPr>
          <a:xfrm>
            <a:off x="457200" y="1783080"/>
            <a:ext cx="3931920" cy="54864"/>
          </a:xfrm>
          <a:prstGeom prst="rect">
            <a:avLst/>
          </a:prstGeom>
          <a:solidFill>
            <a:srgbClr val="E91E8C"/>
          </a:solidFill>
          <a:ln/>
        </p:spPr>
      </p:sp>
      <p:sp>
        <p:nvSpPr>
          <p:cNvPr id="10" name="Text 8"/>
          <p:cNvSpPr/>
          <p:nvPr/>
        </p:nvSpPr>
        <p:spPr>
          <a:xfrm>
            <a:off x="640080" y="1874520"/>
            <a:ext cx="356616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Step 1: Try the vague prompt</a:t>
            </a:r>
            <a:endParaRPr lang="en-US" sz="1300" dirty="0"/>
          </a:p>
        </p:txBody>
      </p:sp>
      <p:sp>
        <p:nvSpPr>
          <p:cNvPr id="11" name="Shape 9"/>
          <p:cNvSpPr/>
          <p:nvPr/>
        </p:nvSpPr>
        <p:spPr>
          <a:xfrm>
            <a:off x="640080" y="2194560"/>
            <a:ext cx="3566160" cy="457200"/>
          </a:xfrm>
          <a:prstGeom prst="rect">
            <a:avLst/>
          </a:prstGeom>
          <a:solidFill>
            <a:srgbClr val="0D0D1A"/>
          </a:solidFill>
          <a:ln/>
        </p:spPr>
      </p:sp>
      <p:sp>
        <p:nvSpPr>
          <p:cNvPr id="12" name="Text 10"/>
          <p:cNvSpPr/>
          <p:nvPr/>
        </p:nvSpPr>
        <p:spPr>
          <a:xfrm>
            <a:off x="731520" y="2212848"/>
            <a:ext cx="3383280" cy="438912"/>
          </a:xfrm>
          <a:prstGeom prst="rect">
            <a:avLst/>
          </a:prstGeom>
          <a:noFill/>
          <a:ln/>
        </p:spPr>
        <p:txBody>
          <a:bodyPr wrap="square" lIns="0" tIns="0" rIns="0" bIns="0" rtlCol="0" anchor="ctr"/>
          <a:lstStyle/>
          <a:p>
            <a:pPr indent="0" marL="0">
              <a:buNone/>
            </a:pPr>
            <a:r>
              <a:rPr lang="en-US" sz="1200" dirty="0">
                <a:solidFill>
                  <a:srgbClr val="C8C8D8"/>
                </a:solidFill>
                <a:latin typeface="Consolas" pitchFamily="34" charset="0"/>
                <a:ea typeface="Consolas" pitchFamily="34" charset="-122"/>
                <a:cs typeface="Consolas" pitchFamily="34" charset="-120"/>
              </a:rPr>
              <a:t>"Help me write an email about</a:t>
            </a:r>
            <a:endParaRPr lang="en-US" sz="1200" dirty="0"/>
          </a:p>
          <a:p>
            <a:pPr indent="0" marL="0">
              <a:buNone/>
            </a:pPr>
            <a:r>
              <a:rPr lang="en-US" sz="1200" dirty="0">
                <a:solidFill>
                  <a:srgbClr val="C8C8D8"/>
                </a:solidFill>
                <a:latin typeface="Consolas" pitchFamily="34" charset="0"/>
                <a:ea typeface="Consolas" pitchFamily="34" charset="-122"/>
                <a:cs typeface="Consolas" pitchFamily="34" charset="-120"/>
              </a:rPr>
              <a:t>a project delay"</a:t>
            </a:r>
            <a:endParaRPr lang="en-US" sz="1200" dirty="0"/>
          </a:p>
        </p:txBody>
      </p:sp>
      <p:sp>
        <p:nvSpPr>
          <p:cNvPr id="13" name="Text 11"/>
          <p:cNvSpPr/>
          <p:nvPr/>
        </p:nvSpPr>
        <p:spPr>
          <a:xfrm>
            <a:off x="640080" y="2743200"/>
            <a:ext cx="3566160" cy="274320"/>
          </a:xfrm>
          <a:prstGeom prst="rect">
            <a:avLst/>
          </a:prstGeom>
          <a:noFill/>
          <a:ln/>
        </p:spPr>
        <p:txBody>
          <a:bodyPr wrap="square" lIns="0" tIns="0" rIns="0" bIns="0" rtlCol="0" anchor="ctr"/>
          <a:lstStyle/>
          <a:p>
            <a:pPr indent="0" marL="0">
              <a:buNone/>
            </a:pPr>
            <a:r>
              <a:rPr lang="en-US" sz="1000" i="1" dirty="0">
                <a:solidFill>
                  <a:srgbClr val="9B9BB0"/>
                </a:solidFill>
                <a:latin typeface="Arial" pitchFamily="34" charset="0"/>
                <a:ea typeface="Arial" pitchFamily="34" charset="-122"/>
                <a:cs typeface="Arial" pitchFamily="34" charset="-120"/>
              </a:rPr>
              <a:t>→ Notice: generic, long, not your voice</a:t>
            </a:r>
            <a:endParaRPr lang="en-US" sz="1000" dirty="0"/>
          </a:p>
        </p:txBody>
      </p:sp>
      <p:sp>
        <p:nvSpPr>
          <p:cNvPr id="14" name="Shape 12"/>
          <p:cNvSpPr/>
          <p:nvPr/>
        </p:nvSpPr>
        <p:spPr>
          <a:xfrm>
            <a:off x="4754880" y="1783080"/>
            <a:ext cx="3931920" cy="1554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5" name="Shape 13"/>
          <p:cNvSpPr/>
          <p:nvPr/>
        </p:nvSpPr>
        <p:spPr>
          <a:xfrm>
            <a:off x="4754880" y="1783080"/>
            <a:ext cx="3931920" cy="54864"/>
          </a:xfrm>
          <a:prstGeom prst="rect">
            <a:avLst/>
          </a:prstGeom>
          <a:solidFill>
            <a:srgbClr val="00D4AA"/>
          </a:solidFill>
          <a:ln/>
        </p:spPr>
      </p:sp>
      <p:sp>
        <p:nvSpPr>
          <p:cNvPr id="16" name="Text 14"/>
          <p:cNvSpPr/>
          <p:nvPr/>
        </p:nvSpPr>
        <p:spPr>
          <a:xfrm>
            <a:off x="4937760" y="1874520"/>
            <a:ext cx="356616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Step 2: Apply the 80/20</a:t>
            </a:r>
            <a:endParaRPr lang="en-US" sz="1300" dirty="0"/>
          </a:p>
        </p:txBody>
      </p:sp>
      <p:sp>
        <p:nvSpPr>
          <p:cNvPr id="17" name="Shape 15"/>
          <p:cNvSpPr/>
          <p:nvPr/>
        </p:nvSpPr>
        <p:spPr>
          <a:xfrm>
            <a:off x="4937760" y="2194560"/>
            <a:ext cx="3566160" cy="457200"/>
          </a:xfrm>
          <a:prstGeom prst="rect">
            <a:avLst/>
          </a:prstGeom>
          <a:solidFill>
            <a:srgbClr val="0D0D1A"/>
          </a:solidFill>
          <a:ln/>
        </p:spPr>
      </p:sp>
      <p:sp>
        <p:nvSpPr>
          <p:cNvPr id="18" name="Text 16"/>
          <p:cNvSpPr/>
          <p:nvPr/>
        </p:nvSpPr>
        <p:spPr>
          <a:xfrm>
            <a:off x="5029200" y="2212848"/>
            <a:ext cx="3383280" cy="438912"/>
          </a:xfrm>
          <a:prstGeom prst="rect">
            <a:avLst/>
          </a:prstGeom>
          <a:noFill/>
          <a:ln/>
        </p:spPr>
        <p:txBody>
          <a:bodyPr wrap="square" lIns="0" tIns="0" rIns="0" bIns="0" rtlCol="0" anchor="ctr"/>
          <a:lstStyle/>
          <a:p>
            <a:pPr indent="0" marL="0">
              <a:buNone/>
            </a:pPr>
            <a:r>
              <a:rPr lang="en-US" sz="950" dirty="0">
                <a:solidFill>
                  <a:srgbClr val="00D4AA"/>
                </a:solidFill>
                <a:latin typeface="Consolas" pitchFamily="34" charset="0"/>
                <a:ea typeface="Consolas" pitchFamily="34" charset="-122"/>
                <a:cs typeface="Consolas" pitchFamily="34" charset="-120"/>
              </a:rPr>
              <a:t>"Write a 3-sentence email to my</a:t>
            </a:r>
            <a:endParaRPr lang="en-US" sz="950" dirty="0"/>
          </a:p>
          <a:p>
            <a:pPr indent="0" marL="0">
              <a:buNone/>
            </a:pPr>
            <a:r>
              <a:rPr lang="en-US" sz="950" dirty="0">
                <a:solidFill>
                  <a:srgbClr val="00D4AA"/>
                </a:solidFill>
                <a:latin typeface="Consolas" pitchFamily="34" charset="0"/>
                <a:ea typeface="Consolas" pitchFamily="34" charset="-122"/>
                <a:cs typeface="Consolas" pitchFamily="34" charset="-120"/>
              </a:rPr>
              <a:t>client. Project is 2 weeks late due</a:t>
            </a:r>
            <a:endParaRPr lang="en-US" sz="950" dirty="0"/>
          </a:p>
          <a:p>
            <a:pPr indent="0" marL="0">
              <a:buNone/>
            </a:pPr>
            <a:r>
              <a:rPr lang="en-US" sz="950" dirty="0">
                <a:solidFill>
                  <a:srgbClr val="00D4AA"/>
                </a:solidFill>
                <a:latin typeface="Consolas" pitchFamily="34" charset="0"/>
                <a:ea typeface="Consolas" pitchFamily="34" charset="-122"/>
                <a:cs typeface="Consolas" pitchFamily="34" charset="-120"/>
              </a:rPr>
              <a:t>to API issues. Tone: professional</a:t>
            </a:r>
            <a:endParaRPr lang="en-US" sz="950" dirty="0"/>
          </a:p>
          <a:p>
            <a:pPr indent="0" marL="0">
              <a:buNone/>
            </a:pPr>
            <a:r>
              <a:rPr lang="en-US" sz="950" dirty="0">
                <a:solidFill>
                  <a:srgbClr val="00D4AA"/>
                </a:solidFill>
                <a:latin typeface="Consolas" pitchFamily="34" charset="0"/>
                <a:ea typeface="Consolas" pitchFamily="34" charset="-122"/>
                <a:cs typeface="Consolas" pitchFamily="34" charset="-120"/>
              </a:rPr>
              <a:t>but honest. End with new timeline."</a:t>
            </a:r>
            <a:endParaRPr lang="en-US" sz="950" dirty="0"/>
          </a:p>
        </p:txBody>
      </p:sp>
      <p:sp>
        <p:nvSpPr>
          <p:cNvPr id="19" name="Text 17"/>
          <p:cNvSpPr/>
          <p:nvPr/>
        </p:nvSpPr>
        <p:spPr>
          <a:xfrm>
            <a:off x="4937760" y="2743200"/>
            <a:ext cx="3566160" cy="274320"/>
          </a:xfrm>
          <a:prstGeom prst="rect">
            <a:avLst/>
          </a:prstGeom>
          <a:noFill/>
          <a:ln/>
        </p:spPr>
        <p:txBody>
          <a:bodyPr wrap="square" lIns="0" tIns="0" rIns="0" bIns="0" rtlCol="0" anchor="ctr"/>
          <a:lstStyle/>
          <a:p>
            <a:pPr indent="0" marL="0">
              <a:buNone/>
            </a:pPr>
            <a:r>
              <a:rPr lang="en-US" sz="1000" i="1" dirty="0">
                <a:solidFill>
                  <a:srgbClr val="00D4AA"/>
                </a:solidFill>
                <a:latin typeface="Arial" pitchFamily="34" charset="0"/>
                <a:ea typeface="Arial" pitchFamily="34" charset="-122"/>
                <a:cs typeface="Arial" pitchFamily="34" charset="-120"/>
              </a:rPr>
              <a:t>→ Specific, concise, usable</a:t>
            </a:r>
            <a:endParaRPr lang="en-US" sz="1000" dirty="0"/>
          </a:p>
        </p:txBody>
      </p:sp>
      <p:sp>
        <p:nvSpPr>
          <p:cNvPr id="20" name="Shape 18"/>
          <p:cNvSpPr/>
          <p:nvPr/>
        </p:nvSpPr>
        <p:spPr>
          <a:xfrm>
            <a:off x="457200" y="3566160"/>
            <a:ext cx="8229600" cy="9144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1" name="Shape 19"/>
          <p:cNvSpPr/>
          <p:nvPr/>
        </p:nvSpPr>
        <p:spPr>
          <a:xfrm>
            <a:off x="457200" y="3566160"/>
            <a:ext cx="8229600" cy="54864"/>
          </a:xfrm>
          <a:prstGeom prst="rect">
            <a:avLst/>
          </a:prstGeom>
          <a:solidFill>
            <a:srgbClr val="4A9FFF"/>
          </a:solidFill>
          <a:ln/>
        </p:spPr>
      </p:sp>
      <p:sp>
        <p:nvSpPr>
          <p:cNvPr id="22" name="Text 20"/>
          <p:cNvSpPr/>
          <p:nvPr/>
        </p:nvSpPr>
        <p:spPr>
          <a:xfrm>
            <a:off x="640080" y="3639312"/>
            <a:ext cx="182880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Step 3: Iterate</a:t>
            </a:r>
            <a:endParaRPr lang="en-US" sz="1300" dirty="0"/>
          </a:p>
        </p:txBody>
      </p:sp>
      <p:sp>
        <p:nvSpPr>
          <p:cNvPr id="23" name="Shape 21"/>
          <p:cNvSpPr/>
          <p:nvPr/>
        </p:nvSpPr>
        <p:spPr>
          <a:xfrm>
            <a:off x="640080" y="3950208"/>
            <a:ext cx="7772400" cy="365760"/>
          </a:xfrm>
          <a:prstGeom prst="rect">
            <a:avLst/>
          </a:prstGeom>
          <a:solidFill>
            <a:srgbClr val="0D0D1A"/>
          </a:solidFill>
          <a:ln/>
        </p:spPr>
      </p:sp>
      <p:sp>
        <p:nvSpPr>
          <p:cNvPr id="24" name="Text 22"/>
          <p:cNvSpPr/>
          <p:nvPr/>
        </p:nvSpPr>
        <p:spPr>
          <a:xfrm>
            <a:off x="731520" y="3977640"/>
            <a:ext cx="7589520" cy="320040"/>
          </a:xfrm>
          <a:prstGeom prst="rect">
            <a:avLst/>
          </a:prstGeom>
          <a:noFill/>
          <a:ln/>
        </p:spPr>
        <p:txBody>
          <a:bodyPr wrap="square" lIns="0" tIns="0" rIns="0" bIns="0" rtlCol="0" anchor="ctr"/>
          <a:lstStyle/>
          <a:p>
            <a:pPr indent="0" marL="0">
              <a:buNone/>
            </a:pPr>
            <a:r>
              <a:rPr lang="en-US" sz="1100" dirty="0">
                <a:solidFill>
                  <a:srgbClr val="4A9FFF"/>
                </a:solidFill>
                <a:latin typeface="Consolas" pitchFamily="34" charset="0"/>
                <a:ea typeface="Consolas" pitchFamily="34" charset="-122"/>
                <a:cs typeface="Consolas" pitchFamily="34" charset="-120"/>
              </a:rPr>
              <a:t>"Good, but make it warmer. Replace the second sentence with something that shows empathy for their timeline impact."</a:t>
            </a:r>
            <a:endParaRPr lang="en-US" sz="1100" dirty="0"/>
          </a:p>
        </p:txBody>
      </p:sp>
      <p:sp>
        <p:nvSpPr>
          <p:cNvPr id="25" name="Shape 23"/>
          <p:cNvSpPr/>
          <p:nvPr/>
        </p:nvSpPr>
        <p:spPr>
          <a:xfrm>
            <a:off x="1371600" y="4617720"/>
            <a:ext cx="6400800" cy="502920"/>
          </a:xfrm>
          <a:prstGeom prst="ellipse">
            <a:avLst/>
          </a:prstGeom>
          <a:solidFill>
            <a:srgbClr val="E91E8C">
              <a:alpha val="15000"/>
            </a:srgbClr>
          </a:solidFill>
          <a:ln/>
        </p:spPr>
      </p:sp>
      <p:sp>
        <p:nvSpPr>
          <p:cNvPr id="26" name="Text 24"/>
          <p:cNvSpPr/>
          <p:nvPr/>
        </p:nvSpPr>
        <p:spPr>
          <a:xfrm>
            <a:off x="1371600" y="4663440"/>
            <a:ext cx="64008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See the difference? That's the entire talk in 60 seconds.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What we'll cover</a:t>
            </a:r>
            <a:endParaRPr lang="en-US" sz="2800" dirty="0"/>
          </a:p>
        </p:txBody>
      </p:sp>
      <p:sp>
        <p:nvSpPr>
          <p:cNvPr id="4" name="Shape 2"/>
          <p:cNvSpPr/>
          <p:nvPr/>
        </p:nvSpPr>
        <p:spPr>
          <a:xfrm>
            <a:off x="457200" y="105156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5" name="Shape 3"/>
          <p:cNvSpPr/>
          <p:nvPr/>
        </p:nvSpPr>
        <p:spPr>
          <a:xfrm>
            <a:off x="457200" y="1051560"/>
            <a:ext cx="54864" cy="822960"/>
          </a:xfrm>
          <a:prstGeom prst="rect">
            <a:avLst/>
          </a:prstGeom>
          <a:solidFill>
            <a:srgbClr val="E91E8C"/>
          </a:solidFill>
          <a:ln/>
        </p:spPr>
      </p:sp>
      <p:sp>
        <p:nvSpPr>
          <p:cNvPr id="6" name="Text 4"/>
          <p:cNvSpPr/>
          <p:nvPr/>
        </p:nvSpPr>
        <p:spPr>
          <a:xfrm>
            <a:off x="731520" y="1051560"/>
            <a:ext cx="548640" cy="822960"/>
          </a:xfrm>
          <a:prstGeom prst="rect">
            <a:avLst/>
          </a:prstGeom>
          <a:noFill/>
          <a:ln/>
        </p:spPr>
        <p:txBody>
          <a:bodyPr wrap="square" lIns="0" tIns="0" rIns="0" bIns="0" rtlCol="0" anchor="ctr"/>
          <a:lstStyle/>
          <a:p>
            <a:pPr indent="0" marL="0">
              <a:buNone/>
            </a:pPr>
            <a:r>
              <a:rPr lang="en-US" sz="2400" dirty="0">
                <a:solidFill>
                  <a:srgbClr val="E91E8C"/>
                </a:solidFill>
                <a:latin typeface="Arial Black" pitchFamily="34" charset="0"/>
                <a:ea typeface="Arial Black" pitchFamily="34" charset="-122"/>
                <a:cs typeface="Arial Black" pitchFamily="34" charset="-120"/>
              </a:rPr>
              <a:t>01</a:t>
            </a:r>
            <a:endParaRPr lang="en-US" sz="2400" dirty="0"/>
          </a:p>
        </p:txBody>
      </p:sp>
      <p:pic>
        <p:nvPicPr>
          <p:cNvPr id="7" name="Image 0" descr="preencoded.png"/>
          <p:cNvPicPr>
            <a:picLocks noChangeAspect="1"/>
          </p:cNvPicPr>
          <p:nvPr/>
        </p:nvPicPr>
        <p:blipFill>
          <a:blip r:embed="rId1"/>
          <a:stretch>
            <a:fillRect/>
          </a:stretch>
        </p:blipFill>
        <p:spPr>
          <a:xfrm>
            <a:off x="1325880" y="1234440"/>
            <a:ext cx="411480" cy="411480"/>
          </a:xfrm>
          <a:prstGeom prst="rect">
            <a:avLst/>
          </a:prstGeom>
        </p:spPr>
      </p:pic>
      <p:sp>
        <p:nvSpPr>
          <p:cNvPr id="8" name="Text 5"/>
          <p:cNvSpPr/>
          <p:nvPr/>
        </p:nvSpPr>
        <p:spPr>
          <a:xfrm>
            <a:off x="1920240" y="1124712"/>
            <a:ext cx="64008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How LLMs Actually Work</a:t>
            </a:r>
            <a:endParaRPr lang="en-US" sz="1700" dirty="0"/>
          </a:p>
        </p:txBody>
      </p:sp>
      <p:sp>
        <p:nvSpPr>
          <p:cNvPr id="9" name="Text 6"/>
          <p:cNvSpPr/>
          <p:nvPr/>
        </p:nvSpPr>
        <p:spPr>
          <a:xfrm>
            <a:off x="1920240" y="1490472"/>
            <a:ext cx="6400800" cy="32004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Document completers, the Loop Framework, how they see the world differently</a:t>
            </a:r>
            <a:endParaRPr lang="en-US" sz="1100" dirty="0"/>
          </a:p>
        </p:txBody>
      </p:sp>
      <p:sp>
        <p:nvSpPr>
          <p:cNvPr id="10" name="Shape 7"/>
          <p:cNvSpPr/>
          <p:nvPr/>
        </p:nvSpPr>
        <p:spPr>
          <a:xfrm>
            <a:off x="457200" y="201168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1" name="Shape 8"/>
          <p:cNvSpPr/>
          <p:nvPr/>
        </p:nvSpPr>
        <p:spPr>
          <a:xfrm>
            <a:off x="457200" y="2011680"/>
            <a:ext cx="54864" cy="822960"/>
          </a:xfrm>
          <a:prstGeom prst="rect">
            <a:avLst/>
          </a:prstGeom>
          <a:solidFill>
            <a:srgbClr val="4A9FFF"/>
          </a:solidFill>
          <a:ln/>
        </p:spPr>
      </p:sp>
      <p:sp>
        <p:nvSpPr>
          <p:cNvPr id="12" name="Text 9"/>
          <p:cNvSpPr/>
          <p:nvPr/>
        </p:nvSpPr>
        <p:spPr>
          <a:xfrm>
            <a:off x="731520" y="2011680"/>
            <a:ext cx="548640" cy="822960"/>
          </a:xfrm>
          <a:prstGeom prst="rect">
            <a:avLst/>
          </a:prstGeom>
          <a:noFill/>
          <a:ln/>
        </p:spPr>
        <p:txBody>
          <a:bodyPr wrap="square" lIns="0" tIns="0" rIns="0" bIns="0" rtlCol="0" anchor="ctr"/>
          <a:lstStyle/>
          <a:p>
            <a:pPr indent="0" marL="0">
              <a:buNone/>
            </a:pPr>
            <a:r>
              <a:rPr lang="en-US" sz="2400" dirty="0">
                <a:solidFill>
                  <a:srgbClr val="4A9FFF"/>
                </a:solidFill>
                <a:latin typeface="Arial Black" pitchFamily="34" charset="0"/>
                <a:ea typeface="Arial Black" pitchFamily="34" charset="-122"/>
                <a:cs typeface="Arial Black" pitchFamily="34" charset="-120"/>
              </a:rPr>
              <a:t>02</a:t>
            </a:r>
            <a:endParaRPr lang="en-US" sz="2400" dirty="0"/>
          </a:p>
        </p:txBody>
      </p:sp>
      <p:pic>
        <p:nvPicPr>
          <p:cNvPr id="13" name="Image 1" descr="preencoded.png"/>
          <p:cNvPicPr>
            <a:picLocks noChangeAspect="1"/>
          </p:cNvPicPr>
          <p:nvPr/>
        </p:nvPicPr>
        <p:blipFill>
          <a:blip r:embed="rId2"/>
          <a:stretch>
            <a:fillRect/>
          </a:stretch>
        </p:blipFill>
        <p:spPr>
          <a:xfrm>
            <a:off x="1325880" y="2194560"/>
            <a:ext cx="411480" cy="411480"/>
          </a:xfrm>
          <a:prstGeom prst="rect">
            <a:avLst/>
          </a:prstGeom>
        </p:spPr>
      </p:pic>
      <p:sp>
        <p:nvSpPr>
          <p:cNvPr id="14" name="Text 10"/>
          <p:cNvSpPr/>
          <p:nvPr/>
        </p:nvSpPr>
        <p:spPr>
          <a:xfrm>
            <a:off x="1920240" y="2084832"/>
            <a:ext cx="64008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Core Techniques</a:t>
            </a:r>
            <a:endParaRPr lang="en-US" sz="1700" dirty="0"/>
          </a:p>
        </p:txBody>
      </p:sp>
      <p:sp>
        <p:nvSpPr>
          <p:cNvPr id="15" name="Text 11"/>
          <p:cNvSpPr/>
          <p:nvPr/>
        </p:nvSpPr>
        <p:spPr>
          <a:xfrm>
            <a:off x="1920240" y="2450592"/>
            <a:ext cx="6400800" cy="32004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5 Principles, document types, few-shot examples, and the Playwriting metaphor</a:t>
            </a:r>
            <a:endParaRPr lang="en-US" sz="1100" dirty="0"/>
          </a:p>
        </p:txBody>
      </p:sp>
      <p:sp>
        <p:nvSpPr>
          <p:cNvPr id="16" name="Shape 12"/>
          <p:cNvSpPr/>
          <p:nvPr/>
        </p:nvSpPr>
        <p:spPr>
          <a:xfrm>
            <a:off x="457200" y="297180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7" name="Shape 13"/>
          <p:cNvSpPr/>
          <p:nvPr/>
        </p:nvSpPr>
        <p:spPr>
          <a:xfrm>
            <a:off x="457200" y="2971800"/>
            <a:ext cx="54864" cy="822960"/>
          </a:xfrm>
          <a:prstGeom prst="rect">
            <a:avLst/>
          </a:prstGeom>
          <a:solidFill>
            <a:srgbClr val="00D4AA"/>
          </a:solidFill>
          <a:ln/>
        </p:spPr>
      </p:sp>
      <p:sp>
        <p:nvSpPr>
          <p:cNvPr id="18" name="Text 14"/>
          <p:cNvSpPr/>
          <p:nvPr/>
        </p:nvSpPr>
        <p:spPr>
          <a:xfrm>
            <a:off x="731520" y="2971800"/>
            <a:ext cx="548640" cy="822960"/>
          </a:xfrm>
          <a:prstGeom prst="rect">
            <a:avLst/>
          </a:prstGeom>
          <a:noFill/>
          <a:ln/>
        </p:spPr>
        <p:txBody>
          <a:bodyPr wrap="square" lIns="0" tIns="0" rIns="0" bIns="0" rtlCol="0" anchor="ctr"/>
          <a:lstStyle/>
          <a:p>
            <a:pPr indent="0" marL="0">
              <a:buNone/>
            </a:pPr>
            <a:r>
              <a:rPr lang="en-US" sz="2400" dirty="0">
                <a:solidFill>
                  <a:srgbClr val="00D4AA"/>
                </a:solidFill>
                <a:latin typeface="Arial Black" pitchFamily="34" charset="0"/>
                <a:ea typeface="Arial Black" pitchFamily="34" charset="-122"/>
                <a:cs typeface="Arial Black" pitchFamily="34" charset="-120"/>
              </a:rPr>
              <a:t>03</a:t>
            </a:r>
            <a:endParaRPr lang="en-US" sz="2400" dirty="0"/>
          </a:p>
        </p:txBody>
      </p:sp>
      <p:pic>
        <p:nvPicPr>
          <p:cNvPr id="19" name="Image 2" descr="preencoded.png"/>
          <p:cNvPicPr>
            <a:picLocks noChangeAspect="1"/>
          </p:cNvPicPr>
          <p:nvPr/>
        </p:nvPicPr>
        <p:blipFill>
          <a:blip r:embed="rId3"/>
          <a:stretch>
            <a:fillRect/>
          </a:stretch>
        </p:blipFill>
        <p:spPr>
          <a:xfrm>
            <a:off x="1325880" y="3154680"/>
            <a:ext cx="411480" cy="411480"/>
          </a:xfrm>
          <a:prstGeom prst="rect">
            <a:avLst/>
          </a:prstGeom>
        </p:spPr>
      </p:pic>
      <p:sp>
        <p:nvSpPr>
          <p:cNvPr id="20" name="Text 15"/>
          <p:cNvSpPr/>
          <p:nvPr/>
        </p:nvSpPr>
        <p:spPr>
          <a:xfrm>
            <a:off x="1920240" y="3044952"/>
            <a:ext cx="64008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Advanced Patterns</a:t>
            </a:r>
            <a:endParaRPr lang="en-US" sz="1700" dirty="0"/>
          </a:p>
        </p:txBody>
      </p:sp>
      <p:sp>
        <p:nvSpPr>
          <p:cNvPr id="21" name="Text 16"/>
          <p:cNvSpPr/>
          <p:nvPr/>
        </p:nvSpPr>
        <p:spPr>
          <a:xfrm>
            <a:off x="1920240" y="3410712"/>
            <a:ext cx="6400800" cy="32004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Reasoning techniques, agents, RAG, context engineering, meta prompting, and more</a:t>
            </a:r>
            <a:endParaRPr lang="en-US" sz="1100" dirty="0"/>
          </a:p>
        </p:txBody>
      </p:sp>
      <p:sp>
        <p:nvSpPr>
          <p:cNvPr id="22" name="Shape 17"/>
          <p:cNvSpPr/>
          <p:nvPr/>
        </p:nvSpPr>
        <p:spPr>
          <a:xfrm>
            <a:off x="457200" y="393192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3" name="Shape 18"/>
          <p:cNvSpPr/>
          <p:nvPr/>
        </p:nvSpPr>
        <p:spPr>
          <a:xfrm>
            <a:off x="457200" y="3931920"/>
            <a:ext cx="54864" cy="822960"/>
          </a:xfrm>
          <a:prstGeom prst="rect">
            <a:avLst/>
          </a:prstGeom>
          <a:solidFill>
            <a:srgbClr val="FF3DAB"/>
          </a:solidFill>
          <a:ln/>
        </p:spPr>
      </p:sp>
      <p:sp>
        <p:nvSpPr>
          <p:cNvPr id="24" name="Text 19"/>
          <p:cNvSpPr/>
          <p:nvPr/>
        </p:nvSpPr>
        <p:spPr>
          <a:xfrm>
            <a:off x="731520" y="3931920"/>
            <a:ext cx="548640" cy="822960"/>
          </a:xfrm>
          <a:prstGeom prst="rect">
            <a:avLst/>
          </a:prstGeom>
          <a:noFill/>
          <a:ln/>
        </p:spPr>
        <p:txBody>
          <a:bodyPr wrap="square" lIns="0" tIns="0" rIns="0" bIns="0" rtlCol="0" anchor="ctr"/>
          <a:lstStyle/>
          <a:p>
            <a:pPr indent="0" marL="0">
              <a:buNone/>
            </a:pPr>
            <a:r>
              <a:rPr lang="en-US" sz="2400" dirty="0">
                <a:solidFill>
                  <a:srgbClr val="FF3DAB"/>
                </a:solidFill>
                <a:latin typeface="Arial Black" pitchFamily="34" charset="0"/>
                <a:ea typeface="Arial Black" pitchFamily="34" charset="-122"/>
                <a:cs typeface="Arial Black" pitchFamily="34" charset="-120"/>
              </a:rPr>
              <a:t>04</a:t>
            </a:r>
            <a:endParaRPr lang="en-US" sz="2400" dirty="0"/>
          </a:p>
        </p:txBody>
      </p:sp>
      <p:pic>
        <p:nvPicPr>
          <p:cNvPr id="25" name="Image 3" descr="preencoded.png"/>
          <p:cNvPicPr>
            <a:picLocks noChangeAspect="1"/>
          </p:cNvPicPr>
          <p:nvPr/>
        </p:nvPicPr>
        <p:blipFill>
          <a:blip r:embed="rId4"/>
          <a:stretch>
            <a:fillRect/>
          </a:stretch>
        </p:blipFill>
        <p:spPr>
          <a:xfrm>
            <a:off x="1325880" y="4114800"/>
            <a:ext cx="411480" cy="411480"/>
          </a:xfrm>
          <a:prstGeom prst="rect">
            <a:avLst/>
          </a:prstGeom>
        </p:spPr>
      </p:pic>
      <p:sp>
        <p:nvSpPr>
          <p:cNvPr id="26" name="Text 20"/>
          <p:cNvSpPr/>
          <p:nvPr/>
        </p:nvSpPr>
        <p:spPr>
          <a:xfrm>
            <a:off x="1920240" y="4005072"/>
            <a:ext cx="64008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Practice &amp; Evaluation</a:t>
            </a:r>
            <a:endParaRPr lang="en-US" sz="1700" dirty="0"/>
          </a:p>
        </p:txBody>
      </p:sp>
      <p:sp>
        <p:nvSpPr>
          <p:cNvPr id="27" name="Text 21"/>
          <p:cNvSpPr/>
          <p:nvPr/>
        </p:nvSpPr>
        <p:spPr>
          <a:xfrm>
            <a:off x="1920240" y="4370832"/>
            <a:ext cx="6400800" cy="32004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Common pitfalls, real rewrites, iteration, SOMA framework, prompt templates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E91E8C">
              <a:alpha val="8000"/>
            </a:srgbClr>
          </a:solidFill>
          <a:ln/>
        </p:spPr>
      </p:sp>
      <p:sp>
        <p:nvSpPr>
          <p:cNvPr id="3" name="Shape 1"/>
          <p:cNvSpPr/>
          <p:nvPr/>
        </p:nvSpPr>
        <p:spPr>
          <a:xfrm>
            <a:off x="6400800" y="2286000"/>
            <a:ext cx="4572000" cy="4572000"/>
          </a:xfrm>
          <a:prstGeom prst="ellipse">
            <a:avLst/>
          </a:prstGeom>
          <a:solidFill>
            <a:srgbClr val="4A9FFF">
              <a:alpha val="7000"/>
            </a:srgbClr>
          </a:solidFill>
          <a:ln/>
        </p:spPr>
      </p:sp>
      <p:sp>
        <p:nvSpPr>
          <p:cNvPr id="4" name="Shape 2"/>
          <p:cNvSpPr/>
          <p:nvPr/>
        </p:nvSpPr>
        <p:spPr>
          <a:xfrm>
            <a:off x="731520" y="1645920"/>
            <a:ext cx="731520" cy="54864"/>
          </a:xfrm>
          <a:prstGeom prst="rect">
            <a:avLst/>
          </a:prstGeom>
          <a:solidFill>
            <a:srgbClr val="E91E8C"/>
          </a:solidFill>
          <a:ln/>
        </p:spPr>
      </p:sp>
      <p:sp>
        <p:nvSpPr>
          <p:cNvPr id="5" name="Text 3"/>
          <p:cNvSpPr/>
          <p:nvPr/>
        </p:nvSpPr>
        <p:spPr>
          <a:xfrm>
            <a:off x="731520" y="1828800"/>
            <a:ext cx="7315200" cy="640080"/>
          </a:xfrm>
          <a:prstGeom prst="rect">
            <a:avLst/>
          </a:prstGeom>
          <a:noFill/>
          <a:ln/>
        </p:spPr>
        <p:txBody>
          <a:bodyPr wrap="square" lIns="0" tIns="0" rIns="0" bIns="0" rtlCol="0" anchor="ctr"/>
          <a:lstStyle/>
          <a:p>
            <a:pPr indent="0" marL="0">
              <a:buNone/>
            </a:pPr>
            <a:r>
              <a:rPr lang="en-US" sz="1800" spc="600" kern="0" dirty="0">
                <a:solidFill>
                  <a:srgbClr val="E91E8C"/>
                </a:solidFill>
                <a:latin typeface="Arial" pitchFamily="34" charset="0"/>
                <a:ea typeface="Arial" pitchFamily="34" charset="-122"/>
                <a:cs typeface="Arial" pitchFamily="34" charset="-120"/>
              </a:rPr>
              <a:t>Part 1</a:t>
            </a:r>
            <a:endParaRPr lang="en-US" sz="1800" dirty="0"/>
          </a:p>
        </p:txBody>
      </p:sp>
      <p:sp>
        <p:nvSpPr>
          <p:cNvPr id="6" name="Text 4"/>
          <p:cNvSpPr/>
          <p:nvPr/>
        </p:nvSpPr>
        <p:spPr>
          <a:xfrm>
            <a:off x="731520" y="2377440"/>
            <a:ext cx="7315200" cy="1371600"/>
          </a:xfrm>
          <a:prstGeom prst="rect">
            <a:avLst/>
          </a:prstGeom>
          <a:noFill/>
          <a:ln/>
        </p:spPr>
        <p:txBody>
          <a:bodyPr wrap="square" lIns="0" tIns="0" rIns="0" bIns="0" rtlCol="0" anchor="ctr"/>
          <a:lstStyle/>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How LLMs</a:t>
            </a:r>
            <a:endParaRPr lang="en-US" sz="4200" dirty="0"/>
          </a:p>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Actually Work</a:t>
            </a:r>
            <a:endParaRPr lang="en-US" sz="4200" dirty="0"/>
          </a:p>
        </p:txBody>
      </p:sp>
      <p:sp>
        <p:nvSpPr>
          <p:cNvPr id="7" name="Text 5"/>
          <p:cNvSpPr/>
          <p:nvPr/>
        </p:nvSpPr>
        <p:spPr>
          <a:xfrm>
            <a:off x="731520" y="3840480"/>
            <a:ext cx="7315200" cy="457200"/>
          </a:xfrm>
          <a:prstGeom prst="rect">
            <a:avLst/>
          </a:prstGeom>
          <a:noFill/>
          <a:ln/>
        </p:spPr>
        <p:txBody>
          <a:bodyPr wrap="square" lIns="0" tIns="0" rIns="0" bIns="0" rtlCol="0" anchor="ctr"/>
          <a:lstStyle/>
          <a:p>
            <a:pPr indent="0" marL="0">
              <a:buNone/>
            </a:pPr>
            <a:r>
              <a:rPr lang="en-US" sz="1400" i="1" dirty="0">
                <a:solidFill>
                  <a:srgbClr val="9B9BB0"/>
                </a:solidFill>
                <a:latin typeface="Arial" pitchFamily="34" charset="0"/>
                <a:ea typeface="Arial" pitchFamily="34" charset="-122"/>
                <a:cs typeface="Arial" pitchFamily="34" charset="-120"/>
              </a:rPr>
              <a:t>The mental model that changes everything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How LLMs actually work</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mental model that changes everything</a:t>
            </a:r>
            <a:endParaRPr lang="en-US" sz="1100" dirty="0"/>
          </a:p>
        </p:txBody>
      </p:sp>
      <p:sp>
        <p:nvSpPr>
          <p:cNvPr id="5" name="Shape 3"/>
          <p:cNvSpPr/>
          <p:nvPr/>
        </p:nvSpPr>
        <p:spPr>
          <a:xfrm>
            <a:off x="457200" y="1234440"/>
            <a:ext cx="8229600" cy="146304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234440"/>
            <a:ext cx="54864" cy="1463040"/>
          </a:xfrm>
          <a:prstGeom prst="rect">
            <a:avLst/>
          </a:prstGeom>
          <a:solidFill>
            <a:srgbClr val="E91E8C"/>
          </a:solidFill>
          <a:ln/>
        </p:spPr>
      </p:sp>
      <p:pic>
        <p:nvPicPr>
          <p:cNvPr id="7" name="Image 0" descr="preencoded.png"/>
          <p:cNvPicPr>
            <a:picLocks noChangeAspect="1"/>
          </p:cNvPicPr>
          <p:nvPr/>
        </p:nvPicPr>
        <p:blipFill>
          <a:blip r:embed="rId1"/>
          <a:stretch>
            <a:fillRect/>
          </a:stretch>
        </p:blipFill>
        <p:spPr>
          <a:xfrm>
            <a:off x="731520" y="1417320"/>
            <a:ext cx="457200" cy="457200"/>
          </a:xfrm>
          <a:prstGeom prst="rect">
            <a:avLst/>
          </a:prstGeom>
        </p:spPr>
      </p:pic>
      <p:sp>
        <p:nvSpPr>
          <p:cNvPr id="8" name="Text 5"/>
          <p:cNvSpPr/>
          <p:nvPr/>
        </p:nvSpPr>
        <p:spPr>
          <a:xfrm>
            <a:off x="1325880" y="1371600"/>
            <a:ext cx="685800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LLMs are document completers</a:t>
            </a:r>
            <a:endParaRPr lang="en-US" sz="2000" dirty="0"/>
          </a:p>
        </p:txBody>
      </p:sp>
      <p:sp>
        <p:nvSpPr>
          <p:cNvPr id="9" name="Text 6"/>
          <p:cNvSpPr/>
          <p:nvPr/>
        </p:nvSpPr>
        <p:spPr>
          <a:xfrm>
            <a:off x="731520" y="1920240"/>
            <a:ext cx="7680960" cy="64008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They don't "understand" or "think." They predict the most likely next token based on patterns in their training data. Your prompt is the beginning of a document — the model writes what should come next.</a:t>
            </a:r>
            <a:endParaRPr lang="en-US" sz="1200" dirty="0"/>
          </a:p>
        </p:txBody>
      </p:sp>
      <p:sp>
        <p:nvSpPr>
          <p:cNvPr id="10" name="Shape 7"/>
          <p:cNvSpPr/>
          <p:nvPr/>
        </p:nvSpPr>
        <p:spPr>
          <a:xfrm>
            <a:off x="457200" y="2926080"/>
            <a:ext cx="8229600" cy="914400"/>
          </a:xfrm>
          <a:prstGeom prst="rect">
            <a:avLst/>
          </a:prstGeom>
          <a:solidFill>
            <a:srgbClr val="1A1028"/>
          </a:solidFill>
          <a:ln/>
        </p:spPr>
      </p:sp>
      <p:pic>
        <p:nvPicPr>
          <p:cNvPr id="11" name="Image 1" descr="preencoded.png"/>
          <p:cNvPicPr>
            <a:picLocks noChangeAspect="1"/>
          </p:cNvPicPr>
          <p:nvPr/>
        </p:nvPicPr>
        <p:blipFill>
          <a:blip r:embed="rId2"/>
          <a:stretch>
            <a:fillRect/>
          </a:stretch>
        </p:blipFill>
        <p:spPr>
          <a:xfrm>
            <a:off x="731520" y="3063240"/>
            <a:ext cx="320040" cy="320040"/>
          </a:xfrm>
          <a:prstGeom prst="rect">
            <a:avLst/>
          </a:prstGeom>
        </p:spPr>
      </p:pic>
      <p:sp>
        <p:nvSpPr>
          <p:cNvPr id="12" name="Text 8"/>
          <p:cNvSpPr/>
          <p:nvPr/>
        </p:nvSpPr>
        <p:spPr>
          <a:xfrm>
            <a:off x="1188720" y="3017520"/>
            <a:ext cx="7132320" cy="502920"/>
          </a:xfrm>
          <a:prstGeom prst="rect">
            <a:avLst/>
          </a:prstGeom>
          <a:noFill/>
          <a:ln/>
        </p:spPr>
        <p:txBody>
          <a:bodyPr wrap="square" lIns="0" tIns="0" rIns="0" bIns="0" rtlCol="0" anchor="ctr"/>
          <a:lstStyle/>
          <a:p>
            <a:pPr indent="0" marL="0">
              <a:buNone/>
            </a:pPr>
            <a:r>
              <a:rPr lang="en-US" sz="1200" i="1" dirty="0">
                <a:solidFill>
                  <a:srgbClr val="FF3DAB"/>
                </a:solidFill>
                <a:latin typeface="Arial" pitchFamily="34" charset="0"/>
                <a:ea typeface="Arial" pitchFamily="34" charset="-122"/>
                <a:cs typeface="Arial" pitchFamily="34" charset="-120"/>
              </a:rPr>
              <a:t>"The beginning of your prompt is the start of a document. The model will try to write the most plausible continuation of that document."</a:t>
            </a:r>
            <a:endParaRPr lang="en-US" sz="1200" dirty="0"/>
          </a:p>
        </p:txBody>
      </p:sp>
      <p:sp>
        <p:nvSpPr>
          <p:cNvPr id="13" name="Text 9"/>
          <p:cNvSpPr/>
          <p:nvPr/>
        </p:nvSpPr>
        <p:spPr>
          <a:xfrm>
            <a:off x="1188720" y="3520440"/>
            <a:ext cx="7132320" cy="22860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 Berryman &amp; Ziegler, Prompt Engineering for LLMs</a:t>
            </a:r>
            <a:endParaRPr lang="en-US" sz="1000" dirty="0"/>
          </a:p>
        </p:txBody>
      </p:sp>
      <p:sp>
        <p:nvSpPr>
          <p:cNvPr id="14" name="Shape 10"/>
          <p:cNvSpPr/>
          <p:nvPr/>
        </p:nvSpPr>
        <p:spPr>
          <a:xfrm>
            <a:off x="1097280" y="4160520"/>
            <a:ext cx="6949440" cy="640080"/>
          </a:xfrm>
          <a:prstGeom prst="rect">
            <a:avLst/>
          </a:prstGeom>
          <a:solidFill>
            <a:srgbClr val="1A1A2E"/>
          </a:solidFill>
          <a:ln/>
        </p:spPr>
      </p:sp>
      <p:sp>
        <p:nvSpPr>
          <p:cNvPr id="15" name="Text 11"/>
          <p:cNvSpPr/>
          <p:nvPr/>
        </p:nvSpPr>
        <p:spPr>
          <a:xfrm>
            <a:off x="1097280" y="4160520"/>
            <a:ext cx="6949440" cy="640080"/>
          </a:xfrm>
          <a:prstGeom prst="rect">
            <a:avLst/>
          </a:prstGeom>
          <a:noFill/>
          <a:ln/>
        </p:spPr>
        <p:txBody>
          <a:bodyPr wrap="square" lIns="0" tIns="0" rIns="0" bIns="0" rtlCol="0" anchor="ctr"/>
          <a:lstStyle/>
          <a:p>
            <a:pPr algn="ctr" indent="0" marL="0">
              <a:buNone/>
            </a:pPr>
            <a:r>
              <a:rPr lang="en-US" sz="1600" b="1" dirty="0">
                <a:solidFill>
                  <a:srgbClr val="00D4AA"/>
                </a:solidFill>
                <a:latin typeface="Arial" pitchFamily="34" charset="0"/>
                <a:ea typeface="Arial" pitchFamily="34" charset="-122"/>
                <a:cs typeface="Arial" pitchFamily="34" charset="-120"/>
              </a:rPr>
              <a:t>Better beginning</a:t>
            </a:r>
            <a:pPr algn="ctr" indent="0" marL="0">
              <a:buNone/>
            </a:pPr>
            <a:r>
              <a:rPr lang="en-US" sz="1600" dirty="0">
                <a:solidFill>
                  <a:srgbClr val="9B9BB0"/>
                </a:solidFill>
                <a:latin typeface="Arial" pitchFamily="34" charset="0"/>
                <a:ea typeface="Arial" pitchFamily="34" charset="-122"/>
                <a:cs typeface="Arial" pitchFamily="34" charset="-120"/>
              </a:rPr>
              <a:t xml:space="preserve">  →  </a:t>
            </a:r>
            <a:pPr algn="ctr" indent="0" marL="0">
              <a:buNone/>
            </a:pPr>
            <a:r>
              <a:rPr lang="en-US" sz="1600" b="1" dirty="0">
                <a:solidFill>
                  <a:srgbClr val="4A9FFF"/>
                </a:solidFill>
                <a:latin typeface="Arial" pitchFamily="34" charset="0"/>
                <a:ea typeface="Arial" pitchFamily="34" charset="-122"/>
                <a:cs typeface="Arial" pitchFamily="34" charset="-120"/>
              </a:rPr>
              <a:t>Better continuation</a:t>
            </a:r>
            <a:pPr algn="ctr" indent="0" marL="0">
              <a:buNone/>
            </a:pPr>
            <a:r>
              <a:rPr lang="en-US" sz="1600" dirty="0">
                <a:solidFill>
                  <a:srgbClr val="9B9BB0"/>
                </a:solidFill>
                <a:latin typeface="Arial" pitchFamily="34" charset="0"/>
                <a:ea typeface="Arial" pitchFamily="34" charset="-122"/>
                <a:cs typeface="Arial" pitchFamily="34" charset="-120"/>
              </a:rPr>
              <a:t xml:space="preserve">  →  </a:t>
            </a:r>
            <a:pPr algn="ctr" indent="0" marL="0">
              <a:buNone/>
            </a:pPr>
            <a:r>
              <a:rPr lang="en-US" sz="1600" b="1" dirty="0">
                <a:solidFill>
                  <a:srgbClr val="E91E8C"/>
                </a:solidFill>
                <a:latin typeface="Arial" pitchFamily="34" charset="0"/>
                <a:ea typeface="Arial" pitchFamily="34" charset="-122"/>
                <a:cs typeface="Arial" pitchFamily="34" charset="-120"/>
              </a:rPr>
              <a:t>Better results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How LLMs see the world differently</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Three critical differences that change how you prompt</a:t>
            </a:r>
            <a:endParaRPr lang="en-US" sz="1100" dirty="0"/>
          </a:p>
        </p:txBody>
      </p:sp>
      <p:sp>
        <p:nvSpPr>
          <p:cNvPr id="5" name="Shape 3"/>
          <p:cNvSpPr/>
          <p:nvPr/>
        </p:nvSpPr>
        <p:spPr>
          <a:xfrm>
            <a:off x="457200" y="1188720"/>
            <a:ext cx="8229600" cy="20116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188720"/>
            <a:ext cx="54864" cy="2011680"/>
          </a:xfrm>
          <a:prstGeom prst="rect">
            <a:avLst/>
          </a:prstGeom>
          <a:solidFill>
            <a:srgbClr val="E91E8C"/>
          </a:solidFill>
          <a:ln/>
        </p:spPr>
      </p:sp>
      <p:sp>
        <p:nvSpPr>
          <p:cNvPr id="7" name="Text 5"/>
          <p:cNvSpPr/>
          <p:nvPr/>
        </p:nvSpPr>
        <p:spPr>
          <a:xfrm>
            <a:off x="731520" y="1325880"/>
            <a:ext cx="768096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One token at a time</a:t>
            </a:r>
            <a:endParaRPr lang="en-US" sz="2000" dirty="0"/>
          </a:p>
        </p:txBody>
      </p:sp>
      <p:sp>
        <p:nvSpPr>
          <p:cNvPr id="8" name="Text 6"/>
          <p:cNvSpPr/>
          <p:nvPr/>
        </p:nvSpPr>
        <p:spPr>
          <a:xfrm>
            <a:off x="731520" y="1691640"/>
            <a:ext cx="7680960" cy="59436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LLMs process one token at a time sequentially — can't skip ahead or look back. They see tokens, not words or letters. 'ChatGPT' = ['Chat', 'G', 'PT']. Spelling, counting, and character-level tasks are surprisingly hard.</a:t>
            </a:r>
            <a:endParaRPr lang="en-US" sz="1200" dirty="0"/>
          </a:p>
        </p:txBody>
      </p:sp>
      <p:sp>
        <p:nvSpPr>
          <p:cNvPr id="9" name="Text 7"/>
          <p:cNvSpPr/>
          <p:nvPr/>
        </p:nvSpPr>
        <p:spPr>
          <a:xfrm>
            <a:off x="731520" y="2331720"/>
            <a:ext cx="7680960" cy="365760"/>
          </a:xfrm>
          <a:prstGeom prst="rect">
            <a:avLst/>
          </a:prstGeom>
          <a:noFill/>
          <a:ln/>
        </p:spPr>
        <p:txBody>
          <a:bodyPr wrap="square" lIns="0" tIns="0" rIns="0" bIns="0" rtlCol="0" anchor="ctr"/>
          <a:lstStyle/>
          <a:p>
            <a:pPr indent="0" marL="0">
              <a:buNone/>
            </a:pPr>
            <a:r>
              <a:rPr lang="en-US" sz="1100" i="1" dirty="0">
                <a:solidFill>
                  <a:srgbClr val="E91E8C"/>
                </a:solidFill>
                <a:latin typeface="Arial" pitchFamily="34" charset="0"/>
                <a:ea typeface="Arial" pitchFamily="34" charset="-122"/>
                <a:cs typeface="Arial" pitchFamily="34" charset="-120"/>
              </a:rPr>
              <a:t>"Understanding how LLMs see the world differently is foundational to prompt engineering."</a:t>
            </a:r>
            <a:endParaRPr lang="en-US" sz="1100" dirty="0"/>
          </a:p>
        </p:txBody>
      </p:sp>
      <p:sp>
        <p:nvSpPr>
          <p:cNvPr id="10" name="Text 8"/>
          <p:cNvSpPr/>
          <p:nvPr/>
        </p:nvSpPr>
        <p:spPr>
          <a:xfrm>
            <a:off x="731520" y="2651760"/>
            <a:ext cx="7680960" cy="182880"/>
          </a:xfrm>
          <a:prstGeom prst="rect">
            <a:avLst/>
          </a:prstGeom>
          <a:noFill/>
          <a:ln/>
        </p:spPr>
        <p:txBody>
          <a:bodyPr wrap="square" lIns="0" tIns="0" rIns="0" bIns="0" rtlCol="0" anchor="ctr"/>
          <a:lstStyle/>
          <a:p>
            <a:pPr indent="0" marL="0">
              <a:buNone/>
            </a:pPr>
            <a:r>
              <a:rPr lang="en-US" sz="900" dirty="0">
                <a:solidFill>
                  <a:srgbClr val="9B9BB0"/>
                </a:solidFill>
                <a:latin typeface="Arial" pitchFamily="34" charset="0"/>
                <a:ea typeface="Arial" pitchFamily="34" charset="-122"/>
                <a:cs typeface="Arial" pitchFamily="34" charset="-120"/>
              </a:rPr>
              <a:t>— Chapter 2: Understanding LLMs</a:t>
            </a:r>
            <a:endParaRPr lang="en-US" sz="900" dirty="0"/>
          </a:p>
        </p:txBody>
      </p:sp>
      <p:sp>
        <p:nvSpPr>
          <p:cNvPr id="11" name="Shape 9"/>
          <p:cNvSpPr/>
          <p:nvPr/>
        </p:nvSpPr>
        <p:spPr>
          <a:xfrm>
            <a:off x="457200" y="3520440"/>
            <a:ext cx="2560320" cy="10972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2" name="Shape 10"/>
          <p:cNvSpPr/>
          <p:nvPr/>
        </p:nvSpPr>
        <p:spPr>
          <a:xfrm>
            <a:off x="457200" y="3520440"/>
            <a:ext cx="2560320" cy="45720"/>
          </a:xfrm>
          <a:prstGeom prst="rect">
            <a:avLst/>
          </a:prstGeom>
          <a:solidFill>
            <a:srgbClr val="E91E8C"/>
          </a:solidFill>
          <a:ln/>
        </p:spPr>
      </p:sp>
      <p:sp>
        <p:nvSpPr>
          <p:cNvPr id="13" name="Text 11"/>
          <p:cNvSpPr/>
          <p:nvPr/>
        </p:nvSpPr>
        <p:spPr>
          <a:xfrm>
            <a:off x="594360" y="3657600"/>
            <a:ext cx="228600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Token-by-token processing</a:t>
            </a:r>
            <a:endParaRPr lang="en-US" sz="1100" dirty="0"/>
          </a:p>
        </p:txBody>
      </p:sp>
      <p:sp>
        <p:nvSpPr>
          <p:cNvPr id="14" name="Text 12"/>
          <p:cNvSpPr/>
          <p:nvPr/>
        </p:nvSpPr>
        <p:spPr>
          <a:xfrm>
            <a:off x="594360" y="4069080"/>
            <a:ext cx="2286000" cy="36576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 Order matters</a:t>
            </a:r>
            <a:endParaRPr lang="en-US" sz="1300" dirty="0"/>
          </a:p>
        </p:txBody>
      </p:sp>
      <p:sp>
        <p:nvSpPr>
          <p:cNvPr id="15" name="Shape 13"/>
          <p:cNvSpPr/>
          <p:nvPr/>
        </p:nvSpPr>
        <p:spPr>
          <a:xfrm>
            <a:off x="3291840" y="3520440"/>
            <a:ext cx="2560320" cy="10972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6" name="Shape 14"/>
          <p:cNvSpPr/>
          <p:nvPr/>
        </p:nvSpPr>
        <p:spPr>
          <a:xfrm>
            <a:off x="3291840" y="3520440"/>
            <a:ext cx="2560320" cy="45720"/>
          </a:xfrm>
          <a:prstGeom prst="rect">
            <a:avLst/>
          </a:prstGeom>
          <a:solidFill>
            <a:srgbClr val="4A9FFF"/>
          </a:solidFill>
          <a:ln/>
        </p:spPr>
      </p:sp>
      <p:sp>
        <p:nvSpPr>
          <p:cNvPr id="17" name="Text 15"/>
          <p:cNvSpPr/>
          <p:nvPr/>
        </p:nvSpPr>
        <p:spPr>
          <a:xfrm>
            <a:off x="3429000" y="3657600"/>
            <a:ext cx="228600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See tokens not letters</a:t>
            </a:r>
            <a:endParaRPr lang="en-US" sz="1100" dirty="0"/>
          </a:p>
        </p:txBody>
      </p:sp>
      <p:sp>
        <p:nvSpPr>
          <p:cNvPr id="18" name="Text 16"/>
          <p:cNvSpPr/>
          <p:nvPr/>
        </p:nvSpPr>
        <p:spPr>
          <a:xfrm>
            <a:off x="3429000" y="4069080"/>
            <a:ext cx="2286000" cy="36576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 Spelling tasks fail</a:t>
            </a:r>
            <a:endParaRPr lang="en-US" sz="1300" dirty="0"/>
          </a:p>
        </p:txBody>
      </p:sp>
      <p:sp>
        <p:nvSpPr>
          <p:cNvPr id="19" name="Shape 17"/>
          <p:cNvSpPr/>
          <p:nvPr/>
        </p:nvSpPr>
        <p:spPr>
          <a:xfrm>
            <a:off x="6126480" y="3520440"/>
            <a:ext cx="2560320" cy="10972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0" name="Shape 18"/>
          <p:cNvSpPr/>
          <p:nvPr/>
        </p:nvSpPr>
        <p:spPr>
          <a:xfrm>
            <a:off x="6126480" y="3520440"/>
            <a:ext cx="2560320" cy="45720"/>
          </a:xfrm>
          <a:prstGeom prst="rect">
            <a:avLst/>
          </a:prstGeom>
          <a:solidFill>
            <a:srgbClr val="00D4AA"/>
          </a:solidFill>
          <a:ln/>
        </p:spPr>
      </p:sp>
      <p:sp>
        <p:nvSpPr>
          <p:cNvPr id="21" name="Text 19"/>
          <p:cNvSpPr/>
          <p:nvPr/>
        </p:nvSpPr>
        <p:spPr>
          <a:xfrm>
            <a:off x="6263640" y="3657600"/>
            <a:ext cx="228600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Pattern matching</a:t>
            </a:r>
            <a:endParaRPr lang="en-US" sz="1100" dirty="0"/>
          </a:p>
        </p:txBody>
      </p:sp>
      <p:sp>
        <p:nvSpPr>
          <p:cNvPr id="22" name="Text 20"/>
          <p:cNvSpPr/>
          <p:nvPr/>
        </p:nvSpPr>
        <p:spPr>
          <a:xfrm>
            <a:off x="6263640" y="4069080"/>
            <a:ext cx="2286000" cy="36576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 Few-shot examples work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context window</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model's "working memory" — everything it can see at once</a:t>
            </a:r>
            <a:endParaRPr lang="en-US" sz="1100" dirty="0"/>
          </a:p>
        </p:txBody>
      </p:sp>
      <p:sp>
        <p:nvSpPr>
          <p:cNvPr id="5" name="Shape 3"/>
          <p:cNvSpPr/>
          <p:nvPr/>
        </p:nvSpPr>
        <p:spPr>
          <a:xfrm>
            <a:off x="457200" y="1234440"/>
            <a:ext cx="2560320" cy="1828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234440"/>
            <a:ext cx="2560320" cy="54864"/>
          </a:xfrm>
          <a:prstGeom prst="rect">
            <a:avLst/>
          </a:prstGeom>
          <a:solidFill>
            <a:srgbClr val="E91E8C"/>
          </a:solidFill>
          <a:ln/>
        </p:spPr>
      </p:sp>
      <p:sp>
        <p:nvSpPr>
          <p:cNvPr id="7" name="Text 5"/>
          <p:cNvSpPr/>
          <p:nvPr/>
        </p:nvSpPr>
        <p:spPr>
          <a:xfrm>
            <a:off x="640080" y="1417320"/>
            <a:ext cx="2194560" cy="365760"/>
          </a:xfrm>
          <a:prstGeom prst="rect">
            <a:avLst/>
          </a:prstGeom>
          <a:noFill/>
          <a:ln/>
        </p:spPr>
        <p:txBody>
          <a:bodyPr wrap="square" lIns="0" tIns="0" rIns="0" bIns="0" rtlCol="0" anchor="ctr"/>
          <a:lstStyle/>
          <a:p>
            <a:pPr indent="0" marL="0">
              <a:buNone/>
            </a:pPr>
            <a:r>
              <a:rPr lang="en-US" sz="1600" b="1" dirty="0">
                <a:solidFill>
                  <a:srgbClr val="E91E8C"/>
                </a:solidFill>
                <a:latin typeface="Arial" pitchFamily="34" charset="0"/>
                <a:ea typeface="Arial" pitchFamily="34" charset="-122"/>
                <a:cs typeface="Arial" pitchFamily="34" charset="-120"/>
              </a:rPr>
              <a:t>System Prompt</a:t>
            </a:r>
            <a:endParaRPr lang="en-US" sz="1600" dirty="0"/>
          </a:p>
        </p:txBody>
      </p:sp>
      <p:sp>
        <p:nvSpPr>
          <p:cNvPr id="8" name="Text 6"/>
          <p:cNvSpPr/>
          <p:nvPr/>
        </p:nvSpPr>
        <p:spPr>
          <a:xfrm>
            <a:off x="640080" y="1783080"/>
            <a:ext cx="2194560" cy="502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Role, rules, behavior,</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constraints</a:t>
            </a:r>
            <a:endParaRPr lang="en-US" sz="1100" dirty="0"/>
          </a:p>
        </p:txBody>
      </p:sp>
      <p:sp>
        <p:nvSpPr>
          <p:cNvPr id="9" name="Text 7"/>
          <p:cNvSpPr/>
          <p:nvPr/>
        </p:nvSpPr>
        <p:spPr>
          <a:xfrm>
            <a:off x="640080" y="2468880"/>
            <a:ext cx="2194560" cy="320040"/>
          </a:xfrm>
          <a:prstGeom prst="rect">
            <a:avLst/>
          </a:prstGeom>
          <a:noFill/>
          <a:ln/>
        </p:spPr>
        <p:txBody>
          <a:bodyPr wrap="square" lIns="0" tIns="0" rIns="0" bIns="0" rtlCol="0" anchor="ctr"/>
          <a:lstStyle/>
          <a:p>
            <a:pPr indent="0" marL="0">
              <a:buNone/>
            </a:pPr>
            <a:r>
              <a:rPr lang="en-US" sz="1200" i="1" dirty="0">
                <a:solidFill>
                  <a:srgbClr val="9B9BB0"/>
                </a:solidFill>
                <a:latin typeface="Arial" pitchFamily="34" charset="0"/>
                <a:ea typeface="Arial" pitchFamily="34" charset="-122"/>
                <a:cs typeface="Arial" pitchFamily="34" charset="-120"/>
              </a:rPr>
              <a:t>~500 tokens</a:t>
            </a:r>
            <a:endParaRPr lang="en-US" sz="1200" dirty="0"/>
          </a:p>
        </p:txBody>
      </p:sp>
      <p:sp>
        <p:nvSpPr>
          <p:cNvPr id="10" name="Shape 8"/>
          <p:cNvSpPr/>
          <p:nvPr/>
        </p:nvSpPr>
        <p:spPr>
          <a:xfrm>
            <a:off x="3291840" y="1234440"/>
            <a:ext cx="2560320" cy="1828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1" name="Shape 9"/>
          <p:cNvSpPr/>
          <p:nvPr/>
        </p:nvSpPr>
        <p:spPr>
          <a:xfrm>
            <a:off x="3291840" y="1234440"/>
            <a:ext cx="2560320" cy="54864"/>
          </a:xfrm>
          <a:prstGeom prst="rect">
            <a:avLst/>
          </a:prstGeom>
          <a:solidFill>
            <a:srgbClr val="4A9FFF"/>
          </a:solidFill>
          <a:ln/>
        </p:spPr>
      </p:sp>
      <p:sp>
        <p:nvSpPr>
          <p:cNvPr id="12" name="Text 10"/>
          <p:cNvSpPr/>
          <p:nvPr/>
        </p:nvSpPr>
        <p:spPr>
          <a:xfrm>
            <a:off x="3474720" y="1417320"/>
            <a:ext cx="2194560" cy="365760"/>
          </a:xfrm>
          <a:prstGeom prst="rect">
            <a:avLst/>
          </a:prstGeom>
          <a:noFill/>
          <a:ln/>
        </p:spPr>
        <p:txBody>
          <a:bodyPr wrap="square" lIns="0" tIns="0" rIns="0" bIns="0" rtlCol="0" anchor="ctr"/>
          <a:lstStyle/>
          <a:p>
            <a:pPr indent="0" marL="0">
              <a:buNone/>
            </a:pPr>
            <a:r>
              <a:rPr lang="en-US" sz="1600" b="1" dirty="0">
                <a:solidFill>
                  <a:srgbClr val="4A9FFF"/>
                </a:solidFill>
                <a:latin typeface="Arial" pitchFamily="34" charset="0"/>
                <a:ea typeface="Arial" pitchFamily="34" charset="-122"/>
                <a:cs typeface="Arial" pitchFamily="34" charset="-120"/>
              </a:rPr>
              <a:t>Your Prompt</a:t>
            </a:r>
            <a:endParaRPr lang="en-US" sz="1600" dirty="0"/>
          </a:p>
        </p:txBody>
      </p:sp>
      <p:sp>
        <p:nvSpPr>
          <p:cNvPr id="13" name="Text 11"/>
          <p:cNvSpPr/>
          <p:nvPr/>
        </p:nvSpPr>
        <p:spPr>
          <a:xfrm>
            <a:off x="3474720" y="1783080"/>
            <a:ext cx="2194560" cy="502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Instructions, examples,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data, context</a:t>
            </a:r>
            <a:endParaRPr lang="en-US" sz="1100" dirty="0"/>
          </a:p>
        </p:txBody>
      </p:sp>
      <p:sp>
        <p:nvSpPr>
          <p:cNvPr id="14" name="Text 12"/>
          <p:cNvSpPr/>
          <p:nvPr/>
        </p:nvSpPr>
        <p:spPr>
          <a:xfrm>
            <a:off x="3474720" y="2468880"/>
            <a:ext cx="2194560" cy="320040"/>
          </a:xfrm>
          <a:prstGeom prst="rect">
            <a:avLst/>
          </a:prstGeom>
          <a:noFill/>
          <a:ln/>
        </p:spPr>
        <p:txBody>
          <a:bodyPr wrap="square" lIns="0" tIns="0" rIns="0" bIns="0" rtlCol="0" anchor="ctr"/>
          <a:lstStyle/>
          <a:p>
            <a:pPr indent="0" marL="0">
              <a:buNone/>
            </a:pPr>
            <a:r>
              <a:rPr lang="en-US" sz="1200" i="1" dirty="0">
                <a:solidFill>
                  <a:srgbClr val="9B9BB0"/>
                </a:solidFill>
                <a:latin typeface="Arial" pitchFamily="34" charset="0"/>
                <a:ea typeface="Arial" pitchFamily="34" charset="-122"/>
                <a:cs typeface="Arial" pitchFamily="34" charset="-120"/>
              </a:rPr>
              <a:t>~200-2000 tokens</a:t>
            </a:r>
            <a:endParaRPr lang="en-US" sz="1200" dirty="0"/>
          </a:p>
        </p:txBody>
      </p:sp>
      <p:sp>
        <p:nvSpPr>
          <p:cNvPr id="15" name="Shape 13"/>
          <p:cNvSpPr/>
          <p:nvPr/>
        </p:nvSpPr>
        <p:spPr>
          <a:xfrm>
            <a:off x="6126480" y="1234440"/>
            <a:ext cx="2560320" cy="1828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6" name="Shape 14"/>
          <p:cNvSpPr/>
          <p:nvPr/>
        </p:nvSpPr>
        <p:spPr>
          <a:xfrm>
            <a:off x="6126480" y="1234440"/>
            <a:ext cx="2560320" cy="54864"/>
          </a:xfrm>
          <a:prstGeom prst="rect">
            <a:avLst/>
          </a:prstGeom>
          <a:solidFill>
            <a:srgbClr val="00D4AA"/>
          </a:solidFill>
          <a:ln/>
        </p:spPr>
      </p:sp>
      <p:sp>
        <p:nvSpPr>
          <p:cNvPr id="17" name="Text 15"/>
          <p:cNvSpPr/>
          <p:nvPr/>
        </p:nvSpPr>
        <p:spPr>
          <a:xfrm>
            <a:off x="6309360" y="1417320"/>
            <a:ext cx="2194560" cy="365760"/>
          </a:xfrm>
          <a:prstGeom prst="rect">
            <a:avLst/>
          </a:prstGeom>
          <a:noFill/>
          <a:ln/>
        </p:spPr>
        <p:txBody>
          <a:bodyPr wrap="square" lIns="0" tIns="0" rIns="0" bIns="0" rtlCol="0" anchor="ctr"/>
          <a:lstStyle/>
          <a:p>
            <a:pPr indent="0" marL="0">
              <a:buNone/>
            </a:pPr>
            <a:r>
              <a:rPr lang="en-US" sz="1600" b="1" dirty="0">
                <a:solidFill>
                  <a:srgbClr val="00D4AA"/>
                </a:solidFill>
                <a:latin typeface="Arial" pitchFamily="34" charset="0"/>
                <a:ea typeface="Arial" pitchFamily="34" charset="-122"/>
                <a:cs typeface="Arial" pitchFamily="34" charset="-120"/>
              </a:rPr>
              <a:t>Model Output</a:t>
            </a:r>
            <a:endParaRPr lang="en-US" sz="1600" dirty="0"/>
          </a:p>
        </p:txBody>
      </p:sp>
      <p:sp>
        <p:nvSpPr>
          <p:cNvPr id="18" name="Text 16"/>
          <p:cNvSpPr/>
          <p:nvPr/>
        </p:nvSpPr>
        <p:spPr>
          <a:xfrm>
            <a:off x="6309360" y="1783080"/>
            <a:ext cx="2194560" cy="502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Generated response,</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completion</a:t>
            </a:r>
            <a:endParaRPr lang="en-US" sz="1100" dirty="0"/>
          </a:p>
        </p:txBody>
      </p:sp>
      <p:sp>
        <p:nvSpPr>
          <p:cNvPr id="19" name="Text 17"/>
          <p:cNvSpPr/>
          <p:nvPr/>
        </p:nvSpPr>
        <p:spPr>
          <a:xfrm>
            <a:off x="6309360" y="2468880"/>
            <a:ext cx="2194560" cy="320040"/>
          </a:xfrm>
          <a:prstGeom prst="rect">
            <a:avLst/>
          </a:prstGeom>
          <a:noFill/>
          <a:ln/>
        </p:spPr>
        <p:txBody>
          <a:bodyPr wrap="square" lIns="0" tIns="0" rIns="0" bIns="0" rtlCol="0" anchor="ctr"/>
          <a:lstStyle/>
          <a:p>
            <a:pPr indent="0" marL="0">
              <a:buNone/>
            </a:pPr>
            <a:r>
              <a:rPr lang="en-US" sz="1200" i="1" dirty="0">
                <a:solidFill>
                  <a:srgbClr val="9B9BB0"/>
                </a:solidFill>
                <a:latin typeface="Arial" pitchFamily="34" charset="0"/>
                <a:ea typeface="Arial" pitchFamily="34" charset="-122"/>
                <a:cs typeface="Arial" pitchFamily="34" charset="-120"/>
              </a:rPr>
              <a:t>remaining tokens</a:t>
            </a:r>
            <a:endParaRPr lang="en-US" sz="1200" dirty="0"/>
          </a:p>
        </p:txBody>
      </p:sp>
      <p:sp>
        <p:nvSpPr>
          <p:cNvPr id="20" name="Shape 18"/>
          <p:cNvSpPr/>
          <p:nvPr/>
        </p:nvSpPr>
        <p:spPr>
          <a:xfrm>
            <a:off x="457200" y="3337560"/>
            <a:ext cx="8229600" cy="731520"/>
          </a:xfrm>
          <a:prstGeom prst="rect">
            <a:avLst/>
          </a:prstGeom>
          <a:solidFill>
            <a:srgbClr val="16162A"/>
          </a:solidFill>
          <a:ln/>
        </p:spPr>
      </p:sp>
      <p:sp>
        <p:nvSpPr>
          <p:cNvPr id="21" name="Text 19"/>
          <p:cNvSpPr/>
          <p:nvPr/>
        </p:nvSpPr>
        <p:spPr>
          <a:xfrm>
            <a:off x="457200" y="3337560"/>
            <a:ext cx="8229600" cy="731520"/>
          </a:xfrm>
          <a:prstGeom prst="rect">
            <a:avLst/>
          </a:prstGeom>
          <a:noFill/>
          <a:ln/>
        </p:spPr>
        <p:txBody>
          <a:bodyPr wrap="square" lIns="0" tIns="0" rIns="0" bIns="0" rtlCol="0" anchor="ctr"/>
          <a:lstStyle/>
          <a:p>
            <a:pPr algn="ctr" indent="0" marL="0">
              <a:buNone/>
            </a:pPr>
            <a:r>
              <a:rPr lang="en-US" sz="1300" dirty="0">
                <a:solidFill>
                  <a:srgbClr val="C8C8D8"/>
                </a:solidFill>
                <a:latin typeface="Arial" pitchFamily="34" charset="0"/>
                <a:ea typeface="Arial" pitchFamily="34" charset="-122"/>
                <a:cs typeface="Arial" pitchFamily="34" charset="-120"/>
              </a:rPr>
              <a:t>1 token ≈ ¾ of a word</a:t>
            </a:r>
            <a:pPr algn="ctr" indent="0" marL="0">
              <a:buNone/>
            </a:pPr>
            <a:r>
              <a:rPr lang="en-US" sz="1300" dirty="0">
                <a:solidFill>
                  <a:srgbClr val="9B9BB0"/>
                </a:solidFill>
                <a:latin typeface="Arial" pitchFamily="34" charset="0"/>
                <a:ea typeface="Arial" pitchFamily="34" charset="-122"/>
                <a:cs typeface="Arial" pitchFamily="34" charset="-120"/>
              </a:rPr>
              <a:t xml:space="preserve">    |    </a:t>
            </a:r>
            <a:pPr algn="ctr" indent="0" marL="0">
              <a:buNone/>
            </a:pPr>
            <a:r>
              <a:rPr lang="en-US" sz="1300" b="1" dirty="0">
                <a:solidFill>
                  <a:srgbClr val="4A9FFF"/>
                </a:solidFill>
                <a:latin typeface="Arial" pitchFamily="34" charset="0"/>
                <a:ea typeface="Arial" pitchFamily="34" charset="-122"/>
                <a:cs typeface="Arial" pitchFamily="34" charset="-120"/>
              </a:rPr>
              <a:t>GPT-4o: 128K</a:t>
            </a:r>
            <a:pPr algn="ctr" indent="0" marL="0">
              <a:buNone/>
            </a:pPr>
            <a:r>
              <a:rPr lang="en-US" sz="1300" dirty="0">
                <a:solidFill>
                  <a:srgbClr val="9B9BB0"/>
                </a:solidFill>
                <a:latin typeface="Arial" pitchFamily="34" charset="0"/>
                <a:ea typeface="Arial" pitchFamily="34" charset="-122"/>
                <a:cs typeface="Arial" pitchFamily="34" charset="-120"/>
              </a:rPr>
              <a:t xml:space="preserve">    |    </a:t>
            </a:r>
            <a:pPr algn="ctr" indent="0" marL="0">
              <a:buNone/>
            </a:pPr>
            <a:r>
              <a:rPr lang="en-US" sz="1300" b="1" dirty="0">
                <a:solidFill>
                  <a:srgbClr val="E91E8C"/>
                </a:solidFill>
                <a:latin typeface="Arial" pitchFamily="34" charset="0"/>
                <a:ea typeface="Arial" pitchFamily="34" charset="-122"/>
                <a:cs typeface="Arial" pitchFamily="34" charset="-120"/>
              </a:rPr>
              <a:t>Claude: 200K</a:t>
            </a:r>
            <a:endParaRPr lang="en-US" sz="1300" dirty="0"/>
          </a:p>
        </p:txBody>
      </p:sp>
      <p:sp>
        <p:nvSpPr>
          <p:cNvPr id="22" name="Text 20"/>
          <p:cNvSpPr/>
          <p:nvPr/>
        </p:nvSpPr>
        <p:spPr>
          <a:xfrm>
            <a:off x="731520" y="4389120"/>
            <a:ext cx="7680960" cy="457200"/>
          </a:xfrm>
          <a:prstGeom prst="rect">
            <a:avLst/>
          </a:prstGeom>
          <a:noFill/>
          <a:ln/>
        </p:spPr>
        <p:txBody>
          <a:bodyPr wrap="square" lIns="0" tIns="0" rIns="0" bIns="0" rtlCol="0" anchor="ctr"/>
          <a:lstStyle/>
          <a:p>
            <a:pPr algn="ctr" indent="0" marL="0">
              <a:buNone/>
            </a:pPr>
            <a:r>
              <a:rPr lang="en-US" sz="1300" i="1" dirty="0">
                <a:solidFill>
                  <a:srgbClr val="E91E8C"/>
                </a:solidFill>
                <a:latin typeface="Arial" pitchFamily="34" charset="0"/>
                <a:ea typeface="Arial" pitchFamily="34" charset="-122"/>
                <a:cs typeface="Arial" pitchFamily="34" charset="-120"/>
              </a:rPr>
              <a:t>Think of it as a budget: every word in your prompt uses tokens that could go to the response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Loop Framework</a:t>
            </a:r>
            <a:endParaRPr lang="en-US" sz="2800" dirty="0"/>
          </a:p>
        </p:txBody>
      </p:sp>
      <p:sp>
        <p:nvSpPr>
          <p:cNvPr id="4" name="Shape 2"/>
          <p:cNvSpPr/>
          <p:nvPr/>
        </p:nvSpPr>
        <p:spPr>
          <a:xfrm>
            <a:off x="457200" y="1005840"/>
            <a:ext cx="39319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5" name="Shape 3"/>
          <p:cNvSpPr/>
          <p:nvPr/>
        </p:nvSpPr>
        <p:spPr>
          <a:xfrm>
            <a:off x="457200" y="1005840"/>
            <a:ext cx="54864" cy="1188720"/>
          </a:xfrm>
          <a:prstGeom prst="rect">
            <a:avLst/>
          </a:prstGeom>
          <a:solidFill>
            <a:srgbClr val="E91E8C"/>
          </a:solidFill>
          <a:ln/>
        </p:spPr>
      </p:sp>
      <p:sp>
        <p:nvSpPr>
          <p:cNvPr id="6" name="Text 4"/>
          <p:cNvSpPr/>
          <p:nvPr/>
        </p:nvSpPr>
        <p:spPr>
          <a:xfrm>
            <a:off x="685800" y="1097280"/>
            <a:ext cx="3474720" cy="320040"/>
          </a:xfrm>
          <a:prstGeom prst="rect">
            <a:avLst/>
          </a:prstGeom>
          <a:noFill/>
          <a:ln/>
        </p:spPr>
        <p:txBody>
          <a:bodyPr wrap="square" lIns="0" tIns="0" rIns="0" bIns="0" rtlCol="0" anchor="ctr"/>
          <a:lstStyle/>
          <a:p>
            <a:pPr indent="0" marL="0">
              <a:buNone/>
            </a:pPr>
            <a:r>
              <a:rPr lang="en-US" sz="1500" b="1" dirty="0">
                <a:solidFill>
                  <a:srgbClr val="E91E8C"/>
                </a:solidFill>
                <a:latin typeface="Arial" pitchFamily="34" charset="0"/>
                <a:ea typeface="Arial" pitchFamily="34" charset="-122"/>
                <a:cs typeface="Arial" pitchFamily="34" charset="-120"/>
              </a:rPr>
              <a:t>User's Problem</a:t>
            </a:r>
            <a:endParaRPr lang="en-US" sz="1500" dirty="0"/>
          </a:p>
        </p:txBody>
      </p:sp>
      <p:sp>
        <p:nvSpPr>
          <p:cNvPr id="7" name="Text 5"/>
          <p:cNvSpPr/>
          <p:nvPr/>
        </p:nvSpPr>
        <p:spPr>
          <a:xfrm>
            <a:off x="685800" y="1463040"/>
            <a:ext cx="3474720" cy="6400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Expressed in user domain</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"I need help with X"</a:t>
            </a:r>
            <a:endParaRPr lang="en-US" sz="1100" dirty="0"/>
          </a:p>
        </p:txBody>
      </p:sp>
      <p:sp>
        <p:nvSpPr>
          <p:cNvPr id="8" name="Shape 6"/>
          <p:cNvSpPr/>
          <p:nvPr/>
        </p:nvSpPr>
        <p:spPr>
          <a:xfrm>
            <a:off x="4754880" y="1005840"/>
            <a:ext cx="39319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9" name="Shape 7"/>
          <p:cNvSpPr/>
          <p:nvPr/>
        </p:nvSpPr>
        <p:spPr>
          <a:xfrm>
            <a:off x="4754880" y="1005840"/>
            <a:ext cx="54864" cy="1188720"/>
          </a:xfrm>
          <a:prstGeom prst="rect">
            <a:avLst/>
          </a:prstGeom>
          <a:solidFill>
            <a:srgbClr val="4A9FFF"/>
          </a:solidFill>
          <a:ln/>
        </p:spPr>
      </p:sp>
      <p:sp>
        <p:nvSpPr>
          <p:cNvPr id="10" name="Text 8"/>
          <p:cNvSpPr/>
          <p:nvPr/>
        </p:nvSpPr>
        <p:spPr>
          <a:xfrm>
            <a:off x="4983480" y="1097280"/>
            <a:ext cx="3474720" cy="320040"/>
          </a:xfrm>
          <a:prstGeom prst="rect">
            <a:avLst/>
          </a:prstGeom>
          <a:noFill/>
          <a:ln/>
        </p:spPr>
        <p:txBody>
          <a:bodyPr wrap="square" lIns="0" tIns="0" rIns="0" bIns="0" rtlCol="0" anchor="ctr"/>
          <a:lstStyle/>
          <a:p>
            <a:pPr indent="0" marL="0">
              <a:buNone/>
            </a:pPr>
            <a:r>
              <a:rPr lang="en-US" sz="1500" b="1" dirty="0">
                <a:solidFill>
                  <a:srgbClr val="4A9FFF"/>
                </a:solidFill>
                <a:latin typeface="Arial" pitchFamily="34" charset="0"/>
                <a:ea typeface="Arial" pitchFamily="34" charset="-122"/>
                <a:cs typeface="Arial" pitchFamily="34" charset="-120"/>
              </a:rPr>
              <a:t>Convert to Model Domain</a:t>
            </a:r>
            <a:endParaRPr lang="en-US" sz="1500" dirty="0"/>
          </a:p>
        </p:txBody>
      </p:sp>
      <p:sp>
        <p:nvSpPr>
          <p:cNvPr id="11" name="Text 9"/>
          <p:cNvSpPr/>
          <p:nvPr/>
        </p:nvSpPr>
        <p:spPr>
          <a:xfrm>
            <a:off x="4983480" y="1463040"/>
            <a:ext cx="3474720" cy="6400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YOUR JOB: Translate to patterns</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Add role, context, examples</a:t>
            </a:r>
            <a:endParaRPr lang="en-US" sz="1100" dirty="0"/>
          </a:p>
        </p:txBody>
      </p:sp>
      <p:sp>
        <p:nvSpPr>
          <p:cNvPr id="12" name="Shape 10"/>
          <p:cNvSpPr/>
          <p:nvPr/>
        </p:nvSpPr>
        <p:spPr>
          <a:xfrm>
            <a:off x="457200" y="2423160"/>
            <a:ext cx="39319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3" name="Shape 11"/>
          <p:cNvSpPr/>
          <p:nvPr/>
        </p:nvSpPr>
        <p:spPr>
          <a:xfrm>
            <a:off x="457200" y="2423160"/>
            <a:ext cx="54864" cy="1188720"/>
          </a:xfrm>
          <a:prstGeom prst="rect">
            <a:avLst/>
          </a:prstGeom>
          <a:solidFill>
            <a:srgbClr val="00D4AA"/>
          </a:solidFill>
          <a:ln/>
        </p:spPr>
      </p:sp>
      <p:sp>
        <p:nvSpPr>
          <p:cNvPr id="14" name="Text 12"/>
          <p:cNvSpPr/>
          <p:nvPr/>
        </p:nvSpPr>
        <p:spPr>
          <a:xfrm>
            <a:off x="685800" y="2514600"/>
            <a:ext cx="3474720" cy="320040"/>
          </a:xfrm>
          <a:prstGeom prst="rect">
            <a:avLst/>
          </a:prstGeom>
          <a:noFill/>
          <a:ln/>
        </p:spPr>
        <p:txBody>
          <a:bodyPr wrap="square" lIns="0" tIns="0" rIns="0" bIns="0" rtlCol="0" anchor="ctr"/>
          <a:lstStyle/>
          <a:p>
            <a:pPr indent="0" marL="0">
              <a:buNone/>
            </a:pPr>
            <a:r>
              <a:rPr lang="en-US" sz="1500" b="1" dirty="0">
                <a:solidFill>
                  <a:srgbClr val="00D4AA"/>
                </a:solidFill>
                <a:latin typeface="Arial" pitchFamily="34" charset="0"/>
                <a:ea typeface="Arial" pitchFamily="34" charset="-122"/>
                <a:cs typeface="Arial" pitchFamily="34" charset="-120"/>
              </a:rPr>
              <a:t>LLM Completes</a:t>
            </a:r>
            <a:endParaRPr lang="en-US" sz="1500" dirty="0"/>
          </a:p>
        </p:txBody>
      </p:sp>
      <p:sp>
        <p:nvSpPr>
          <p:cNvPr id="15" name="Text 13"/>
          <p:cNvSpPr/>
          <p:nvPr/>
        </p:nvSpPr>
        <p:spPr>
          <a:xfrm>
            <a:off x="685800" y="2880360"/>
            <a:ext cx="3474720" cy="6400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Model generates continuation</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based on your prompt pattern</a:t>
            </a:r>
            <a:endParaRPr lang="en-US" sz="1100" dirty="0"/>
          </a:p>
        </p:txBody>
      </p:sp>
      <p:sp>
        <p:nvSpPr>
          <p:cNvPr id="16" name="Shape 14"/>
          <p:cNvSpPr/>
          <p:nvPr/>
        </p:nvSpPr>
        <p:spPr>
          <a:xfrm>
            <a:off x="4754880" y="2423160"/>
            <a:ext cx="39319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7" name="Shape 15"/>
          <p:cNvSpPr/>
          <p:nvPr/>
        </p:nvSpPr>
        <p:spPr>
          <a:xfrm>
            <a:off x="4754880" y="2423160"/>
            <a:ext cx="54864" cy="1188720"/>
          </a:xfrm>
          <a:prstGeom prst="rect">
            <a:avLst/>
          </a:prstGeom>
          <a:solidFill>
            <a:srgbClr val="FF3DAB"/>
          </a:solidFill>
          <a:ln/>
        </p:spPr>
      </p:sp>
      <p:sp>
        <p:nvSpPr>
          <p:cNvPr id="18" name="Text 16"/>
          <p:cNvSpPr/>
          <p:nvPr/>
        </p:nvSpPr>
        <p:spPr>
          <a:xfrm>
            <a:off x="4983480" y="2514600"/>
            <a:ext cx="3474720" cy="320040"/>
          </a:xfrm>
          <a:prstGeom prst="rect">
            <a:avLst/>
          </a:prstGeom>
          <a:noFill/>
          <a:ln/>
        </p:spPr>
        <p:txBody>
          <a:bodyPr wrap="square" lIns="0" tIns="0" rIns="0" bIns="0" rtlCol="0" anchor="ctr"/>
          <a:lstStyle/>
          <a:p>
            <a:pPr indent="0" marL="0">
              <a:buNone/>
            </a:pPr>
            <a:r>
              <a:rPr lang="en-US" sz="1500" b="1" dirty="0">
                <a:solidFill>
                  <a:srgbClr val="FF3DAB"/>
                </a:solidFill>
                <a:latin typeface="Arial" pitchFamily="34" charset="0"/>
                <a:ea typeface="Arial" pitchFamily="34" charset="-122"/>
                <a:cs typeface="Arial" pitchFamily="34" charset="-120"/>
              </a:rPr>
              <a:t>Transform Back</a:t>
            </a:r>
            <a:endParaRPr lang="en-US" sz="1500" dirty="0"/>
          </a:p>
        </p:txBody>
      </p:sp>
      <p:sp>
        <p:nvSpPr>
          <p:cNvPr id="19" name="Text 17"/>
          <p:cNvSpPr/>
          <p:nvPr/>
        </p:nvSpPr>
        <p:spPr>
          <a:xfrm>
            <a:off x="4983480" y="2880360"/>
            <a:ext cx="3474720" cy="6400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YOUR JOB: Parse and validate</a:t>
            </a:r>
            <a:endParaRPr lang="en-US" sz="1100" dirty="0"/>
          </a:p>
          <a:p>
            <a:pPr indent="0" marL="0">
              <a:buNone/>
            </a:pPr>
            <a:r>
              <a:rPr lang="en-US" sz="1100" dirty="0">
                <a:solidFill>
                  <a:srgbClr val="C8C8D8"/>
                </a:solidFill>
                <a:latin typeface="Arial" pitchFamily="34" charset="0"/>
                <a:ea typeface="Arial" pitchFamily="34" charset="-122"/>
                <a:cs typeface="Arial" pitchFamily="34" charset="-120"/>
              </a:rPr>
              <a:t>Extract what matters for user</a:t>
            </a:r>
            <a:endParaRPr lang="en-US" sz="1100" dirty="0"/>
          </a:p>
        </p:txBody>
      </p:sp>
      <p:sp>
        <p:nvSpPr>
          <p:cNvPr id="20" name="Text 18"/>
          <p:cNvSpPr/>
          <p:nvPr/>
        </p:nvSpPr>
        <p:spPr>
          <a:xfrm>
            <a:off x="3977640" y="1188720"/>
            <a:ext cx="457200" cy="822960"/>
          </a:xfrm>
          <a:prstGeom prst="rect">
            <a:avLst/>
          </a:prstGeom>
          <a:noFill/>
          <a:ln/>
        </p:spPr>
        <p:txBody>
          <a:bodyPr wrap="square" lIns="0" tIns="0" rIns="0" bIns="0" rtlCol="0" anchor="ctr"/>
          <a:lstStyle/>
          <a:p>
            <a:pPr algn="ctr" indent="0" marL="0">
              <a:buNone/>
            </a:pPr>
            <a:r>
              <a:rPr lang="en-US" sz="2400" dirty="0">
                <a:solidFill>
                  <a:srgbClr val="9B9BB0"/>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6858000" y="2103120"/>
            <a:ext cx="457200" cy="457200"/>
          </a:xfrm>
          <a:prstGeom prst="rect">
            <a:avLst/>
          </a:prstGeom>
          <a:noFill/>
          <a:ln/>
        </p:spPr>
        <p:txBody>
          <a:bodyPr wrap="square" lIns="0" tIns="0" rIns="0" bIns="0" rtlCol="0" anchor="ctr"/>
          <a:lstStyle/>
          <a:p>
            <a:pPr algn="ctr" indent="0" marL="0">
              <a:buNone/>
            </a:pPr>
            <a:r>
              <a:rPr lang="en-US" sz="2400" dirty="0">
                <a:solidFill>
                  <a:srgbClr val="9B9BB0"/>
                </a:solidFill>
                <a:latin typeface="Arial" pitchFamily="34" charset="0"/>
                <a:ea typeface="Arial" pitchFamily="34" charset="-122"/>
                <a:cs typeface="Arial" pitchFamily="34" charset="-120"/>
              </a:rPr>
              <a:t>↓</a:t>
            </a:r>
            <a:endParaRPr lang="en-US" sz="2400" dirty="0"/>
          </a:p>
        </p:txBody>
      </p:sp>
      <p:sp>
        <p:nvSpPr>
          <p:cNvPr id="22" name="Text 20"/>
          <p:cNvSpPr/>
          <p:nvPr/>
        </p:nvSpPr>
        <p:spPr>
          <a:xfrm>
            <a:off x="3977640" y="2606040"/>
            <a:ext cx="457200" cy="822960"/>
          </a:xfrm>
          <a:prstGeom prst="rect">
            <a:avLst/>
          </a:prstGeom>
          <a:noFill/>
          <a:ln/>
        </p:spPr>
        <p:txBody>
          <a:bodyPr wrap="square" lIns="0" tIns="0" rIns="0" bIns="0" rtlCol="0" anchor="ctr"/>
          <a:lstStyle/>
          <a:p>
            <a:pPr algn="ctr" indent="0" marL="0">
              <a:buNone/>
            </a:pPr>
            <a:r>
              <a:rPr lang="en-US" sz="2400" dirty="0">
                <a:solidFill>
                  <a:srgbClr val="9B9BB0"/>
                </a:solidFill>
                <a:latin typeface="Arial" pitchFamily="34" charset="0"/>
                <a:ea typeface="Arial" pitchFamily="34" charset="-122"/>
                <a:cs typeface="Arial" pitchFamily="34" charset="-120"/>
              </a:rPr>
              <a:t>←</a:t>
            </a:r>
            <a:endParaRPr lang="en-US" sz="2400" dirty="0"/>
          </a:p>
        </p:txBody>
      </p:sp>
      <p:sp>
        <p:nvSpPr>
          <p:cNvPr id="23" name="Shape 21"/>
          <p:cNvSpPr/>
          <p:nvPr/>
        </p:nvSpPr>
        <p:spPr>
          <a:xfrm>
            <a:off x="457200" y="3977640"/>
            <a:ext cx="3931920" cy="868680"/>
          </a:xfrm>
          <a:prstGeom prst="rect">
            <a:avLst/>
          </a:prstGeom>
          <a:solidFill>
            <a:srgbClr val="16162A"/>
          </a:solidFill>
          <a:ln/>
        </p:spPr>
      </p:sp>
      <p:sp>
        <p:nvSpPr>
          <p:cNvPr id="24" name="Text 22"/>
          <p:cNvSpPr/>
          <p:nvPr/>
        </p:nvSpPr>
        <p:spPr>
          <a:xfrm>
            <a:off x="640080" y="4023360"/>
            <a:ext cx="347472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Key Insight</a:t>
            </a:r>
            <a:endParaRPr lang="en-US" sz="1300" dirty="0"/>
          </a:p>
        </p:txBody>
      </p:sp>
      <p:sp>
        <p:nvSpPr>
          <p:cNvPr id="25" name="Text 23"/>
          <p:cNvSpPr/>
          <p:nvPr/>
        </p:nvSpPr>
        <p:spPr>
          <a:xfrm>
            <a:off x="640080" y="4297680"/>
            <a:ext cx="3474720" cy="4114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You are the translator between human intent and AI patterns</a:t>
            </a:r>
            <a:endParaRPr lang="en-US" sz="1100" dirty="0"/>
          </a:p>
        </p:txBody>
      </p:sp>
      <p:sp>
        <p:nvSpPr>
          <p:cNvPr id="26" name="Shape 24"/>
          <p:cNvSpPr/>
          <p:nvPr/>
        </p:nvSpPr>
        <p:spPr>
          <a:xfrm>
            <a:off x="4754880" y="3977640"/>
            <a:ext cx="3931920" cy="868680"/>
          </a:xfrm>
          <a:prstGeom prst="rect">
            <a:avLst/>
          </a:prstGeom>
          <a:solidFill>
            <a:srgbClr val="16162A"/>
          </a:solidFill>
          <a:ln/>
        </p:spPr>
      </p:sp>
      <p:sp>
        <p:nvSpPr>
          <p:cNvPr id="27" name="Text 25"/>
          <p:cNvSpPr/>
          <p:nvPr/>
        </p:nvSpPr>
        <p:spPr>
          <a:xfrm>
            <a:off x="4937760" y="4023360"/>
            <a:ext cx="347472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When It Fails</a:t>
            </a:r>
            <a:endParaRPr lang="en-US" sz="1300" dirty="0"/>
          </a:p>
        </p:txBody>
      </p:sp>
      <p:sp>
        <p:nvSpPr>
          <p:cNvPr id="28" name="Text 26"/>
          <p:cNvSpPr/>
          <p:nvPr/>
        </p:nvSpPr>
        <p:spPr>
          <a:xfrm>
            <a:off x="4937760" y="4297680"/>
            <a:ext cx="3474720" cy="4114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Diagnose which step broke: Bad conversion? Wrong completion? Poor transform?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4A9FFF">
              <a:alpha val="8000"/>
            </a:srgbClr>
          </a:solidFill>
          <a:ln/>
        </p:spPr>
      </p:sp>
      <p:sp>
        <p:nvSpPr>
          <p:cNvPr id="3" name="Shape 1"/>
          <p:cNvSpPr/>
          <p:nvPr/>
        </p:nvSpPr>
        <p:spPr>
          <a:xfrm>
            <a:off x="6400800" y="2286000"/>
            <a:ext cx="4572000" cy="4572000"/>
          </a:xfrm>
          <a:prstGeom prst="ellipse">
            <a:avLst/>
          </a:prstGeom>
          <a:solidFill>
            <a:srgbClr val="E91E8C">
              <a:alpha val="7000"/>
            </a:srgbClr>
          </a:solidFill>
          <a:ln/>
        </p:spPr>
      </p:sp>
      <p:sp>
        <p:nvSpPr>
          <p:cNvPr id="4" name="Shape 2"/>
          <p:cNvSpPr/>
          <p:nvPr/>
        </p:nvSpPr>
        <p:spPr>
          <a:xfrm>
            <a:off x="731520" y="1645920"/>
            <a:ext cx="731520" cy="54864"/>
          </a:xfrm>
          <a:prstGeom prst="rect">
            <a:avLst/>
          </a:prstGeom>
          <a:solidFill>
            <a:srgbClr val="E91E8C"/>
          </a:solidFill>
          <a:ln/>
        </p:spPr>
      </p:sp>
      <p:sp>
        <p:nvSpPr>
          <p:cNvPr id="5" name="Text 3"/>
          <p:cNvSpPr/>
          <p:nvPr/>
        </p:nvSpPr>
        <p:spPr>
          <a:xfrm>
            <a:off x="731520" y="1828800"/>
            <a:ext cx="7315200" cy="640080"/>
          </a:xfrm>
          <a:prstGeom prst="rect">
            <a:avLst/>
          </a:prstGeom>
          <a:noFill/>
          <a:ln/>
        </p:spPr>
        <p:txBody>
          <a:bodyPr wrap="square" lIns="0" tIns="0" rIns="0" bIns="0" rtlCol="0" anchor="ctr"/>
          <a:lstStyle/>
          <a:p>
            <a:pPr indent="0" marL="0">
              <a:buNone/>
            </a:pPr>
            <a:r>
              <a:rPr lang="en-US" sz="1800" spc="600" kern="0" dirty="0">
                <a:solidFill>
                  <a:srgbClr val="E91E8C"/>
                </a:solidFill>
                <a:latin typeface="Arial" pitchFamily="34" charset="0"/>
                <a:ea typeface="Arial" pitchFamily="34" charset="-122"/>
                <a:cs typeface="Arial" pitchFamily="34" charset="-120"/>
              </a:rPr>
              <a:t>Part 2</a:t>
            </a:r>
            <a:endParaRPr lang="en-US" sz="1800" dirty="0"/>
          </a:p>
        </p:txBody>
      </p:sp>
      <p:sp>
        <p:nvSpPr>
          <p:cNvPr id="6" name="Text 4"/>
          <p:cNvSpPr/>
          <p:nvPr/>
        </p:nvSpPr>
        <p:spPr>
          <a:xfrm>
            <a:off x="731520" y="2377440"/>
            <a:ext cx="7315200" cy="1371600"/>
          </a:xfrm>
          <a:prstGeom prst="rect">
            <a:avLst/>
          </a:prstGeom>
          <a:noFill/>
          <a:ln/>
        </p:spPr>
        <p:txBody>
          <a:bodyPr wrap="square" lIns="0" tIns="0" rIns="0" bIns="0" rtlCol="0" anchor="ctr"/>
          <a:lstStyle/>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Core</a:t>
            </a:r>
            <a:endParaRPr lang="en-US" sz="4200" dirty="0"/>
          </a:p>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Techniques</a:t>
            </a:r>
            <a:endParaRPr lang="en-US" sz="4200" dirty="0"/>
          </a:p>
        </p:txBody>
      </p:sp>
      <p:sp>
        <p:nvSpPr>
          <p:cNvPr id="7" name="Text 5"/>
          <p:cNvSpPr/>
          <p:nvPr/>
        </p:nvSpPr>
        <p:spPr>
          <a:xfrm>
            <a:off x="731520" y="3840480"/>
            <a:ext cx="7315200" cy="457200"/>
          </a:xfrm>
          <a:prstGeom prst="rect">
            <a:avLst/>
          </a:prstGeom>
          <a:noFill/>
          <a:ln/>
        </p:spPr>
        <p:txBody>
          <a:bodyPr wrap="square" lIns="0" tIns="0" rIns="0" bIns="0" rtlCol="0" anchor="ctr"/>
          <a:lstStyle/>
          <a:p>
            <a:pPr indent="0" marL="0">
              <a:buNone/>
            </a:pPr>
            <a:r>
              <a:rPr lang="en-US" sz="1400" i="1" dirty="0">
                <a:solidFill>
                  <a:srgbClr val="9B9BB0"/>
                </a:solidFill>
                <a:latin typeface="Arial" pitchFamily="34" charset="0"/>
                <a:ea typeface="Arial" pitchFamily="34" charset="-122"/>
                <a:cs typeface="Arial" pitchFamily="34" charset="-120"/>
              </a:rPr>
              <a:t>The 5 Principles, document types, the Playwriting metaphor, and few-shot learning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5 Principles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Your toolkit for effective prompting (Chapter 5)</a:t>
            </a:r>
            <a:endParaRPr lang="en-US" sz="1100" dirty="0"/>
          </a:p>
        </p:txBody>
      </p:sp>
      <p:sp>
        <p:nvSpPr>
          <p:cNvPr id="5" name="Shape 3"/>
          <p:cNvSpPr/>
          <p:nvPr/>
        </p:nvSpPr>
        <p:spPr>
          <a:xfrm>
            <a:off x="457200" y="1051560"/>
            <a:ext cx="8229600" cy="658368"/>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6" name="Shape 4"/>
          <p:cNvSpPr/>
          <p:nvPr/>
        </p:nvSpPr>
        <p:spPr>
          <a:xfrm>
            <a:off x="640080" y="1152144"/>
            <a:ext cx="457200" cy="457200"/>
          </a:xfrm>
          <a:prstGeom prst="ellipse">
            <a:avLst/>
          </a:prstGeom>
          <a:solidFill>
            <a:srgbClr val="E91E8C"/>
          </a:solidFill>
          <a:ln/>
        </p:spPr>
      </p:sp>
      <p:sp>
        <p:nvSpPr>
          <p:cNvPr id="7" name="Text 5"/>
          <p:cNvSpPr/>
          <p:nvPr/>
        </p:nvSpPr>
        <p:spPr>
          <a:xfrm>
            <a:off x="640080" y="1152144"/>
            <a:ext cx="457200" cy="45720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1325880" y="109728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Give Direction</a:t>
            </a:r>
            <a:endParaRPr lang="en-US" sz="1600" dirty="0"/>
          </a:p>
        </p:txBody>
      </p:sp>
      <p:sp>
        <p:nvSpPr>
          <p:cNvPr id="9" name="Text 7"/>
          <p:cNvSpPr/>
          <p:nvPr/>
        </p:nvSpPr>
        <p:spPr>
          <a:xfrm>
            <a:off x="1325880" y="1399032"/>
            <a:ext cx="685800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Assign a role, set the tone and persona</a:t>
            </a:r>
            <a:endParaRPr lang="en-US" sz="1100" dirty="0"/>
          </a:p>
        </p:txBody>
      </p:sp>
      <p:sp>
        <p:nvSpPr>
          <p:cNvPr id="10" name="Shape 8"/>
          <p:cNvSpPr/>
          <p:nvPr/>
        </p:nvSpPr>
        <p:spPr>
          <a:xfrm>
            <a:off x="457200" y="1828800"/>
            <a:ext cx="8229600" cy="658368"/>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1" name="Shape 9"/>
          <p:cNvSpPr/>
          <p:nvPr/>
        </p:nvSpPr>
        <p:spPr>
          <a:xfrm>
            <a:off x="640080" y="1929384"/>
            <a:ext cx="457200" cy="457200"/>
          </a:xfrm>
          <a:prstGeom prst="ellipse">
            <a:avLst/>
          </a:prstGeom>
          <a:solidFill>
            <a:srgbClr val="4A9FFF"/>
          </a:solidFill>
          <a:ln/>
        </p:spPr>
      </p:sp>
      <p:sp>
        <p:nvSpPr>
          <p:cNvPr id="12" name="Text 10"/>
          <p:cNvSpPr/>
          <p:nvPr/>
        </p:nvSpPr>
        <p:spPr>
          <a:xfrm>
            <a:off x="640080" y="1929384"/>
            <a:ext cx="457200" cy="45720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2</a:t>
            </a:r>
            <a:endParaRPr lang="en-US" sz="1800" dirty="0"/>
          </a:p>
        </p:txBody>
      </p:sp>
      <p:sp>
        <p:nvSpPr>
          <p:cNvPr id="13" name="Text 11"/>
          <p:cNvSpPr/>
          <p:nvPr/>
        </p:nvSpPr>
        <p:spPr>
          <a:xfrm>
            <a:off x="1325880" y="187452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Specify Format</a:t>
            </a:r>
            <a:endParaRPr lang="en-US" sz="1600" dirty="0"/>
          </a:p>
        </p:txBody>
      </p:sp>
      <p:sp>
        <p:nvSpPr>
          <p:cNvPr id="14" name="Text 12"/>
          <p:cNvSpPr/>
          <p:nvPr/>
        </p:nvSpPr>
        <p:spPr>
          <a:xfrm>
            <a:off x="1325880" y="2176272"/>
            <a:ext cx="685800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Define output structure: bullets, JSON, table, length</a:t>
            </a:r>
            <a:endParaRPr lang="en-US" sz="1100" dirty="0"/>
          </a:p>
        </p:txBody>
      </p:sp>
      <p:sp>
        <p:nvSpPr>
          <p:cNvPr id="15" name="Shape 13"/>
          <p:cNvSpPr/>
          <p:nvPr/>
        </p:nvSpPr>
        <p:spPr>
          <a:xfrm>
            <a:off x="457200" y="2606040"/>
            <a:ext cx="8229600" cy="658368"/>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6" name="Shape 14"/>
          <p:cNvSpPr/>
          <p:nvPr/>
        </p:nvSpPr>
        <p:spPr>
          <a:xfrm>
            <a:off x="640080" y="2706624"/>
            <a:ext cx="457200" cy="457200"/>
          </a:xfrm>
          <a:prstGeom prst="ellipse">
            <a:avLst/>
          </a:prstGeom>
          <a:solidFill>
            <a:srgbClr val="00D4AA"/>
          </a:solidFill>
          <a:ln/>
        </p:spPr>
      </p:sp>
      <p:sp>
        <p:nvSpPr>
          <p:cNvPr id="17" name="Text 15"/>
          <p:cNvSpPr/>
          <p:nvPr/>
        </p:nvSpPr>
        <p:spPr>
          <a:xfrm>
            <a:off x="640080" y="2706624"/>
            <a:ext cx="457200" cy="45720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3</a:t>
            </a:r>
            <a:endParaRPr lang="en-US" sz="1800" dirty="0"/>
          </a:p>
        </p:txBody>
      </p:sp>
      <p:sp>
        <p:nvSpPr>
          <p:cNvPr id="18" name="Text 16"/>
          <p:cNvSpPr/>
          <p:nvPr/>
        </p:nvSpPr>
        <p:spPr>
          <a:xfrm>
            <a:off x="1325880" y="265176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Provide Examples</a:t>
            </a:r>
            <a:endParaRPr lang="en-US" sz="1600" dirty="0"/>
          </a:p>
        </p:txBody>
      </p:sp>
      <p:sp>
        <p:nvSpPr>
          <p:cNvPr id="19" name="Text 17"/>
          <p:cNvSpPr/>
          <p:nvPr/>
        </p:nvSpPr>
        <p:spPr>
          <a:xfrm>
            <a:off x="1325880" y="2953512"/>
            <a:ext cx="685800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Few-shot learning — show what you want</a:t>
            </a:r>
            <a:endParaRPr lang="en-US" sz="1100" dirty="0"/>
          </a:p>
        </p:txBody>
      </p:sp>
      <p:sp>
        <p:nvSpPr>
          <p:cNvPr id="20" name="Shape 18"/>
          <p:cNvSpPr/>
          <p:nvPr/>
        </p:nvSpPr>
        <p:spPr>
          <a:xfrm>
            <a:off x="457200" y="3383280"/>
            <a:ext cx="8229600" cy="658368"/>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1" name="Shape 19"/>
          <p:cNvSpPr/>
          <p:nvPr/>
        </p:nvSpPr>
        <p:spPr>
          <a:xfrm>
            <a:off x="640080" y="3483864"/>
            <a:ext cx="457200" cy="457200"/>
          </a:xfrm>
          <a:prstGeom prst="ellipse">
            <a:avLst/>
          </a:prstGeom>
          <a:solidFill>
            <a:srgbClr val="FF3DAB"/>
          </a:solidFill>
          <a:ln/>
        </p:spPr>
      </p:sp>
      <p:sp>
        <p:nvSpPr>
          <p:cNvPr id="22" name="Text 20"/>
          <p:cNvSpPr/>
          <p:nvPr/>
        </p:nvSpPr>
        <p:spPr>
          <a:xfrm>
            <a:off x="640080" y="3483864"/>
            <a:ext cx="457200" cy="45720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4</a:t>
            </a:r>
            <a:endParaRPr lang="en-US" sz="1800" dirty="0"/>
          </a:p>
        </p:txBody>
      </p:sp>
      <p:sp>
        <p:nvSpPr>
          <p:cNvPr id="23" name="Text 21"/>
          <p:cNvSpPr/>
          <p:nvPr/>
        </p:nvSpPr>
        <p:spPr>
          <a:xfrm>
            <a:off x="1325880" y="342900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Quality</a:t>
            </a:r>
            <a:endParaRPr lang="en-US" sz="1600" dirty="0"/>
          </a:p>
        </p:txBody>
      </p:sp>
      <p:sp>
        <p:nvSpPr>
          <p:cNvPr id="24" name="Text 22"/>
          <p:cNvSpPr/>
          <p:nvPr/>
        </p:nvSpPr>
        <p:spPr>
          <a:xfrm>
            <a:off x="1325880" y="3730752"/>
            <a:ext cx="685800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Set criteria: "Rate confidence 1-5" or require sources</a:t>
            </a:r>
            <a:endParaRPr lang="en-US" sz="1100" dirty="0"/>
          </a:p>
        </p:txBody>
      </p:sp>
      <p:sp>
        <p:nvSpPr>
          <p:cNvPr id="25" name="Shape 23"/>
          <p:cNvSpPr/>
          <p:nvPr/>
        </p:nvSpPr>
        <p:spPr>
          <a:xfrm>
            <a:off x="457200" y="4160520"/>
            <a:ext cx="8229600" cy="658368"/>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6" name="Shape 24"/>
          <p:cNvSpPr/>
          <p:nvPr/>
        </p:nvSpPr>
        <p:spPr>
          <a:xfrm>
            <a:off x="640080" y="4261104"/>
            <a:ext cx="457200" cy="457200"/>
          </a:xfrm>
          <a:prstGeom prst="ellipse">
            <a:avLst/>
          </a:prstGeom>
          <a:solidFill>
            <a:srgbClr val="FFB347"/>
          </a:solidFill>
          <a:ln/>
        </p:spPr>
      </p:sp>
      <p:sp>
        <p:nvSpPr>
          <p:cNvPr id="27" name="Text 25"/>
          <p:cNvSpPr/>
          <p:nvPr/>
        </p:nvSpPr>
        <p:spPr>
          <a:xfrm>
            <a:off x="640080" y="4261104"/>
            <a:ext cx="457200" cy="45720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5</a:t>
            </a:r>
            <a:endParaRPr lang="en-US" sz="1800" dirty="0"/>
          </a:p>
        </p:txBody>
      </p:sp>
      <p:sp>
        <p:nvSpPr>
          <p:cNvPr id="28" name="Text 26"/>
          <p:cNvSpPr/>
          <p:nvPr/>
        </p:nvSpPr>
        <p:spPr>
          <a:xfrm>
            <a:off x="1325880" y="420624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Divide Labor</a:t>
            </a:r>
            <a:endParaRPr lang="en-US" sz="1600" dirty="0"/>
          </a:p>
        </p:txBody>
      </p:sp>
      <p:sp>
        <p:nvSpPr>
          <p:cNvPr id="29" name="Text 27"/>
          <p:cNvSpPr/>
          <p:nvPr/>
        </p:nvSpPr>
        <p:spPr>
          <a:xfrm>
            <a:off x="1325880" y="4507992"/>
            <a:ext cx="685800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Break complex tasks into sequential, focused prompts</a:t>
            </a:r>
            <a:endParaRPr lang="en-US" sz="1100" dirty="0"/>
          </a:p>
        </p:txBody>
      </p:sp>
      <p:sp>
        <p:nvSpPr>
          <p:cNvPr id="30" name="Text 28"/>
          <p:cNvSpPr/>
          <p:nvPr/>
        </p:nvSpPr>
        <p:spPr>
          <a:xfrm>
            <a:off x="731520" y="4709160"/>
            <a:ext cx="7680960" cy="27432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These five principles compose into a complete prompting system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Playwriting metaphor</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Berryman's key insight: you're writing a script, not asking a question</a:t>
            </a:r>
            <a:endParaRPr lang="en-US" sz="1100" dirty="0"/>
          </a:p>
        </p:txBody>
      </p:sp>
      <p:sp>
        <p:nvSpPr>
          <p:cNvPr id="5" name="Shape 3"/>
          <p:cNvSpPr/>
          <p:nvPr/>
        </p:nvSpPr>
        <p:spPr>
          <a:xfrm>
            <a:off x="457200" y="1097280"/>
            <a:ext cx="8229600" cy="1005840"/>
          </a:xfrm>
          <a:prstGeom prst="rect">
            <a:avLst/>
          </a:prstGeom>
          <a:solidFill>
            <a:srgbClr val="1A1028"/>
          </a:solidFill>
          <a:ln/>
          <a:effectLst>
            <a:outerShdw sx="100000" sy="100000" kx="0" ky="0" algn="bl" rotWithShape="0" blurRad="152400" dist="50800" dir="8100000">
              <a:srgbClr val="000000">
                <a:alpha val="50000"/>
              </a:srgbClr>
            </a:outerShdw>
          </a:effectLst>
        </p:spPr>
      </p:sp>
      <p:pic>
        <p:nvPicPr>
          <p:cNvPr id="6" name="Image 0" descr="preencoded.png"/>
          <p:cNvPicPr>
            <a:picLocks noChangeAspect="1"/>
          </p:cNvPicPr>
          <p:nvPr/>
        </p:nvPicPr>
        <p:blipFill>
          <a:blip r:embed="rId1"/>
          <a:stretch>
            <a:fillRect/>
          </a:stretch>
        </p:blipFill>
        <p:spPr>
          <a:xfrm>
            <a:off x="731520" y="1234440"/>
            <a:ext cx="411480" cy="411480"/>
          </a:xfrm>
          <a:prstGeom prst="rect">
            <a:avLst/>
          </a:prstGeom>
        </p:spPr>
      </p:pic>
      <p:sp>
        <p:nvSpPr>
          <p:cNvPr id="7" name="Text 4"/>
          <p:cNvSpPr/>
          <p:nvPr/>
        </p:nvSpPr>
        <p:spPr>
          <a:xfrm>
            <a:off x="1280160" y="1188720"/>
            <a:ext cx="7132320" cy="320040"/>
          </a:xfrm>
          <a:prstGeom prst="rect">
            <a:avLst/>
          </a:prstGeom>
          <a:noFill/>
          <a:ln/>
        </p:spPr>
        <p:txBody>
          <a:bodyPr wrap="square" lIns="0" tIns="0" rIns="0" bIns="0" rtlCol="0" anchor="ctr"/>
          <a:lstStyle/>
          <a:p>
            <a:pPr indent="0" marL="0">
              <a:buNone/>
            </a:pPr>
            <a:r>
              <a:rPr lang="en-US" sz="1500" b="1" dirty="0">
                <a:solidFill>
                  <a:srgbClr val="FF3DAB"/>
                </a:solidFill>
                <a:latin typeface="Arial" pitchFamily="34" charset="0"/>
                <a:ea typeface="Arial" pitchFamily="34" charset="-122"/>
                <a:cs typeface="Arial" pitchFamily="34" charset="-120"/>
              </a:rPr>
              <a:t>You're not interrogating a database.</a:t>
            </a:r>
            <a:endParaRPr lang="en-US" sz="1500" dirty="0"/>
          </a:p>
        </p:txBody>
      </p:sp>
      <p:sp>
        <p:nvSpPr>
          <p:cNvPr id="8" name="Text 5"/>
          <p:cNvSpPr/>
          <p:nvPr/>
        </p:nvSpPr>
        <p:spPr>
          <a:xfrm>
            <a:off x="731520" y="1600200"/>
            <a:ext cx="7680960" cy="41148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You're writing a script for a brilliant actor. Set the stage, cast the role, write opening lines, and direct the scene.</a:t>
            </a:r>
            <a:endParaRPr lang="en-US" sz="1100" dirty="0"/>
          </a:p>
        </p:txBody>
      </p:sp>
      <p:sp>
        <p:nvSpPr>
          <p:cNvPr id="9" name="Shape 6"/>
          <p:cNvSpPr/>
          <p:nvPr/>
        </p:nvSpPr>
        <p:spPr>
          <a:xfrm>
            <a:off x="457200" y="2377440"/>
            <a:ext cx="3931920" cy="9144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0" name="Shape 7"/>
          <p:cNvSpPr/>
          <p:nvPr/>
        </p:nvSpPr>
        <p:spPr>
          <a:xfrm>
            <a:off x="457200" y="2377440"/>
            <a:ext cx="54864" cy="914400"/>
          </a:xfrm>
          <a:prstGeom prst="rect">
            <a:avLst/>
          </a:prstGeom>
          <a:solidFill>
            <a:srgbClr val="E91E8C"/>
          </a:solidFill>
          <a:ln/>
        </p:spPr>
      </p:sp>
      <p:sp>
        <p:nvSpPr>
          <p:cNvPr id="11" name="Text 8"/>
          <p:cNvSpPr/>
          <p:nvPr/>
        </p:nvSpPr>
        <p:spPr>
          <a:xfrm>
            <a:off x="685800" y="2468880"/>
            <a:ext cx="3474720" cy="320040"/>
          </a:xfrm>
          <a:prstGeom prst="rect">
            <a:avLst/>
          </a:prstGeom>
          <a:noFill/>
          <a:ln/>
        </p:spPr>
        <p:txBody>
          <a:bodyPr wrap="square" lIns="0" tIns="0" rIns="0" bIns="0" rtlCol="0" anchor="ctr"/>
          <a:lstStyle/>
          <a:p>
            <a:pPr indent="0" marL="0">
              <a:buNone/>
            </a:pPr>
            <a:r>
              <a:rPr lang="en-US" sz="1500" b="1" dirty="0">
                <a:solidFill>
                  <a:srgbClr val="E91E8C"/>
                </a:solidFill>
                <a:latin typeface="Arial" pitchFamily="34" charset="0"/>
                <a:ea typeface="Arial" pitchFamily="34" charset="-122"/>
                <a:cs typeface="Arial" pitchFamily="34" charset="-120"/>
              </a:rPr>
              <a:t>Set the Stage</a:t>
            </a:r>
            <a:endParaRPr lang="en-US" sz="1500" dirty="0"/>
          </a:p>
        </p:txBody>
      </p:sp>
      <p:sp>
        <p:nvSpPr>
          <p:cNvPr id="12" name="Text 9"/>
          <p:cNvSpPr/>
          <p:nvPr/>
        </p:nvSpPr>
        <p:spPr>
          <a:xfrm>
            <a:off x="685800" y="2816352"/>
            <a:ext cx="347472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Context &amp; background — what's the situation?</a:t>
            </a:r>
            <a:endParaRPr lang="en-US" sz="1100" dirty="0"/>
          </a:p>
        </p:txBody>
      </p:sp>
      <p:sp>
        <p:nvSpPr>
          <p:cNvPr id="13" name="Shape 10"/>
          <p:cNvSpPr/>
          <p:nvPr/>
        </p:nvSpPr>
        <p:spPr>
          <a:xfrm>
            <a:off x="4754880" y="2377440"/>
            <a:ext cx="3931920" cy="9144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4" name="Shape 11"/>
          <p:cNvSpPr/>
          <p:nvPr/>
        </p:nvSpPr>
        <p:spPr>
          <a:xfrm>
            <a:off x="4754880" y="2377440"/>
            <a:ext cx="54864" cy="914400"/>
          </a:xfrm>
          <a:prstGeom prst="rect">
            <a:avLst/>
          </a:prstGeom>
          <a:solidFill>
            <a:srgbClr val="4A9FFF"/>
          </a:solidFill>
          <a:ln/>
        </p:spPr>
      </p:sp>
      <p:sp>
        <p:nvSpPr>
          <p:cNvPr id="15" name="Text 12"/>
          <p:cNvSpPr/>
          <p:nvPr/>
        </p:nvSpPr>
        <p:spPr>
          <a:xfrm>
            <a:off x="4983480" y="2468880"/>
            <a:ext cx="3474720" cy="320040"/>
          </a:xfrm>
          <a:prstGeom prst="rect">
            <a:avLst/>
          </a:prstGeom>
          <a:noFill/>
          <a:ln/>
        </p:spPr>
        <p:txBody>
          <a:bodyPr wrap="square" lIns="0" tIns="0" rIns="0" bIns="0" rtlCol="0" anchor="ctr"/>
          <a:lstStyle/>
          <a:p>
            <a:pPr indent="0" marL="0">
              <a:buNone/>
            </a:pPr>
            <a:r>
              <a:rPr lang="en-US" sz="1500" b="1" dirty="0">
                <a:solidFill>
                  <a:srgbClr val="4A9FFF"/>
                </a:solidFill>
                <a:latin typeface="Arial" pitchFamily="34" charset="0"/>
                <a:ea typeface="Arial" pitchFamily="34" charset="-122"/>
                <a:cs typeface="Arial" pitchFamily="34" charset="-120"/>
              </a:rPr>
              <a:t>Cast the Role</a:t>
            </a:r>
            <a:endParaRPr lang="en-US" sz="1500" dirty="0"/>
          </a:p>
        </p:txBody>
      </p:sp>
      <p:sp>
        <p:nvSpPr>
          <p:cNvPr id="16" name="Text 13"/>
          <p:cNvSpPr/>
          <p:nvPr/>
        </p:nvSpPr>
        <p:spPr>
          <a:xfrm>
            <a:off x="4983480" y="2816352"/>
            <a:ext cx="347472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Persona &amp; expertise — who should the AI be?</a:t>
            </a:r>
            <a:endParaRPr lang="en-US" sz="1100" dirty="0"/>
          </a:p>
        </p:txBody>
      </p:sp>
      <p:sp>
        <p:nvSpPr>
          <p:cNvPr id="17" name="Shape 14"/>
          <p:cNvSpPr/>
          <p:nvPr/>
        </p:nvSpPr>
        <p:spPr>
          <a:xfrm>
            <a:off x="457200" y="3520440"/>
            <a:ext cx="3931920" cy="9144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8" name="Shape 15"/>
          <p:cNvSpPr/>
          <p:nvPr/>
        </p:nvSpPr>
        <p:spPr>
          <a:xfrm>
            <a:off x="457200" y="3520440"/>
            <a:ext cx="54864" cy="914400"/>
          </a:xfrm>
          <a:prstGeom prst="rect">
            <a:avLst/>
          </a:prstGeom>
          <a:solidFill>
            <a:srgbClr val="00D4AA"/>
          </a:solidFill>
          <a:ln/>
        </p:spPr>
      </p:sp>
      <p:sp>
        <p:nvSpPr>
          <p:cNvPr id="19" name="Text 16"/>
          <p:cNvSpPr/>
          <p:nvPr/>
        </p:nvSpPr>
        <p:spPr>
          <a:xfrm>
            <a:off x="685800" y="3611880"/>
            <a:ext cx="3474720" cy="320040"/>
          </a:xfrm>
          <a:prstGeom prst="rect">
            <a:avLst/>
          </a:prstGeom>
          <a:noFill/>
          <a:ln/>
        </p:spPr>
        <p:txBody>
          <a:bodyPr wrap="square" lIns="0" tIns="0" rIns="0" bIns="0" rtlCol="0" anchor="ctr"/>
          <a:lstStyle/>
          <a:p>
            <a:pPr indent="0" marL="0">
              <a:buNone/>
            </a:pPr>
            <a:r>
              <a:rPr lang="en-US" sz="1500" b="1" dirty="0">
                <a:solidFill>
                  <a:srgbClr val="00D4AA"/>
                </a:solidFill>
                <a:latin typeface="Arial" pitchFamily="34" charset="0"/>
                <a:ea typeface="Arial" pitchFamily="34" charset="-122"/>
                <a:cs typeface="Arial" pitchFamily="34" charset="-120"/>
              </a:rPr>
              <a:t>Write the Lines</a:t>
            </a:r>
            <a:endParaRPr lang="en-US" sz="1500" dirty="0"/>
          </a:p>
        </p:txBody>
      </p:sp>
      <p:sp>
        <p:nvSpPr>
          <p:cNvPr id="20" name="Text 17"/>
          <p:cNvSpPr/>
          <p:nvPr/>
        </p:nvSpPr>
        <p:spPr>
          <a:xfrm>
            <a:off x="685800" y="3959352"/>
            <a:ext cx="347472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Examples &amp; patterns — show the style you want</a:t>
            </a:r>
            <a:endParaRPr lang="en-US" sz="1100" dirty="0"/>
          </a:p>
        </p:txBody>
      </p:sp>
      <p:sp>
        <p:nvSpPr>
          <p:cNvPr id="21" name="Shape 18"/>
          <p:cNvSpPr/>
          <p:nvPr/>
        </p:nvSpPr>
        <p:spPr>
          <a:xfrm>
            <a:off x="4754880" y="3520440"/>
            <a:ext cx="3931920" cy="9144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2" name="Shape 19"/>
          <p:cNvSpPr/>
          <p:nvPr/>
        </p:nvSpPr>
        <p:spPr>
          <a:xfrm>
            <a:off x="4754880" y="3520440"/>
            <a:ext cx="54864" cy="914400"/>
          </a:xfrm>
          <a:prstGeom prst="rect">
            <a:avLst/>
          </a:prstGeom>
          <a:solidFill>
            <a:srgbClr val="FF3DAB"/>
          </a:solidFill>
          <a:ln/>
        </p:spPr>
      </p:sp>
      <p:sp>
        <p:nvSpPr>
          <p:cNvPr id="23" name="Text 20"/>
          <p:cNvSpPr/>
          <p:nvPr/>
        </p:nvSpPr>
        <p:spPr>
          <a:xfrm>
            <a:off x="4983480" y="3611880"/>
            <a:ext cx="3474720" cy="320040"/>
          </a:xfrm>
          <a:prstGeom prst="rect">
            <a:avLst/>
          </a:prstGeom>
          <a:noFill/>
          <a:ln/>
        </p:spPr>
        <p:txBody>
          <a:bodyPr wrap="square" lIns="0" tIns="0" rIns="0" bIns="0" rtlCol="0" anchor="ctr"/>
          <a:lstStyle/>
          <a:p>
            <a:pPr indent="0" marL="0">
              <a:buNone/>
            </a:pPr>
            <a:r>
              <a:rPr lang="en-US" sz="1500" b="1" dirty="0">
                <a:solidFill>
                  <a:srgbClr val="FF3DAB"/>
                </a:solidFill>
                <a:latin typeface="Arial" pitchFamily="34" charset="0"/>
                <a:ea typeface="Arial" pitchFamily="34" charset="-122"/>
                <a:cs typeface="Arial" pitchFamily="34" charset="-120"/>
              </a:rPr>
              <a:t>Direct the Scene</a:t>
            </a:r>
            <a:endParaRPr lang="en-US" sz="1500" dirty="0"/>
          </a:p>
        </p:txBody>
      </p:sp>
      <p:sp>
        <p:nvSpPr>
          <p:cNvPr id="24" name="Text 21"/>
          <p:cNvSpPr/>
          <p:nvPr/>
        </p:nvSpPr>
        <p:spPr>
          <a:xfrm>
            <a:off x="4983480" y="3959352"/>
            <a:ext cx="347472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Constraints &amp; format — set the boundaries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Choose your document type</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right frame for the right task (Chapter 4)</a:t>
            </a:r>
            <a:endParaRPr lang="en-US" sz="1100" dirty="0"/>
          </a:p>
        </p:txBody>
      </p:sp>
      <p:sp>
        <p:nvSpPr>
          <p:cNvPr id="5" name="Shape 3"/>
          <p:cNvSpPr/>
          <p:nvPr/>
        </p:nvSpPr>
        <p:spPr>
          <a:xfrm>
            <a:off x="457200" y="1097280"/>
            <a:ext cx="2560320" cy="301752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97280"/>
            <a:ext cx="2560320" cy="54864"/>
          </a:xfrm>
          <a:prstGeom prst="rect">
            <a:avLst/>
          </a:prstGeom>
          <a:solidFill>
            <a:srgbClr val="E91E8C"/>
          </a:solidFill>
          <a:ln/>
        </p:spPr>
      </p:sp>
      <p:pic>
        <p:nvPicPr>
          <p:cNvPr id="7" name="Image 0" descr="preencoded.png"/>
          <p:cNvPicPr>
            <a:picLocks noChangeAspect="1"/>
          </p:cNvPicPr>
          <p:nvPr/>
        </p:nvPicPr>
        <p:blipFill>
          <a:blip r:embed="rId1"/>
          <a:stretch>
            <a:fillRect/>
          </a:stretch>
        </p:blipFill>
        <p:spPr>
          <a:xfrm>
            <a:off x="640080" y="1325880"/>
            <a:ext cx="365760" cy="365760"/>
          </a:xfrm>
          <a:prstGeom prst="rect">
            <a:avLst/>
          </a:prstGeom>
        </p:spPr>
      </p:pic>
      <p:sp>
        <p:nvSpPr>
          <p:cNvPr id="8" name="Text 5"/>
          <p:cNvSpPr/>
          <p:nvPr/>
        </p:nvSpPr>
        <p:spPr>
          <a:xfrm>
            <a:off x="594360" y="1783080"/>
            <a:ext cx="2286000" cy="502920"/>
          </a:xfrm>
          <a:prstGeom prst="rect">
            <a:avLst/>
          </a:prstGeom>
          <a:noFill/>
          <a:ln/>
        </p:spPr>
        <p:txBody>
          <a:bodyPr wrap="square" lIns="0" tIns="0" rIns="0" bIns="0" rtlCol="0" anchor="ctr"/>
          <a:lstStyle/>
          <a:p>
            <a:pPr indent="0" marL="0">
              <a:buNone/>
            </a:pPr>
            <a:r>
              <a:rPr lang="en-US" sz="1400" b="1" dirty="0">
                <a:solidFill>
                  <a:srgbClr val="E91E8C"/>
                </a:solidFill>
                <a:latin typeface="Arial" pitchFamily="34" charset="0"/>
                <a:ea typeface="Arial" pitchFamily="34" charset="-122"/>
                <a:cs typeface="Arial" pitchFamily="34" charset="-120"/>
              </a:rPr>
              <a:t>Advice</a:t>
            </a:r>
            <a:endParaRPr lang="en-US" sz="1400" dirty="0"/>
          </a:p>
          <a:p>
            <a:pPr indent="0" marL="0">
              <a:buNone/>
            </a:pPr>
            <a:r>
              <a:rPr lang="en-US" sz="1400" b="1" dirty="0">
                <a:solidFill>
                  <a:srgbClr val="E91E8C"/>
                </a:solidFill>
                <a:latin typeface="Arial" pitchFamily="34" charset="0"/>
                <a:ea typeface="Arial" pitchFamily="34" charset="-122"/>
                <a:cs typeface="Arial" pitchFamily="34" charset="-120"/>
              </a:rPr>
              <a:t>Conversation</a:t>
            </a:r>
            <a:endParaRPr lang="en-US" sz="1400" dirty="0"/>
          </a:p>
        </p:txBody>
      </p:sp>
      <p:sp>
        <p:nvSpPr>
          <p:cNvPr id="9" name="Text 6"/>
          <p:cNvSpPr/>
          <p:nvPr/>
        </p:nvSpPr>
        <p:spPr>
          <a:xfrm>
            <a:off x="594360" y="2286000"/>
            <a:ext cx="228600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Natural Q&amp;A dialogue</a:t>
            </a:r>
            <a:endParaRPr lang="en-US" sz="1100" dirty="0"/>
          </a:p>
        </p:txBody>
      </p:sp>
      <p:sp>
        <p:nvSpPr>
          <p:cNvPr id="10" name="Shape 7"/>
          <p:cNvSpPr/>
          <p:nvPr/>
        </p:nvSpPr>
        <p:spPr>
          <a:xfrm>
            <a:off x="594360" y="2606040"/>
            <a:ext cx="2286000" cy="9144"/>
          </a:xfrm>
          <a:prstGeom prst="rect">
            <a:avLst/>
          </a:prstGeom>
          <a:solidFill>
            <a:srgbClr val="E91E8C">
              <a:alpha val="40000"/>
            </a:srgbClr>
          </a:solidFill>
          <a:ln/>
        </p:spPr>
      </p:sp>
      <p:sp>
        <p:nvSpPr>
          <p:cNvPr id="11" name="Text 8"/>
          <p:cNvSpPr/>
          <p:nvPr/>
        </p:nvSpPr>
        <p:spPr>
          <a:xfrm>
            <a:off x="594360" y="2697480"/>
            <a:ext cx="2286000" cy="109728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Questions &amp; brainstorming</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Explanations</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Exploration &amp; ideation</a:t>
            </a:r>
            <a:endParaRPr lang="en-US" sz="1050" dirty="0"/>
          </a:p>
        </p:txBody>
      </p:sp>
      <p:sp>
        <p:nvSpPr>
          <p:cNvPr id="12" name="Shape 9"/>
          <p:cNvSpPr/>
          <p:nvPr/>
        </p:nvSpPr>
        <p:spPr>
          <a:xfrm>
            <a:off x="3291840" y="1097280"/>
            <a:ext cx="2560320" cy="301752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3" name="Shape 10"/>
          <p:cNvSpPr/>
          <p:nvPr/>
        </p:nvSpPr>
        <p:spPr>
          <a:xfrm>
            <a:off x="3291840" y="1097280"/>
            <a:ext cx="2560320" cy="54864"/>
          </a:xfrm>
          <a:prstGeom prst="rect">
            <a:avLst/>
          </a:prstGeom>
          <a:solidFill>
            <a:srgbClr val="4A9FFF"/>
          </a:solidFill>
          <a:ln/>
        </p:spPr>
      </p:sp>
      <p:pic>
        <p:nvPicPr>
          <p:cNvPr id="14" name="Image 1" descr="preencoded.png"/>
          <p:cNvPicPr>
            <a:picLocks noChangeAspect="1"/>
          </p:cNvPicPr>
          <p:nvPr/>
        </p:nvPicPr>
        <p:blipFill>
          <a:blip r:embed="rId2"/>
          <a:stretch>
            <a:fillRect/>
          </a:stretch>
        </p:blipFill>
        <p:spPr>
          <a:xfrm>
            <a:off x="3474720" y="1325880"/>
            <a:ext cx="365760" cy="365760"/>
          </a:xfrm>
          <a:prstGeom prst="rect">
            <a:avLst/>
          </a:prstGeom>
        </p:spPr>
      </p:pic>
      <p:sp>
        <p:nvSpPr>
          <p:cNvPr id="15" name="Text 11"/>
          <p:cNvSpPr/>
          <p:nvPr/>
        </p:nvSpPr>
        <p:spPr>
          <a:xfrm>
            <a:off x="3429000" y="1783080"/>
            <a:ext cx="2286000" cy="502920"/>
          </a:xfrm>
          <a:prstGeom prst="rect">
            <a:avLst/>
          </a:prstGeom>
          <a:noFill/>
          <a:ln/>
        </p:spPr>
        <p:txBody>
          <a:bodyPr wrap="square" lIns="0" tIns="0" rIns="0" bIns="0" rtlCol="0" anchor="ctr"/>
          <a:lstStyle/>
          <a:p>
            <a:pPr indent="0" marL="0">
              <a:buNone/>
            </a:pPr>
            <a:r>
              <a:rPr lang="en-US" sz="1400" b="1" dirty="0">
                <a:solidFill>
                  <a:srgbClr val="4A9FFF"/>
                </a:solidFill>
                <a:latin typeface="Arial" pitchFamily="34" charset="0"/>
                <a:ea typeface="Arial" pitchFamily="34" charset="-122"/>
                <a:cs typeface="Arial" pitchFamily="34" charset="-120"/>
              </a:rPr>
              <a:t>Analytic</a:t>
            </a:r>
            <a:endParaRPr lang="en-US" sz="1400" dirty="0"/>
          </a:p>
          <a:p>
            <a:pPr indent="0" marL="0">
              <a:buNone/>
            </a:pPr>
            <a:r>
              <a:rPr lang="en-US" sz="1400" b="1" dirty="0">
                <a:solidFill>
                  <a:srgbClr val="4A9FFF"/>
                </a:solidFill>
                <a:latin typeface="Arial" pitchFamily="34" charset="0"/>
                <a:ea typeface="Arial" pitchFamily="34" charset="-122"/>
                <a:cs typeface="Arial" pitchFamily="34" charset="-120"/>
              </a:rPr>
              <a:t>Report</a:t>
            </a:r>
            <a:endParaRPr lang="en-US" sz="1400" dirty="0"/>
          </a:p>
        </p:txBody>
      </p:sp>
      <p:sp>
        <p:nvSpPr>
          <p:cNvPr id="16" name="Text 12"/>
          <p:cNvSpPr/>
          <p:nvPr/>
        </p:nvSpPr>
        <p:spPr>
          <a:xfrm>
            <a:off x="3429000" y="2286000"/>
            <a:ext cx="228600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Formal structured analysis</a:t>
            </a:r>
            <a:endParaRPr lang="en-US" sz="1100" dirty="0"/>
          </a:p>
        </p:txBody>
      </p:sp>
      <p:sp>
        <p:nvSpPr>
          <p:cNvPr id="17" name="Shape 13"/>
          <p:cNvSpPr/>
          <p:nvPr/>
        </p:nvSpPr>
        <p:spPr>
          <a:xfrm>
            <a:off x="3429000" y="2606040"/>
            <a:ext cx="2286000" cy="9144"/>
          </a:xfrm>
          <a:prstGeom prst="rect">
            <a:avLst/>
          </a:prstGeom>
          <a:solidFill>
            <a:srgbClr val="4A9FFF">
              <a:alpha val="40000"/>
            </a:srgbClr>
          </a:solidFill>
          <a:ln/>
        </p:spPr>
      </p:sp>
      <p:sp>
        <p:nvSpPr>
          <p:cNvPr id="18" name="Text 14"/>
          <p:cNvSpPr/>
          <p:nvPr/>
        </p:nvSpPr>
        <p:spPr>
          <a:xfrm>
            <a:off x="3429000" y="2697480"/>
            <a:ext cx="2286000" cy="109728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Code review</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Data analysis</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Evaluation &amp; comparison</a:t>
            </a:r>
            <a:endParaRPr lang="en-US" sz="1050" dirty="0"/>
          </a:p>
        </p:txBody>
      </p:sp>
      <p:sp>
        <p:nvSpPr>
          <p:cNvPr id="19" name="Shape 15"/>
          <p:cNvSpPr/>
          <p:nvPr/>
        </p:nvSpPr>
        <p:spPr>
          <a:xfrm>
            <a:off x="6126480" y="1097280"/>
            <a:ext cx="2560320" cy="301752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20" name="Shape 16"/>
          <p:cNvSpPr/>
          <p:nvPr/>
        </p:nvSpPr>
        <p:spPr>
          <a:xfrm>
            <a:off x="6126480" y="1097280"/>
            <a:ext cx="2560320" cy="54864"/>
          </a:xfrm>
          <a:prstGeom prst="rect">
            <a:avLst/>
          </a:prstGeom>
          <a:solidFill>
            <a:srgbClr val="00D4AA"/>
          </a:solidFill>
          <a:ln/>
        </p:spPr>
      </p:sp>
      <p:pic>
        <p:nvPicPr>
          <p:cNvPr id="21" name="Image 2" descr="preencoded.png"/>
          <p:cNvPicPr>
            <a:picLocks noChangeAspect="1"/>
          </p:cNvPicPr>
          <p:nvPr/>
        </p:nvPicPr>
        <p:blipFill>
          <a:blip r:embed="rId3"/>
          <a:stretch>
            <a:fillRect/>
          </a:stretch>
        </p:blipFill>
        <p:spPr>
          <a:xfrm>
            <a:off x="6309360" y="1325880"/>
            <a:ext cx="365760" cy="365760"/>
          </a:xfrm>
          <a:prstGeom prst="rect">
            <a:avLst/>
          </a:prstGeom>
        </p:spPr>
      </p:pic>
      <p:sp>
        <p:nvSpPr>
          <p:cNvPr id="22" name="Text 17"/>
          <p:cNvSpPr/>
          <p:nvPr/>
        </p:nvSpPr>
        <p:spPr>
          <a:xfrm>
            <a:off x="6263640" y="1783080"/>
            <a:ext cx="2286000" cy="50292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Structured</a:t>
            </a:r>
            <a:endParaRPr lang="en-US" sz="1400" dirty="0"/>
          </a:p>
          <a:p>
            <a:pPr indent="0" marL="0">
              <a:buNone/>
            </a:pPr>
            <a:r>
              <a:rPr lang="en-US" sz="1400" b="1" dirty="0">
                <a:solidFill>
                  <a:srgbClr val="00D4AA"/>
                </a:solidFill>
                <a:latin typeface="Arial" pitchFamily="34" charset="0"/>
                <a:ea typeface="Arial" pitchFamily="34" charset="-122"/>
                <a:cs typeface="Arial" pitchFamily="34" charset="-120"/>
              </a:rPr>
              <a:t>Document</a:t>
            </a:r>
            <a:endParaRPr lang="en-US" sz="1400" dirty="0"/>
          </a:p>
        </p:txBody>
      </p:sp>
      <p:sp>
        <p:nvSpPr>
          <p:cNvPr id="23" name="Text 18"/>
          <p:cNvSpPr/>
          <p:nvPr/>
        </p:nvSpPr>
        <p:spPr>
          <a:xfrm>
            <a:off x="6263640" y="2286000"/>
            <a:ext cx="228600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Fixed format output</a:t>
            </a:r>
            <a:endParaRPr lang="en-US" sz="1100" dirty="0"/>
          </a:p>
        </p:txBody>
      </p:sp>
      <p:sp>
        <p:nvSpPr>
          <p:cNvPr id="24" name="Shape 19"/>
          <p:cNvSpPr/>
          <p:nvPr/>
        </p:nvSpPr>
        <p:spPr>
          <a:xfrm>
            <a:off x="6263640" y="2606040"/>
            <a:ext cx="2286000" cy="9144"/>
          </a:xfrm>
          <a:prstGeom prst="rect">
            <a:avLst/>
          </a:prstGeom>
          <a:solidFill>
            <a:srgbClr val="00D4AA">
              <a:alpha val="40000"/>
            </a:srgbClr>
          </a:solidFill>
          <a:ln/>
        </p:spPr>
      </p:sp>
      <p:sp>
        <p:nvSpPr>
          <p:cNvPr id="25" name="Text 20"/>
          <p:cNvSpPr/>
          <p:nvPr/>
        </p:nvSpPr>
        <p:spPr>
          <a:xfrm>
            <a:off x="6263640" y="2697480"/>
            <a:ext cx="2286000" cy="109728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JSON / CSV / tables</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Templates &amp; forms</a:t>
            </a:r>
            <a:endParaRPr lang="en-US" sz="1050" dirty="0"/>
          </a:p>
          <a:p>
            <a:pPr indent="0" marL="0">
              <a:buNone/>
            </a:pPr>
            <a:r>
              <a:rPr lang="en-US" sz="1050" dirty="0">
                <a:solidFill>
                  <a:srgbClr val="9B9BB0"/>
                </a:solidFill>
                <a:latin typeface="Arial" pitchFamily="34" charset="0"/>
                <a:ea typeface="Arial" pitchFamily="34" charset="-122"/>
                <a:cs typeface="Arial" pitchFamily="34" charset="-120"/>
              </a:rPr>
              <a:t>Standardized docs</a:t>
            </a:r>
            <a:endParaRPr lang="en-US" sz="1050" dirty="0"/>
          </a:p>
        </p:txBody>
      </p:sp>
      <p:sp>
        <p:nvSpPr>
          <p:cNvPr id="26" name="Text 21"/>
          <p:cNvSpPr/>
          <p:nvPr/>
        </p:nvSpPr>
        <p:spPr>
          <a:xfrm>
            <a:off x="457200" y="4389120"/>
            <a:ext cx="8229600" cy="45720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Most people default to Advice Conversation — but the others are often more effective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Prompt element relationships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Position, Importance &amp; Dependency — how elements interact (Chapter 6)</a:t>
            </a:r>
            <a:endParaRPr lang="en-US" sz="1100" dirty="0"/>
          </a:p>
        </p:txBody>
      </p:sp>
      <p:sp>
        <p:nvSpPr>
          <p:cNvPr id="5" name="Shape 3"/>
          <p:cNvSpPr/>
          <p:nvPr/>
        </p:nvSpPr>
        <p:spPr>
          <a:xfrm>
            <a:off x="457200" y="1097280"/>
            <a:ext cx="2560320" cy="29260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97280"/>
            <a:ext cx="2560320" cy="54864"/>
          </a:xfrm>
          <a:prstGeom prst="rect">
            <a:avLst/>
          </a:prstGeom>
          <a:solidFill>
            <a:srgbClr val="E91E8C"/>
          </a:solidFill>
          <a:ln/>
        </p:spPr>
      </p:sp>
      <p:sp>
        <p:nvSpPr>
          <p:cNvPr id="7" name="Text 5"/>
          <p:cNvSpPr/>
          <p:nvPr/>
        </p:nvSpPr>
        <p:spPr>
          <a:xfrm>
            <a:off x="594360" y="1325880"/>
            <a:ext cx="2286000" cy="365760"/>
          </a:xfrm>
          <a:prstGeom prst="rect">
            <a:avLst/>
          </a:prstGeom>
          <a:noFill/>
          <a:ln/>
        </p:spPr>
        <p:txBody>
          <a:bodyPr wrap="square" lIns="0" tIns="0" rIns="0" bIns="0" rtlCol="0" anchor="ctr"/>
          <a:lstStyle/>
          <a:p>
            <a:pPr indent="0" marL="0">
              <a:buNone/>
            </a:pPr>
            <a:r>
              <a:rPr lang="en-US" sz="1800" dirty="0">
                <a:solidFill>
                  <a:srgbClr val="E91E8C"/>
                </a:solidFill>
                <a:latin typeface="Arial Black" pitchFamily="34" charset="0"/>
                <a:ea typeface="Arial Black" pitchFamily="34" charset="-122"/>
                <a:cs typeface="Arial Black" pitchFamily="34" charset="-120"/>
              </a:rPr>
              <a:t>Position</a:t>
            </a:r>
            <a:endParaRPr lang="en-US" sz="1800" dirty="0"/>
          </a:p>
        </p:txBody>
      </p:sp>
      <p:sp>
        <p:nvSpPr>
          <p:cNvPr id="8" name="Text 6"/>
          <p:cNvSpPr/>
          <p:nvPr/>
        </p:nvSpPr>
        <p:spPr>
          <a:xfrm>
            <a:off x="594360" y="1691640"/>
            <a:ext cx="2286000" cy="274320"/>
          </a:xfrm>
          <a:prstGeom prst="rect">
            <a:avLst/>
          </a:prstGeom>
          <a:noFill/>
          <a:ln/>
        </p:spPr>
        <p:txBody>
          <a:bodyPr wrap="square" lIns="0" tIns="0" rIns="0" bIns="0" rtlCol="0" anchor="ctr"/>
          <a:lstStyle/>
          <a:p>
            <a:pPr indent="0" marL="0">
              <a:buNone/>
            </a:pPr>
            <a:r>
              <a:rPr lang="en-US" sz="1100" b="1" dirty="0">
                <a:solidFill>
                  <a:srgbClr val="C8C8D8"/>
                </a:solidFill>
                <a:latin typeface="Arial" pitchFamily="34" charset="0"/>
                <a:ea typeface="Arial" pitchFamily="34" charset="-122"/>
                <a:cs typeface="Arial" pitchFamily="34" charset="-120"/>
              </a:rPr>
              <a:t>Where you place it matters</a:t>
            </a:r>
            <a:endParaRPr lang="en-US" sz="1100" dirty="0"/>
          </a:p>
        </p:txBody>
      </p:sp>
      <p:sp>
        <p:nvSpPr>
          <p:cNvPr id="9" name="Shape 7"/>
          <p:cNvSpPr/>
          <p:nvPr/>
        </p:nvSpPr>
        <p:spPr>
          <a:xfrm>
            <a:off x="594360" y="2057400"/>
            <a:ext cx="2286000" cy="9144"/>
          </a:xfrm>
          <a:prstGeom prst="rect">
            <a:avLst/>
          </a:prstGeom>
          <a:solidFill>
            <a:srgbClr val="E91E8C">
              <a:alpha val="40000"/>
            </a:srgbClr>
          </a:solidFill>
          <a:ln/>
        </p:spPr>
      </p:sp>
      <p:sp>
        <p:nvSpPr>
          <p:cNvPr id="10" name="Text 8"/>
          <p:cNvSpPr/>
          <p:nvPr/>
        </p:nvSpPr>
        <p:spPr>
          <a:xfrm>
            <a:off x="594360" y="2194560"/>
            <a:ext cx="2286000" cy="155448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Elements at the START and END get the most attention. Put critical constraints early.</a:t>
            </a:r>
            <a:endParaRPr lang="en-US" sz="1100" dirty="0"/>
          </a:p>
        </p:txBody>
      </p:sp>
      <p:sp>
        <p:nvSpPr>
          <p:cNvPr id="11" name="Shape 9"/>
          <p:cNvSpPr/>
          <p:nvPr/>
        </p:nvSpPr>
        <p:spPr>
          <a:xfrm>
            <a:off x="3291840" y="1097280"/>
            <a:ext cx="2560320" cy="29260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2" name="Shape 10"/>
          <p:cNvSpPr/>
          <p:nvPr/>
        </p:nvSpPr>
        <p:spPr>
          <a:xfrm>
            <a:off x="3291840" y="1097280"/>
            <a:ext cx="2560320" cy="54864"/>
          </a:xfrm>
          <a:prstGeom prst="rect">
            <a:avLst/>
          </a:prstGeom>
          <a:solidFill>
            <a:srgbClr val="4A9FFF"/>
          </a:solidFill>
          <a:ln/>
        </p:spPr>
      </p:sp>
      <p:sp>
        <p:nvSpPr>
          <p:cNvPr id="13" name="Text 11"/>
          <p:cNvSpPr/>
          <p:nvPr/>
        </p:nvSpPr>
        <p:spPr>
          <a:xfrm>
            <a:off x="3429000" y="1325880"/>
            <a:ext cx="2286000" cy="365760"/>
          </a:xfrm>
          <a:prstGeom prst="rect">
            <a:avLst/>
          </a:prstGeom>
          <a:noFill/>
          <a:ln/>
        </p:spPr>
        <p:txBody>
          <a:bodyPr wrap="square" lIns="0" tIns="0" rIns="0" bIns="0" rtlCol="0" anchor="ctr"/>
          <a:lstStyle/>
          <a:p>
            <a:pPr indent="0" marL="0">
              <a:buNone/>
            </a:pPr>
            <a:r>
              <a:rPr lang="en-US" sz="1800" dirty="0">
                <a:solidFill>
                  <a:srgbClr val="4A9FFF"/>
                </a:solidFill>
                <a:latin typeface="Arial Black" pitchFamily="34" charset="0"/>
                <a:ea typeface="Arial Black" pitchFamily="34" charset="-122"/>
                <a:cs typeface="Arial Black" pitchFamily="34" charset="-120"/>
              </a:rPr>
              <a:t>Importance</a:t>
            </a:r>
            <a:endParaRPr lang="en-US" sz="1800" dirty="0"/>
          </a:p>
        </p:txBody>
      </p:sp>
      <p:sp>
        <p:nvSpPr>
          <p:cNvPr id="14" name="Text 12"/>
          <p:cNvSpPr/>
          <p:nvPr/>
        </p:nvSpPr>
        <p:spPr>
          <a:xfrm>
            <a:off x="3429000" y="1691640"/>
            <a:ext cx="2286000" cy="274320"/>
          </a:xfrm>
          <a:prstGeom prst="rect">
            <a:avLst/>
          </a:prstGeom>
          <a:noFill/>
          <a:ln/>
        </p:spPr>
        <p:txBody>
          <a:bodyPr wrap="square" lIns="0" tIns="0" rIns="0" bIns="0" rtlCol="0" anchor="ctr"/>
          <a:lstStyle/>
          <a:p>
            <a:pPr indent="0" marL="0">
              <a:buNone/>
            </a:pPr>
            <a:r>
              <a:rPr lang="en-US" sz="1100" b="1" dirty="0">
                <a:solidFill>
                  <a:srgbClr val="C8C8D8"/>
                </a:solidFill>
                <a:latin typeface="Arial" pitchFamily="34" charset="0"/>
                <a:ea typeface="Arial" pitchFamily="34" charset="-122"/>
                <a:cs typeface="Arial" pitchFamily="34" charset="-120"/>
              </a:rPr>
              <a:t>Not all elements are equal</a:t>
            </a:r>
            <a:endParaRPr lang="en-US" sz="1100" dirty="0"/>
          </a:p>
        </p:txBody>
      </p:sp>
      <p:sp>
        <p:nvSpPr>
          <p:cNvPr id="15" name="Shape 13"/>
          <p:cNvSpPr/>
          <p:nvPr/>
        </p:nvSpPr>
        <p:spPr>
          <a:xfrm>
            <a:off x="3429000" y="2057400"/>
            <a:ext cx="2286000" cy="9144"/>
          </a:xfrm>
          <a:prstGeom prst="rect">
            <a:avLst/>
          </a:prstGeom>
          <a:solidFill>
            <a:srgbClr val="4A9FFF">
              <a:alpha val="40000"/>
            </a:srgbClr>
          </a:solidFill>
          <a:ln/>
        </p:spPr>
      </p:sp>
      <p:sp>
        <p:nvSpPr>
          <p:cNvPr id="16" name="Text 14"/>
          <p:cNvSpPr/>
          <p:nvPr/>
        </p:nvSpPr>
        <p:spPr>
          <a:xfrm>
            <a:off x="3429000" y="2194560"/>
            <a:ext cx="2286000" cy="155448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Role and format dominate output. Examples outweigh descriptions. Constraints beat suggestions.</a:t>
            </a:r>
            <a:endParaRPr lang="en-US" sz="1100" dirty="0"/>
          </a:p>
        </p:txBody>
      </p:sp>
      <p:sp>
        <p:nvSpPr>
          <p:cNvPr id="17" name="Shape 15"/>
          <p:cNvSpPr/>
          <p:nvPr/>
        </p:nvSpPr>
        <p:spPr>
          <a:xfrm>
            <a:off x="6126480" y="1097280"/>
            <a:ext cx="2560320" cy="29260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8" name="Shape 16"/>
          <p:cNvSpPr/>
          <p:nvPr/>
        </p:nvSpPr>
        <p:spPr>
          <a:xfrm>
            <a:off x="6126480" y="1097280"/>
            <a:ext cx="2560320" cy="54864"/>
          </a:xfrm>
          <a:prstGeom prst="rect">
            <a:avLst/>
          </a:prstGeom>
          <a:solidFill>
            <a:srgbClr val="00D4AA"/>
          </a:solidFill>
          <a:ln/>
        </p:spPr>
      </p:sp>
      <p:sp>
        <p:nvSpPr>
          <p:cNvPr id="19" name="Text 17"/>
          <p:cNvSpPr/>
          <p:nvPr/>
        </p:nvSpPr>
        <p:spPr>
          <a:xfrm>
            <a:off x="6263640" y="1325880"/>
            <a:ext cx="2286000" cy="365760"/>
          </a:xfrm>
          <a:prstGeom prst="rect">
            <a:avLst/>
          </a:prstGeom>
          <a:noFill/>
          <a:ln/>
        </p:spPr>
        <p:txBody>
          <a:bodyPr wrap="square" lIns="0" tIns="0" rIns="0" bIns="0" rtlCol="0" anchor="ctr"/>
          <a:lstStyle/>
          <a:p>
            <a:pPr indent="0" marL="0">
              <a:buNone/>
            </a:pPr>
            <a:r>
              <a:rPr lang="en-US" sz="1800" dirty="0">
                <a:solidFill>
                  <a:srgbClr val="00D4AA"/>
                </a:solidFill>
                <a:latin typeface="Arial Black" pitchFamily="34" charset="0"/>
                <a:ea typeface="Arial Black" pitchFamily="34" charset="-122"/>
                <a:cs typeface="Arial Black" pitchFamily="34" charset="-120"/>
              </a:rPr>
              <a:t>Dependency</a:t>
            </a:r>
            <a:endParaRPr lang="en-US" sz="1800" dirty="0"/>
          </a:p>
        </p:txBody>
      </p:sp>
      <p:sp>
        <p:nvSpPr>
          <p:cNvPr id="20" name="Text 18"/>
          <p:cNvSpPr/>
          <p:nvPr/>
        </p:nvSpPr>
        <p:spPr>
          <a:xfrm>
            <a:off x="6263640" y="1691640"/>
            <a:ext cx="2286000" cy="274320"/>
          </a:xfrm>
          <a:prstGeom prst="rect">
            <a:avLst/>
          </a:prstGeom>
          <a:noFill/>
          <a:ln/>
        </p:spPr>
        <p:txBody>
          <a:bodyPr wrap="square" lIns="0" tIns="0" rIns="0" bIns="0" rtlCol="0" anchor="ctr"/>
          <a:lstStyle/>
          <a:p>
            <a:pPr indent="0" marL="0">
              <a:buNone/>
            </a:pPr>
            <a:r>
              <a:rPr lang="en-US" sz="1100" b="1" dirty="0">
                <a:solidFill>
                  <a:srgbClr val="C8C8D8"/>
                </a:solidFill>
                <a:latin typeface="Arial" pitchFamily="34" charset="0"/>
                <a:ea typeface="Arial" pitchFamily="34" charset="-122"/>
                <a:cs typeface="Arial" pitchFamily="34" charset="-120"/>
              </a:rPr>
              <a:t>Elements affect each other</a:t>
            </a:r>
            <a:endParaRPr lang="en-US" sz="1100" dirty="0"/>
          </a:p>
        </p:txBody>
      </p:sp>
      <p:sp>
        <p:nvSpPr>
          <p:cNvPr id="21" name="Shape 19"/>
          <p:cNvSpPr/>
          <p:nvPr/>
        </p:nvSpPr>
        <p:spPr>
          <a:xfrm>
            <a:off x="6263640" y="2057400"/>
            <a:ext cx="2286000" cy="9144"/>
          </a:xfrm>
          <a:prstGeom prst="rect">
            <a:avLst/>
          </a:prstGeom>
          <a:solidFill>
            <a:srgbClr val="00D4AA">
              <a:alpha val="40000"/>
            </a:srgbClr>
          </a:solidFill>
          <a:ln/>
        </p:spPr>
      </p:sp>
      <p:sp>
        <p:nvSpPr>
          <p:cNvPr id="22" name="Text 20"/>
          <p:cNvSpPr/>
          <p:nvPr/>
        </p:nvSpPr>
        <p:spPr>
          <a:xfrm>
            <a:off x="6263640" y="2194560"/>
            <a:ext cx="2286000" cy="155448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Role shapes how examples are interpreted. Format can conflict with task complexity. Design as a system.</a:t>
            </a:r>
            <a:endParaRPr lang="en-US" sz="1100" dirty="0"/>
          </a:p>
        </p:txBody>
      </p:sp>
      <p:sp>
        <p:nvSpPr>
          <p:cNvPr id="23" name="Text 21"/>
          <p:cNvSpPr/>
          <p:nvPr/>
        </p:nvSpPr>
        <p:spPr>
          <a:xfrm>
            <a:off x="457200" y="4343400"/>
            <a:ext cx="8229600" cy="45720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Think of your prompt as a system of interacting parts — not a flat list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Few-shot in the real world</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technique that always works" — Show, don't tell</a:t>
            </a:r>
            <a:endParaRPr lang="en-US" sz="1100" dirty="0"/>
          </a:p>
        </p:txBody>
      </p:sp>
      <p:sp>
        <p:nvSpPr>
          <p:cNvPr id="5" name="Shape 3"/>
          <p:cNvSpPr/>
          <p:nvPr/>
        </p:nvSpPr>
        <p:spPr>
          <a:xfrm>
            <a:off x="457200" y="1097280"/>
            <a:ext cx="3840480" cy="1371600"/>
          </a:xfrm>
          <a:prstGeom prst="rect">
            <a:avLst/>
          </a:prstGeom>
          <a:solidFill>
            <a:srgbClr val="1A1020"/>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97280"/>
            <a:ext cx="3840480" cy="54864"/>
          </a:xfrm>
          <a:prstGeom prst="rect">
            <a:avLst/>
          </a:prstGeom>
          <a:solidFill>
            <a:srgbClr val="FF4444"/>
          </a:solidFill>
          <a:ln/>
        </p:spPr>
      </p:sp>
      <p:sp>
        <p:nvSpPr>
          <p:cNvPr id="7" name="Text 5"/>
          <p:cNvSpPr/>
          <p:nvPr/>
        </p:nvSpPr>
        <p:spPr>
          <a:xfrm>
            <a:off x="640080" y="1234440"/>
            <a:ext cx="3474720" cy="274320"/>
          </a:xfrm>
          <a:prstGeom prst="rect">
            <a:avLst/>
          </a:prstGeom>
          <a:noFill/>
          <a:ln/>
        </p:spPr>
        <p:txBody>
          <a:bodyPr wrap="square" lIns="0" tIns="0" rIns="0" bIns="0" rtlCol="0" anchor="ctr"/>
          <a:lstStyle/>
          <a:p>
            <a:pPr indent="0" marL="0">
              <a:buNone/>
            </a:pPr>
            <a:r>
              <a:rPr lang="en-US" sz="1400" b="1" dirty="0">
                <a:solidFill>
                  <a:srgbClr val="FF6666"/>
                </a:solidFill>
                <a:latin typeface="Arial" pitchFamily="34" charset="0"/>
                <a:ea typeface="Arial" pitchFamily="34" charset="-122"/>
                <a:cs typeface="Arial" pitchFamily="34" charset="-120"/>
              </a:rPr>
              <a:t>Without examples</a:t>
            </a:r>
            <a:endParaRPr lang="en-US" sz="1400" dirty="0"/>
          </a:p>
        </p:txBody>
      </p:sp>
      <p:sp>
        <p:nvSpPr>
          <p:cNvPr id="8" name="Shape 6"/>
          <p:cNvSpPr/>
          <p:nvPr/>
        </p:nvSpPr>
        <p:spPr>
          <a:xfrm>
            <a:off x="640080" y="1600200"/>
            <a:ext cx="3474720" cy="320040"/>
          </a:xfrm>
          <a:prstGeom prst="rect">
            <a:avLst/>
          </a:prstGeom>
          <a:solidFill>
            <a:srgbClr val="0D0D1A"/>
          </a:solidFill>
          <a:ln/>
        </p:spPr>
      </p:sp>
      <p:sp>
        <p:nvSpPr>
          <p:cNvPr id="9" name="Text 7"/>
          <p:cNvSpPr/>
          <p:nvPr/>
        </p:nvSpPr>
        <p:spPr>
          <a:xfrm>
            <a:off x="731520" y="1627632"/>
            <a:ext cx="3291840" cy="274320"/>
          </a:xfrm>
          <a:prstGeom prst="rect">
            <a:avLst/>
          </a:prstGeom>
          <a:noFill/>
          <a:ln/>
        </p:spPr>
        <p:txBody>
          <a:bodyPr wrap="square" lIns="0" tIns="0" rIns="0" bIns="0" rtlCol="0" anchor="ctr"/>
          <a:lstStyle/>
          <a:p>
            <a:pPr indent="0" marL="0">
              <a:buNone/>
            </a:pPr>
            <a:r>
              <a:rPr lang="en-US" sz="1000" dirty="0">
                <a:solidFill>
                  <a:srgbClr val="C8C8D8"/>
                </a:solidFill>
                <a:latin typeface="Consolas" pitchFamily="34" charset="0"/>
                <a:ea typeface="Consolas" pitchFamily="34" charset="-122"/>
                <a:cs typeface="Consolas" pitchFamily="34" charset="-120"/>
              </a:rPr>
              <a:t>"Convert casual text to formal tone"</a:t>
            </a:r>
            <a:endParaRPr lang="en-US" sz="1000" dirty="0"/>
          </a:p>
        </p:txBody>
      </p:sp>
      <p:sp>
        <p:nvSpPr>
          <p:cNvPr id="10" name="Text 8"/>
          <p:cNvSpPr/>
          <p:nvPr/>
        </p:nvSpPr>
        <p:spPr>
          <a:xfrm>
            <a:off x="640080" y="2011680"/>
            <a:ext cx="3474720" cy="32004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 Inconsistent results, different styles each time</a:t>
            </a:r>
            <a:endParaRPr lang="en-US" sz="1100" dirty="0"/>
          </a:p>
        </p:txBody>
      </p:sp>
      <p:sp>
        <p:nvSpPr>
          <p:cNvPr id="11" name="Shape 9"/>
          <p:cNvSpPr/>
          <p:nvPr/>
        </p:nvSpPr>
        <p:spPr>
          <a:xfrm>
            <a:off x="4846320" y="1097280"/>
            <a:ext cx="3840480" cy="1371600"/>
          </a:xfrm>
          <a:prstGeom prst="rect">
            <a:avLst/>
          </a:prstGeom>
          <a:solidFill>
            <a:srgbClr val="101A20"/>
          </a:solidFill>
          <a:ln/>
          <a:effectLst>
            <a:outerShdw sx="100000" sy="100000" kx="0" ky="0" algn="bl" rotWithShape="0" blurRad="152400" dist="50800" dir="8100000">
              <a:srgbClr val="000000">
                <a:alpha val="50000"/>
              </a:srgbClr>
            </a:outerShdw>
          </a:effectLst>
        </p:spPr>
      </p:sp>
      <p:sp>
        <p:nvSpPr>
          <p:cNvPr id="12" name="Shape 10"/>
          <p:cNvSpPr/>
          <p:nvPr/>
        </p:nvSpPr>
        <p:spPr>
          <a:xfrm>
            <a:off x="4846320" y="1097280"/>
            <a:ext cx="3840480" cy="54864"/>
          </a:xfrm>
          <a:prstGeom prst="rect">
            <a:avLst/>
          </a:prstGeom>
          <a:solidFill>
            <a:srgbClr val="00D4AA"/>
          </a:solidFill>
          <a:ln/>
        </p:spPr>
      </p:sp>
      <p:sp>
        <p:nvSpPr>
          <p:cNvPr id="13" name="Text 11"/>
          <p:cNvSpPr/>
          <p:nvPr/>
        </p:nvSpPr>
        <p:spPr>
          <a:xfrm>
            <a:off x="5029200" y="1234440"/>
            <a:ext cx="3474720" cy="27432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With 3 examples</a:t>
            </a:r>
            <a:endParaRPr lang="en-US" sz="1400" dirty="0"/>
          </a:p>
        </p:txBody>
      </p:sp>
      <p:sp>
        <p:nvSpPr>
          <p:cNvPr id="14" name="Shape 12"/>
          <p:cNvSpPr/>
          <p:nvPr/>
        </p:nvSpPr>
        <p:spPr>
          <a:xfrm>
            <a:off x="5029200" y="1600200"/>
            <a:ext cx="3474720" cy="548640"/>
          </a:xfrm>
          <a:prstGeom prst="rect">
            <a:avLst/>
          </a:prstGeom>
          <a:solidFill>
            <a:srgbClr val="0D1A18"/>
          </a:solidFill>
          <a:ln/>
        </p:spPr>
      </p:sp>
      <p:sp>
        <p:nvSpPr>
          <p:cNvPr id="15" name="Text 13"/>
          <p:cNvSpPr/>
          <p:nvPr/>
        </p:nvSpPr>
        <p:spPr>
          <a:xfrm>
            <a:off x="5120640" y="1627632"/>
            <a:ext cx="3291840" cy="502920"/>
          </a:xfrm>
          <a:prstGeom prst="rect">
            <a:avLst/>
          </a:prstGeom>
          <a:noFill/>
          <a:ln/>
        </p:spPr>
        <p:txBody>
          <a:bodyPr wrap="square" lIns="0" tIns="0" rIns="0" bIns="0" rtlCol="0" anchor="ctr"/>
          <a:lstStyle/>
          <a:p>
            <a:pPr indent="0" marL="0">
              <a:buNone/>
            </a:pPr>
            <a:r>
              <a:rPr lang="en-US" sz="900" dirty="0">
                <a:solidFill>
                  <a:srgbClr val="00D4AA"/>
                </a:solidFill>
                <a:latin typeface="Consolas" pitchFamily="34" charset="0"/>
                <a:ea typeface="Consolas" pitchFamily="34" charset="-122"/>
                <a:cs typeface="Consolas" pitchFamily="34" charset="-120"/>
              </a:rPr>
              <a:t>"Hey, can u help?" → "Could you please assist?"</a:t>
            </a:r>
            <a:endParaRPr lang="en-US" sz="900" dirty="0"/>
          </a:p>
          <a:p>
            <a:pPr indent="0" marL="0">
              <a:buNone/>
            </a:pPr>
            <a:r>
              <a:rPr lang="en-US" sz="900" dirty="0">
                <a:solidFill>
                  <a:srgbClr val="00D4AA"/>
                </a:solidFill>
                <a:latin typeface="Consolas" pitchFamily="34" charset="0"/>
                <a:ea typeface="Consolas" pitchFamily="34" charset="-122"/>
                <a:cs typeface="Consolas" pitchFamily="34" charset="-120"/>
              </a:rPr>
              <a:t>"This is broken lol" → "This is not functioning."</a:t>
            </a:r>
            <a:endParaRPr lang="en-US" sz="900" dirty="0"/>
          </a:p>
          <a:p>
            <a:pPr indent="0" marL="0">
              <a:buNone/>
            </a:pPr>
            <a:r>
              <a:rPr lang="en-US" sz="900" dirty="0">
                <a:solidFill>
                  <a:srgbClr val="00D4AA"/>
                </a:solidFill>
                <a:latin typeface="Consolas" pitchFamily="34" charset="0"/>
                <a:ea typeface="Consolas" pitchFamily="34" charset="-122"/>
                <a:cs typeface="Consolas" pitchFamily="34" charset="-120"/>
              </a:rPr>
              <a:t>"Thx so much!!!" → "Thank you."</a:t>
            </a:r>
            <a:endParaRPr lang="en-US" sz="900" dirty="0"/>
          </a:p>
        </p:txBody>
      </p:sp>
      <p:sp>
        <p:nvSpPr>
          <p:cNvPr id="16" name="Text 14"/>
          <p:cNvSpPr/>
          <p:nvPr/>
        </p:nvSpPr>
        <p:spPr>
          <a:xfrm>
            <a:off x="5029200" y="2194560"/>
            <a:ext cx="3474720" cy="22860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 Consistent, predictable, matches your style</a:t>
            </a:r>
            <a:endParaRPr lang="en-US" sz="1100" dirty="0"/>
          </a:p>
        </p:txBody>
      </p:sp>
      <p:sp>
        <p:nvSpPr>
          <p:cNvPr id="17" name="Shape 15"/>
          <p:cNvSpPr/>
          <p:nvPr/>
        </p:nvSpPr>
        <p:spPr>
          <a:xfrm>
            <a:off x="457200" y="2743200"/>
            <a:ext cx="25603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8" name="Shape 16"/>
          <p:cNvSpPr/>
          <p:nvPr/>
        </p:nvSpPr>
        <p:spPr>
          <a:xfrm>
            <a:off x="457200" y="2743200"/>
            <a:ext cx="54864" cy="1188720"/>
          </a:xfrm>
          <a:prstGeom prst="rect">
            <a:avLst/>
          </a:prstGeom>
          <a:solidFill>
            <a:srgbClr val="E91E8C"/>
          </a:solidFill>
          <a:ln/>
        </p:spPr>
      </p:sp>
      <p:sp>
        <p:nvSpPr>
          <p:cNvPr id="19" name="Text 17"/>
          <p:cNvSpPr/>
          <p:nvPr/>
        </p:nvSpPr>
        <p:spPr>
          <a:xfrm>
            <a:off x="640080" y="2834640"/>
            <a:ext cx="219456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Pattern strength</a:t>
            </a:r>
            <a:endParaRPr lang="en-US" sz="1300" dirty="0"/>
          </a:p>
        </p:txBody>
      </p:sp>
      <p:sp>
        <p:nvSpPr>
          <p:cNvPr id="20" name="Text 18"/>
          <p:cNvSpPr/>
          <p:nvPr/>
        </p:nvSpPr>
        <p:spPr>
          <a:xfrm>
            <a:off x="640080" y="3154680"/>
            <a:ext cx="2194560" cy="6400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LLMs are pattern matching machines — examples play to their core strength</a:t>
            </a:r>
            <a:endParaRPr lang="en-US" sz="1000" dirty="0"/>
          </a:p>
        </p:txBody>
      </p:sp>
      <p:sp>
        <p:nvSpPr>
          <p:cNvPr id="21" name="Shape 19"/>
          <p:cNvSpPr/>
          <p:nvPr/>
        </p:nvSpPr>
        <p:spPr>
          <a:xfrm>
            <a:off x="3291840" y="2743200"/>
            <a:ext cx="25603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2" name="Shape 20"/>
          <p:cNvSpPr/>
          <p:nvPr/>
        </p:nvSpPr>
        <p:spPr>
          <a:xfrm>
            <a:off x="3291840" y="2743200"/>
            <a:ext cx="54864" cy="1188720"/>
          </a:xfrm>
          <a:prstGeom prst="rect">
            <a:avLst/>
          </a:prstGeom>
          <a:solidFill>
            <a:srgbClr val="4A9FFF"/>
          </a:solidFill>
          <a:ln/>
        </p:spPr>
      </p:sp>
      <p:sp>
        <p:nvSpPr>
          <p:cNvPr id="23" name="Text 21"/>
          <p:cNvSpPr/>
          <p:nvPr/>
        </p:nvSpPr>
        <p:spPr>
          <a:xfrm>
            <a:off x="3474720" y="2834640"/>
            <a:ext cx="219456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No ambiguity</a:t>
            </a:r>
            <a:endParaRPr lang="en-US" sz="1300" dirty="0"/>
          </a:p>
        </p:txBody>
      </p:sp>
      <p:sp>
        <p:nvSpPr>
          <p:cNvPr id="24" name="Text 22"/>
          <p:cNvSpPr/>
          <p:nvPr/>
        </p:nvSpPr>
        <p:spPr>
          <a:xfrm>
            <a:off x="3474720" y="3154680"/>
            <a:ext cx="2194560" cy="6400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Examples are clearer than descriptions — removes misinterpretation</a:t>
            </a:r>
            <a:endParaRPr lang="en-US" sz="1000" dirty="0"/>
          </a:p>
        </p:txBody>
      </p:sp>
      <p:sp>
        <p:nvSpPr>
          <p:cNvPr id="25" name="Shape 23"/>
          <p:cNvSpPr/>
          <p:nvPr/>
        </p:nvSpPr>
        <p:spPr>
          <a:xfrm>
            <a:off x="6126480" y="2743200"/>
            <a:ext cx="256032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6" name="Shape 24"/>
          <p:cNvSpPr/>
          <p:nvPr/>
        </p:nvSpPr>
        <p:spPr>
          <a:xfrm>
            <a:off x="6126480" y="2743200"/>
            <a:ext cx="54864" cy="1188720"/>
          </a:xfrm>
          <a:prstGeom prst="rect">
            <a:avLst/>
          </a:prstGeom>
          <a:solidFill>
            <a:srgbClr val="00D4AA"/>
          </a:solidFill>
          <a:ln/>
        </p:spPr>
      </p:sp>
      <p:sp>
        <p:nvSpPr>
          <p:cNvPr id="27" name="Text 25"/>
          <p:cNvSpPr/>
          <p:nvPr/>
        </p:nvSpPr>
        <p:spPr>
          <a:xfrm>
            <a:off x="6309360" y="2834640"/>
            <a:ext cx="219456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Sweet spot</a:t>
            </a:r>
            <a:endParaRPr lang="en-US" sz="1300" dirty="0"/>
          </a:p>
        </p:txBody>
      </p:sp>
      <p:sp>
        <p:nvSpPr>
          <p:cNvPr id="28" name="Text 26"/>
          <p:cNvSpPr/>
          <p:nvPr/>
        </p:nvSpPr>
        <p:spPr>
          <a:xfrm>
            <a:off x="6309360" y="3154680"/>
            <a:ext cx="2194560" cy="6400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2-3 diverse examples. Include edge cases. Mark them clearly.</a:t>
            </a:r>
            <a:endParaRPr lang="en-US" sz="1000" dirty="0"/>
          </a:p>
        </p:txBody>
      </p:sp>
      <p:sp>
        <p:nvSpPr>
          <p:cNvPr id="29" name="Text 27"/>
          <p:cNvSpPr/>
          <p:nvPr/>
        </p:nvSpPr>
        <p:spPr>
          <a:xfrm>
            <a:off x="457200" y="4206240"/>
            <a:ext cx="8229600" cy="457200"/>
          </a:xfrm>
          <a:prstGeom prst="rect">
            <a:avLst/>
          </a:prstGeom>
          <a:noFill/>
          <a:ln/>
        </p:spPr>
        <p:txBody>
          <a:bodyPr wrap="square" lIns="0" tIns="0" rIns="0" bIns="0" rtlCol="0" anchor="ctr"/>
          <a:lstStyle/>
          <a:p>
            <a:pPr algn="ctr" indent="0" marL="0">
              <a:buNone/>
            </a:pPr>
            <a:r>
              <a:rPr lang="en-US" sz="1300" b="1" i="1" dirty="0">
                <a:solidFill>
                  <a:srgbClr val="E91E8C"/>
                </a:solidFill>
                <a:latin typeface="Arial" pitchFamily="34" charset="0"/>
                <a:ea typeface="Arial" pitchFamily="34" charset="-122"/>
                <a:cs typeface="Arial" pitchFamily="34" charset="-120"/>
              </a:rPr>
              <a:t>Few-shot learning is the single most impactful technique you can use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Anatomy of a great prompt</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Step by step: How all the pieces fit together</a:t>
            </a:r>
            <a:endParaRPr lang="en-US" sz="1100" dirty="0"/>
          </a:p>
        </p:txBody>
      </p:sp>
      <p:sp>
        <p:nvSpPr>
          <p:cNvPr id="5" name="Shape 3"/>
          <p:cNvSpPr/>
          <p:nvPr/>
        </p:nvSpPr>
        <p:spPr>
          <a:xfrm>
            <a:off x="457200" y="1051560"/>
            <a:ext cx="8229600" cy="530352"/>
          </a:xfrm>
          <a:prstGeom prst="rect">
            <a:avLst/>
          </a:prstGeom>
          <a:solidFill>
            <a:srgbClr val="1A1A2E"/>
          </a:solidFill>
          <a:ln/>
        </p:spPr>
      </p:sp>
      <p:sp>
        <p:nvSpPr>
          <p:cNvPr id="6" name="Shape 4"/>
          <p:cNvSpPr/>
          <p:nvPr/>
        </p:nvSpPr>
        <p:spPr>
          <a:xfrm>
            <a:off x="457200" y="1051560"/>
            <a:ext cx="54864" cy="530352"/>
          </a:xfrm>
          <a:prstGeom prst="rect">
            <a:avLst/>
          </a:prstGeom>
          <a:solidFill>
            <a:srgbClr val="E91E8C"/>
          </a:solidFill>
          <a:ln/>
        </p:spPr>
      </p:sp>
      <p:sp>
        <p:nvSpPr>
          <p:cNvPr id="7" name="Text 5"/>
          <p:cNvSpPr/>
          <p:nvPr/>
        </p:nvSpPr>
        <p:spPr>
          <a:xfrm>
            <a:off x="731520" y="1088136"/>
            <a:ext cx="1188720" cy="45720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Role</a:t>
            </a:r>
            <a:endParaRPr lang="en-US" sz="1300" dirty="0"/>
          </a:p>
        </p:txBody>
      </p:sp>
      <p:sp>
        <p:nvSpPr>
          <p:cNvPr id="8" name="Text 6"/>
          <p:cNvSpPr/>
          <p:nvPr/>
        </p:nvSpPr>
        <p:spPr>
          <a:xfrm>
            <a:off x="2011680" y="108813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"You are a senior Python developer"</a:t>
            </a:r>
            <a:endParaRPr lang="en-US" sz="1050" dirty="0"/>
          </a:p>
        </p:txBody>
      </p:sp>
      <p:sp>
        <p:nvSpPr>
          <p:cNvPr id="9" name="Text 7"/>
          <p:cNvSpPr/>
          <p:nvPr/>
        </p:nvSpPr>
        <p:spPr>
          <a:xfrm>
            <a:off x="7040880" y="108813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Give Direction</a:t>
            </a:r>
            <a:endParaRPr lang="en-US" sz="1000" dirty="0"/>
          </a:p>
        </p:txBody>
      </p:sp>
      <p:sp>
        <p:nvSpPr>
          <p:cNvPr id="10" name="Shape 8"/>
          <p:cNvSpPr/>
          <p:nvPr/>
        </p:nvSpPr>
        <p:spPr>
          <a:xfrm>
            <a:off x="457200" y="1691640"/>
            <a:ext cx="8229600" cy="530352"/>
          </a:xfrm>
          <a:prstGeom prst="rect">
            <a:avLst/>
          </a:prstGeom>
          <a:solidFill>
            <a:srgbClr val="1A1A2E"/>
          </a:solidFill>
          <a:ln/>
        </p:spPr>
      </p:sp>
      <p:sp>
        <p:nvSpPr>
          <p:cNvPr id="11" name="Shape 9"/>
          <p:cNvSpPr/>
          <p:nvPr/>
        </p:nvSpPr>
        <p:spPr>
          <a:xfrm>
            <a:off x="457200" y="1691640"/>
            <a:ext cx="54864" cy="530352"/>
          </a:xfrm>
          <a:prstGeom prst="rect">
            <a:avLst/>
          </a:prstGeom>
          <a:solidFill>
            <a:srgbClr val="4A9FFF"/>
          </a:solidFill>
          <a:ln/>
        </p:spPr>
      </p:sp>
      <p:sp>
        <p:nvSpPr>
          <p:cNvPr id="12" name="Text 10"/>
          <p:cNvSpPr/>
          <p:nvPr/>
        </p:nvSpPr>
        <p:spPr>
          <a:xfrm>
            <a:off x="731520" y="1728216"/>
            <a:ext cx="1188720" cy="45720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Context</a:t>
            </a:r>
            <a:endParaRPr lang="en-US" sz="1300" dirty="0"/>
          </a:p>
        </p:txBody>
      </p:sp>
      <p:sp>
        <p:nvSpPr>
          <p:cNvPr id="13" name="Text 11"/>
          <p:cNvSpPr/>
          <p:nvPr/>
        </p:nvSpPr>
        <p:spPr>
          <a:xfrm>
            <a:off x="2011680" y="172821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"reviewing code for a REST API"</a:t>
            </a:r>
            <a:endParaRPr lang="en-US" sz="1050" dirty="0"/>
          </a:p>
        </p:txBody>
      </p:sp>
      <p:sp>
        <p:nvSpPr>
          <p:cNvPr id="14" name="Text 12"/>
          <p:cNvSpPr/>
          <p:nvPr/>
        </p:nvSpPr>
        <p:spPr>
          <a:xfrm>
            <a:off x="7040880" y="172821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Set the Stage</a:t>
            </a:r>
            <a:endParaRPr lang="en-US" sz="1000" dirty="0"/>
          </a:p>
        </p:txBody>
      </p:sp>
      <p:sp>
        <p:nvSpPr>
          <p:cNvPr id="15" name="Shape 13"/>
          <p:cNvSpPr/>
          <p:nvPr/>
        </p:nvSpPr>
        <p:spPr>
          <a:xfrm>
            <a:off x="457200" y="2331720"/>
            <a:ext cx="8229600" cy="530352"/>
          </a:xfrm>
          <a:prstGeom prst="rect">
            <a:avLst/>
          </a:prstGeom>
          <a:solidFill>
            <a:srgbClr val="1A1A2E"/>
          </a:solidFill>
          <a:ln/>
        </p:spPr>
      </p:sp>
      <p:sp>
        <p:nvSpPr>
          <p:cNvPr id="16" name="Shape 14"/>
          <p:cNvSpPr/>
          <p:nvPr/>
        </p:nvSpPr>
        <p:spPr>
          <a:xfrm>
            <a:off x="457200" y="2331720"/>
            <a:ext cx="54864" cy="530352"/>
          </a:xfrm>
          <a:prstGeom prst="rect">
            <a:avLst/>
          </a:prstGeom>
          <a:solidFill>
            <a:srgbClr val="00D4AA"/>
          </a:solidFill>
          <a:ln/>
        </p:spPr>
      </p:sp>
      <p:sp>
        <p:nvSpPr>
          <p:cNvPr id="17" name="Text 15"/>
          <p:cNvSpPr/>
          <p:nvPr/>
        </p:nvSpPr>
        <p:spPr>
          <a:xfrm>
            <a:off x="731520" y="2368296"/>
            <a:ext cx="1188720" cy="45720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Task</a:t>
            </a:r>
            <a:endParaRPr lang="en-US" sz="1300" dirty="0"/>
          </a:p>
        </p:txBody>
      </p:sp>
      <p:sp>
        <p:nvSpPr>
          <p:cNvPr id="18" name="Text 16"/>
          <p:cNvSpPr/>
          <p:nvPr/>
        </p:nvSpPr>
        <p:spPr>
          <a:xfrm>
            <a:off x="2011680" y="236829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"Review for: security, bugs, performance"</a:t>
            </a:r>
            <a:endParaRPr lang="en-US" sz="1050" dirty="0"/>
          </a:p>
        </p:txBody>
      </p:sp>
      <p:sp>
        <p:nvSpPr>
          <p:cNvPr id="19" name="Text 17"/>
          <p:cNvSpPr/>
          <p:nvPr/>
        </p:nvSpPr>
        <p:spPr>
          <a:xfrm>
            <a:off x="7040880" y="236829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Be Specific</a:t>
            </a:r>
            <a:endParaRPr lang="en-US" sz="1000" dirty="0"/>
          </a:p>
        </p:txBody>
      </p:sp>
      <p:sp>
        <p:nvSpPr>
          <p:cNvPr id="20" name="Shape 18"/>
          <p:cNvSpPr/>
          <p:nvPr/>
        </p:nvSpPr>
        <p:spPr>
          <a:xfrm>
            <a:off x="457200" y="2971800"/>
            <a:ext cx="8229600" cy="530352"/>
          </a:xfrm>
          <a:prstGeom prst="rect">
            <a:avLst/>
          </a:prstGeom>
          <a:solidFill>
            <a:srgbClr val="1A1A2E"/>
          </a:solidFill>
          <a:ln/>
        </p:spPr>
      </p:sp>
      <p:sp>
        <p:nvSpPr>
          <p:cNvPr id="21" name="Shape 19"/>
          <p:cNvSpPr/>
          <p:nvPr/>
        </p:nvSpPr>
        <p:spPr>
          <a:xfrm>
            <a:off x="457200" y="2971800"/>
            <a:ext cx="54864" cy="530352"/>
          </a:xfrm>
          <a:prstGeom prst="rect">
            <a:avLst/>
          </a:prstGeom>
          <a:solidFill>
            <a:srgbClr val="FF3DAB"/>
          </a:solidFill>
          <a:ln/>
        </p:spPr>
      </p:sp>
      <p:sp>
        <p:nvSpPr>
          <p:cNvPr id="22" name="Text 20"/>
          <p:cNvSpPr/>
          <p:nvPr/>
        </p:nvSpPr>
        <p:spPr>
          <a:xfrm>
            <a:off x="731520" y="3008376"/>
            <a:ext cx="1188720" cy="457200"/>
          </a:xfrm>
          <a:prstGeom prst="rect">
            <a:avLst/>
          </a:prstGeom>
          <a:noFill/>
          <a:ln/>
        </p:spPr>
        <p:txBody>
          <a:bodyPr wrap="square" lIns="0" tIns="0" rIns="0" bIns="0" rtlCol="0" anchor="ctr"/>
          <a:lstStyle/>
          <a:p>
            <a:pPr indent="0" marL="0">
              <a:buNone/>
            </a:pPr>
            <a:r>
              <a:rPr lang="en-US" sz="1300" b="1" dirty="0">
                <a:solidFill>
                  <a:srgbClr val="FF3DAB"/>
                </a:solidFill>
                <a:latin typeface="Arial" pitchFamily="34" charset="0"/>
                <a:ea typeface="Arial" pitchFamily="34" charset="-122"/>
                <a:cs typeface="Arial" pitchFamily="34" charset="-120"/>
              </a:rPr>
              <a:t>Format</a:t>
            </a:r>
            <a:endParaRPr lang="en-US" sz="1300" dirty="0"/>
          </a:p>
        </p:txBody>
      </p:sp>
      <p:sp>
        <p:nvSpPr>
          <p:cNvPr id="23" name="Text 21"/>
          <p:cNvSpPr/>
          <p:nvPr/>
        </p:nvSpPr>
        <p:spPr>
          <a:xfrm>
            <a:off x="2011680" y="300837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"For each issue: describe, rate severity, fix"</a:t>
            </a:r>
            <a:endParaRPr lang="en-US" sz="1050" dirty="0"/>
          </a:p>
        </p:txBody>
      </p:sp>
      <p:sp>
        <p:nvSpPr>
          <p:cNvPr id="24" name="Text 22"/>
          <p:cNvSpPr/>
          <p:nvPr/>
        </p:nvSpPr>
        <p:spPr>
          <a:xfrm>
            <a:off x="7040880" y="300837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Specify Format</a:t>
            </a:r>
            <a:endParaRPr lang="en-US" sz="1000" dirty="0"/>
          </a:p>
        </p:txBody>
      </p:sp>
      <p:sp>
        <p:nvSpPr>
          <p:cNvPr id="25" name="Shape 23"/>
          <p:cNvSpPr/>
          <p:nvPr/>
        </p:nvSpPr>
        <p:spPr>
          <a:xfrm>
            <a:off x="457200" y="3611880"/>
            <a:ext cx="8229600" cy="530352"/>
          </a:xfrm>
          <a:prstGeom prst="rect">
            <a:avLst/>
          </a:prstGeom>
          <a:solidFill>
            <a:srgbClr val="1A1A2E"/>
          </a:solidFill>
          <a:ln/>
        </p:spPr>
      </p:sp>
      <p:sp>
        <p:nvSpPr>
          <p:cNvPr id="26" name="Shape 24"/>
          <p:cNvSpPr/>
          <p:nvPr/>
        </p:nvSpPr>
        <p:spPr>
          <a:xfrm>
            <a:off x="457200" y="3611880"/>
            <a:ext cx="54864" cy="530352"/>
          </a:xfrm>
          <a:prstGeom prst="rect">
            <a:avLst/>
          </a:prstGeom>
          <a:solidFill>
            <a:srgbClr val="FFB347"/>
          </a:solidFill>
          <a:ln/>
        </p:spPr>
      </p:sp>
      <p:sp>
        <p:nvSpPr>
          <p:cNvPr id="27" name="Text 25"/>
          <p:cNvSpPr/>
          <p:nvPr/>
        </p:nvSpPr>
        <p:spPr>
          <a:xfrm>
            <a:off x="731520" y="3648456"/>
            <a:ext cx="1188720" cy="457200"/>
          </a:xfrm>
          <a:prstGeom prst="rect">
            <a:avLst/>
          </a:prstGeom>
          <a:noFill/>
          <a:ln/>
        </p:spPr>
        <p:txBody>
          <a:bodyPr wrap="square" lIns="0" tIns="0" rIns="0" bIns="0" rtlCol="0" anchor="ctr"/>
          <a:lstStyle/>
          <a:p>
            <a:pPr indent="0" marL="0">
              <a:buNone/>
            </a:pPr>
            <a:r>
              <a:rPr lang="en-US" sz="1300" b="1" dirty="0">
                <a:solidFill>
                  <a:srgbClr val="FFB347"/>
                </a:solidFill>
                <a:latin typeface="Arial" pitchFamily="34" charset="0"/>
                <a:ea typeface="Arial" pitchFamily="34" charset="-122"/>
                <a:cs typeface="Arial" pitchFamily="34" charset="-120"/>
              </a:rPr>
              <a:t>Examples</a:t>
            </a:r>
            <a:endParaRPr lang="en-US" sz="1300" dirty="0"/>
          </a:p>
        </p:txBody>
      </p:sp>
      <p:sp>
        <p:nvSpPr>
          <p:cNvPr id="28" name="Text 26"/>
          <p:cNvSpPr/>
          <p:nvPr/>
        </p:nvSpPr>
        <p:spPr>
          <a:xfrm>
            <a:off x="2011680" y="364845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[Include 1-2 examples of ideal output]</a:t>
            </a:r>
            <a:endParaRPr lang="en-US" sz="1050" dirty="0"/>
          </a:p>
        </p:txBody>
      </p:sp>
      <p:sp>
        <p:nvSpPr>
          <p:cNvPr id="29" name="Text 27"/>
          <p:cNvSpPr/>
          <p:nvPr/>
        </p:nvSpPr>
        <p:spPr>
          <a:xfrm>
            <a:off x="7040880" y="364845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Provide Examples</a:t>
            </a:r>
            <a:endParaRPr lang="en-US" sz="1000" dirty="0"/>
          </a:p>
        </p:txBody>
      </p:sp>
      <p:sp>
        <p:nvSpPr>
          <p:cNvPr id="30" name="Shape 28"/>
          <p:cNvSpPr/>
          <p:nvPr/>
        </p:nvSpPr>
        <p:spPr>
          <a:xfrm>
            <a:off x="457200" y="4251960"/>
            <a:ext cx="8229600" cy="530352"/>
          </a:xfrm>
          <a:prstGeom prst="rect">
            <a:avLst/>
          </a:prstGeom>
          <a:solidFill>
            <a:srgbClr val="1A1A2E"/>
          </a:solidFill>
          <a:ln/>
        </p:spPr>
      </p:sp>
      <p:sp>
        <p:nvSpPr>
          <p:cNvPr id="31" name="Shape 29"/>
          <p:cNvSpPr/>
          <p:nvPr/>
        </p:nvSpPr>
        <p:spPr>
          <a:xfrm>
            <a:off x="457200" y="4251960"/>
            <a:ext cx="54864" cy="530352"/>
          </a:xfrm>
          <a:prstGeom prst="rect">
            <a:avLst/>
          </a:prstGeom>
          <a:solidFill>
            <a:srgbClr val="7B68EE"/>
          </a:solidFill>
          <a:ln/>
        </p:spPr>
      </p:sp>
      <p:sp>
        <p:nvSpPr>
          <p:cNvPr id="32" name="Text 30"/>
          <p:cNvSpPr/>
          <p:nvPr/>
        </p:nvSpPr>
        <p:spPr>
          <a:xfrm>
            <a:off x="731520" y="4288536"/>
            <a:ext cx="1188720" cy="457200"/>
          </a:xfrm>
          <a:prstGeom prst="rect">
            <a:avLst/>
          </a:prstGeom>
          <a:noFill/>
          <a:ln/>
        </p:spPr>
        <p:txBody>
          <a:bodyPr wrap="square" lIns="0" tIns="0" rIns="0" bIns="0" rtlCol="0" anchor="ctr"/>
          <a:lstStyle/>
          <a:p>
            <a:pPr indent="0" marL="0">
              <a:buNone/>
            </a:pPr>
            <a:r>
              <a:rPr lang="en-US" sz="1300" b="1" dirty="0">
                <a:solidFill>
                  <a:srgbClr val="7B68EE"/>
                </a:solidFill>
                <a:latin typeface="Arial" pitchFamily="34" charset="0"/>
                <a:ea typeface="Arial" pitchFamily="34" charset="-122"/>
                <a:cs typeface="Arial" pitchFamily="34" charset="-120"/>
              </a:rPr>
              <a:t>CoT</a:t>
            </a:r>
            <a:endParaRPr lang="en-US" sz="1300" dirty="0"/>
          </a:p>
        </p:txBody>
      </p:sp>
      <p:sp>
        <p:nvSpPr>
          <p:cNvPr id="33" name="Text 31"/>
          <p:cNvSpPr/>
          <p:nvPr/>
        </p:nvSpPr>
        <p:spPr>
          <a:xfrm>
            <a:off x="2011680" y="4288536"/>
            <a:ext cx="4846320" cy="4572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"Think through each concern systematically"</a:t>
            </a:r>
            <a:endParaRPr lang="en-US" sz="1050" dirty="0"/>
          </a:p>
        </p:txBody>
      </p:sp>
      <p:sp>
        <p:nvSpPr>
          <p:cNvPr id="34" name="Text 32"/>
          <p:cNvSpPr/>
          <p:nvPr/>
        </p:nvSpPr>
        <p:spPr>
          <a:xfrm>
            <a:off x="7040880" y="4288536"/>
            <a:ext cx="1463040" cy="457200"/>
          </a:xfrm>
          <a:prstGeom prst="rect">
            <a:avLst/>
          </a:prstGeom>
          <a:noFill/>
          <a:ln/>
        </p:spPr>
        <p:txBody>
          <a:bodyPr wrap="square" lIns="0" tIns="0" rIns="0" bIns="0" rtlCol="0" anchor="ctr"/>
          <a:lstStyle/>
          <a:p>
            <a:pPr algn="r" indent="0" marL="0">
              <a:buNone/>
            </a:pPr>
            <a:r>
              <a:rPr lang="en-US" sz="1000" i="1" dirty="0">
                <a:solidFill>
                  <a:srgbClr val="9B9BB0"/>
                </a:solidFill>
                <a:latin typeface="Arial" pitchFamily="34" charset="0"/>
                <a:ea typeface="Arial" pitchFamily="34" charset="-122"/>
                <a:cs typeface="Arial" pitchFamily="34" charset="-120"/>
              </a:rPr>
              <a:t>Divide Labor</a:t>
            </a:r>
            <a:endParaRPr lang="en-US" sz="1000" dirty="0"/>
          </a:p>
        </p:txBody>
      </p:sp>
      <p:sp>
        <p:nvSpPr>
          <p:cNvPr id="35" name="Text 33"/>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Each layer adds precision — they compose into powerful prompts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5486400" y="-1371600"/>
            <a:ext cx="5486400" cy="5486400"/>
          </a:xfrm>
          <a:prstGeom prst="ellipse">
            <a:avLst/>
          </a:prstGeom>
          <a:solidFill>
            <a:srgbClr val="00D4AA">
              <a:alpha val="8000"/>
            </a:srgbClr>
          </a:solidFill>
          <a:ln/>
        </p:spPr>
      </p:sp>
      <p:sp>
        <p:nvSpPr>
          <p:cNvPr id="3" name="Shape 1"/>
          <p:cNvSpPr/>
          <p:nvPr/>
        </p:nvSpPr>
        <p:spPr>
          <a:xfrm>
            <a:off x="-914400" y="2743200"/>
            <a:ext cx="4572000" cy="4572000"/>
          </a:xfrm>
          <a:prstGeom prst="ellipse">
            <a:avLst/>
          </a:prstGeom>
          <a:solidFill>
            <a:srgbClr val="E91E8C">
              <a:alpha val="7000"/>
            </a:srgbClr>
          </a:solidFill>
          <a:ln/>
        </p:spPr>
      </p:sp>
      <p:sp>
        <p:nvSpPr>
          <p:cNvPr id="4" name="Shape 2"/>
          <p:cNvSpPr/>
          <p:nvPr/>
        </p:nvSpPr>
        <p:spPr>
          <a:xfrm>
            <a:off x="731520" y="1645920"/>
            <a:ext cx="731520" cy="54864"/>
          </a:xfrm>
          <a:prstGeom prst="rect">
            <a:avLst/>
          </a:prstGeom>
          <a:solidFill>
            <a:srgbClr val="E91E8C"/>
          </a:solidFill>
          <a:ln/>
        </p:spPr>
      </p:sp>
      <p:sp>
        <p:nvSpPr>
          <p:cNvPr id="5" name="Text 3"/>
          <p:cNvSpPr/>
          <p:nvPr/>
        </p:nvSpPr>
        <p:spPr>
          <a:xfrm>
            <a:off x="731520" y="1828800"/>
            <a:ext cx="7315200" cy="640080"/>
          </a:xfrm>
          <a:prstGeom prst="rect">
            <a:avLst/>
          </a:prstGeom>
          <a:noFill/>
          <a:ln/>
        </p:spPr>
        <p:txBody>
          <a:bodyPr wrap="square" lIns="0" tIns="0" rIns="0" bIns="0" rtlCol="0" anchor="ctr"/>
          <a:lstStyle/>
          <a:p>
            <a:pPr indent="0" marL="0">
              <a:buNone/>
            </a:pPr>
            <a:r>
              <a:rPr lang="en-US" sz="1800" spc="600" kern="0" dirty="0">
                <a:solidFill>
                  <a:srgbClr val="E91E8C"/>
                </a:solidFill>
                <a:latin typeface="Arial" pitchFamily="34" charset="0"/>
                <a:ea typeface="Arial" pitchFamily="34" charset="-122"/>
                <a:cs typeface="Arial" pitchFamily="34" charset="-120"/>
              </a:rPr>
              <a:t>Part 3</a:t>
            </a:r>
            <a:endParaRPr lang="en-US" sz="1800" dirty="0"/>
          </a:p>
        </p:txBody>
      </p:sp>
      <p:sp>
        <p:nvSpPr>
          <p:cNvPr id="6" name="Text 4"/>
          <p:cNvSpPr/>
          <p:nvPr/>
        </p:nvSpPr>
        <p:spPr>
          <a:xfrm>
            <a:off x="731520" y="2377440"/>
            <a:ext cx="7315200" cy="1371600"/>
          </a:xfrm>
          <a:prstGeom prst="rect">
            <a:avLst/>
          </a:prstGeom>
          <a:noFill/>
          <a:ln/>
        </p:spPr>
        <p:txBody>
          <a:bodyPr wrap="square" lIns="0" tIns="0" rIns="0" bIns="0" rtlCol="0" anchor="ctr"/>
          <a:lstStyle/>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Advanced</a:t>
            </a:r>
            <a:endParaRPr lang="en-US" sz="4200" dirty="0"/>
          </a:p>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Patterns</a:t>
            </a:r>
            <a:endParaRPr lang="en-US" sz="4200" dirty="0"/>
          </a:p>
        </p:txBody>
      </p:sp>
      <p:sp>
        <p:nvSpPr>
          <p:cNvPr id="7" name="Text 5"/>
          <p:cNvSpPr/>
          <p:nvPr/>
        </p:nvSpPr>
        <p:spPr>
          <a:xfrm>
            <a:off x="731520" y="3840480"/>
            <a:ext cx="7315200" cy="457200"/>
          </a:xfrm>
          <a:prstGeom prst="rect">
            <a:avLst/>
          </a:prstGeom>
          <a:noFill/>
          <a:ln/>
        </p:spPr>
        <p:txBody>
          <a:bodyPr wrap="square" lIns="0" tIns="0" rIns="0" bIns="0" rtlCol="0" anchor="ctr"/>
          <a:lstStyle/>
          <a:p>
            <a:pPr indent="0" marL="0">
              <a:buNone/>
            </a:pPr>
            <a:r>
              <a:rPr lang="en-US" sz="1400" i="1" dirty="0">
                <a:solidFill>
                  <a:srgbClr val="9B9BB0"/>
                </a:solidFill>
                <a:latin typeface="Arial" pitchFamily="34" charset="0"/>
                <a:ea typeface="Arial" pitchFamily="34" charset="-122"/>
                <a:cs typeface="Arial" pitchFamily="34" charset="-120"/>
              </a:rPr>
              <a:t>Reasoning, agents, RAG, context engineering, meta prompting, and model settings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Chain of Thought reasoning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From manual technique to built-in capability</a:t>
            </a:r>
            <a:endParaRPr lang="en-US" sz="1100" dirty="0"/>
          </a:p>
        </p:txBody>
      </p:sp>
      <p:sp>
        <p:nvSpPr>
          <p:cNvPr id="5" name="Shape 3"/>
          <p:cNvSpPr/>
          <p:nvPr/>
        </p:nvSpPr>
        <p:spPr>
          <a:xfrm>
            <a:off x="457200" y="1051560"/>
            <a:ext cx="8229600" cy="777240"/>
          </a:xfrm>
          <a:prstGeom prst="rect">
            <a:avLst/>
          </a:prstGeom>
          <a:solidFill>
            <a:srgbClr val="1A1028"/>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777240"/>
          </a:xfrm>
          <a:prstGeom prst="rect">
            <a:avLst/>
          </a:prstGeom>
          <a:solidFill>
            <a:srgbClr val="FFB347"/>
          </a:solidFill>
          <a:ln/>
        </p:spPr>
      </p:sp>
      <p:sp>
        <p:nvSpPr>
          <p:cNvPr id="7" name="Text 5"/>
          <p:cNvSpPr/>
          <p:nvPr/>
        </p:nvSpPr>
        <p:spPr>
          <a:xfrm>
            <a:off x="731520" y="1143000"/>
            <a:ext cx="7680960" cy="594360"/>
          </a:xfrm>
          <a:prstGeom prst="rect">
            <a:avLst/>
          </a:prstGeom>
          <a:noFill/>
          <a:ln/>
        </p:spPr>
        <p:txBody>
          <a:bodyPr wrap="square" lIns="0" tIns="0" rIns="0" bIns="0" rtlCol="0" anchor="ctr"/>
          <a:lstStyle/>
          <a:p>
            <a:pPr indent="0" marL="0">
              <a:buNone/>
            </a:pPr>
            <a:r>
              <a:rPr lang="en-US" sz="1100" dirty="0">
                <a:solidFill>
                  <a:srgbClr val="FFB347"/>
                </a:solidFill>
                <a:latin typeface="Arial" pitchFamily="34" charset="0"/>
                <a:ea typeface="Arial" pitchFamily="34" charset="-122"/>
                <a:cs typeface="Arial" pitchFamily="34" charset="-120"/>
              </a:rPr>
              <a:t>2025+ update: Modern reasoning models (o3, Claude with extended thinking, Gemini 2.5 Pro) now do this automatically. Understanding the concept still matters for debugging and for older/smaller models.</a:t>
            </a:r>
            <a:endParaRPr lang="en-US" sz="1100" dirty="0"/>
          </a:p>
        </p:txBody>
      </p:sp>
      <p:sp>
        <p:nvSpPr>
          <p:cNvPr id="8" name="Shape 6"/>
          <p:cNvSpPr/>
          <p:nvPr/>
        </p:nvSpPr>
        <p:spPr>
          <a:xfrm>
            <a:off x="457200" y="2103120"/>
            <a:ext cx="3840480" cy="1280160"/>
          </a:xfrm>
          <a:prstGeom prst="rect">
            <a:avLst/>
          </a:prstGeom>
          <a:solidFill>
            <a:srgbClr val="1A1020"/>
          </a:solidFill>
          <a:ln/>
          <a:effectLst>
            <a:outerShdw sx="100000" sy="100000" kx="0" ky="0" algn="bl" rotWithShape="0" blurRad="152400" dist="50800" dir="8100000">
              <a:srgbClr val="000000">
                <a:alpha val="50000"/>
              </a:srgbClr>
            </a:outerShdw>
          </a:effectLst>
        </p:spPr>
      </p:sp>
      <p:sp>
        <p:nvSpPr>
          <p:cNvPr id="9" name="Shape 7"/>
          <p:cNvSpPr/>
          <p:nvPr/>
        </p:nvSpPr>
        <p:spPr>
          <a:xfrm>
            <a:off x="457200" y="2103120"/>
            <a:ext cx="3840480" cy="54864"/>
          </a:xfrm>
          <a:prstGeom prst="rect">
            <a:avLst/>
          </a:prstGeom>
          <a:solidFill>
            <a:srgbClr val="FF4444"/>
          </a:solidFill>
          <a:ln/>
        </p:spPr>
      </p:sp>
      <p:sp>
        <p:nvSpPr>
          <p:cNvPr id="10" name="Text 8"/>
          <p:cNvSpPr/>
          <p:nvPr/>
        </p:nvSpPr>
        <p:spPr>
          <a:xfrm>
            <a:off x="640080" y="2240280"/>
            <a:ext cx="3474720" cy="274320"/>
          </a:xfrm>
          <a:prstGeom prst="rect">
            <a:avLst/>
          </a:prstGeom>
          <a:noFill/>
          <a:ln/>
        </p:spPr>
        <p:txBody>
          <a:bodyPr wrap="square" lIns="0" tIns="0" rIns="0" bIns="0" rtlCol="0" anchor="ctr"/>
          <a:lstStyle/>
          <a:p>
            <a:pPr indent="0" marL="0">
              <a:buNone/>
            </a:pPr>
            <a:r>
              <a:rPr lang="en-US" sz="1400" b="1" dirty="0">
                <a:solidFill>
                  <a:srgbClr val="FF6666"/>
                </a:solidFill>
                <a:latin typeface="Arial" pitchFamily="34" charset="0"/>
                <a:ea typeface="Arial" pitchFamily="34" charset="-122"/>
                <a:cs typeface="Arial" pitchFamily="34" charset="-120"/>
              </a:rPr>
              <a:t>Without reasoning</a:t>
            </a:r>
            <a:endParaRPr lang="en-US" sz="1400" dirty="0"/>
          </a:p>
        </p:txBody>
      </p:sp>
      <p:sp>
        <p:nvSpPr>
          <p:cNvPr id="11" name="Shape 9"/>
          <p:cNvSpPr/>
          <p:nvPr/>
        </p:nvSpPr>
        <p:spPr>
          <a:xfrm>
            <a:off x="640080" y="2606040"/>
            <a:ext cx="3474720" cy="274320"/>
          </a:xfrm>
          <a:prstGeom prst="rect">
            <a:avLst/>
          </a:prstGeom>
          <a:solidFill>
            <a:srgbClr val="0D0D1A"/>
          </a:solidFill>
          <a:ln/>
        </p:spPr>
      </p:sp>
      <p:sp>
        <p:nvSpPr>
          <p:cNvPr id="12" name="Text 10"/>
          <p:cNvSpPr/>
          <p:nvPr/>
        </p:nvSpPr>
        <p:spPr>
          <a:xfrm>
            <a:off x="731520" y="2624328"/>
            <a:ext cx="3291840" cy="237744"/>
          </a:xfrm>
          <a:prstGeom prst="rect">
            <a:avLst/>
          </a:prstGeom>
          <a:noFill/>
          <a:ln/>
        </p:spPr>
        <p:txBody>
          <a:bodyPr wrap="square" lIns="0" tIns="0" rIns="0" bIns="0" rtlCol="0" anchor="ctr"/>
          <a:lstStyle/>
          <a:p>
            <a:pPr indent="0" marL="0">
              <a:buNone/>
            </a:pPr>
            <a:r>
              <a:rPr lang="en-US" sz="1100" dirty="0">
                <a:solidFill>
                  <a:srgbClr val="C8C8D8"/>
                </a:solidFill>
                <a:latin typeface="Consolas" pitchFamily="34" charset="0"/>
                <a:ea typeface="Consolas" pitchFamily="34" charset="-122"/>
                <a:cs typeface="Consolas" pitchFamily="34" charset="-120"/>
              </a:rPr>
              <a:t>"Solve this problem"</a:t>
            </a:r>
            <a:endParaRPr lang="en-US" sz="1100" dirty="0"/>
          </a:p>
        </p:txBody>
      </p:sp>
      <p:sp>
        <p:nvSpPr>
          <p:cNvPr id="13" name="Text 11"/>
          <p:cNvSpPr/>
          <p:nvPr/>
        </p:nvSpPr>
        <p:spPr>
          <a:xfrm>
            <a:off x="640080" y="2971800"/>
            <a:ext cx="347472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 Answer: 42 — no reasoning, can't verify</a:t>
            </a:r>
            <a:endParaRPr lang="en-US" sz="1100" dirty="0"/>
          </a:p>
        </p:txBody>
      </p:sp>
      <p:sp>
        <p:nvSpPr>
          <p:cNvPr id="14" name="Shape 12"/>
          <p:cNvSpPr/>
          <p:nvPr/>
        </p:nvSpPr>
        <p:spPr>
          <a:xfrm>
            <a:off x="4846320" y="2103120"/>
            <a:ext cx="3840480" cy="1280160"/>
          </a:xfrm>
          <a:prstGeom prst="rect">
            <a:avLst/>
          </a:prstGeom>
          <a:solidFill>
            <a:srgbClr val="101A20"/>
          </a:solidFill>
          <a:ln/>
          <a:effectLst>
            <a:outerShdw sx="100000" sy="100000" kx="0" ky="0" algn="bl" rotWithShape="0" blurRad="152400" dist="50800" dir="8100000">
              <a:srgbClr val="000000">
                <a:alpha val="50000"/>
              </a:srgbClr>
            </a:outerShdw>
          </a:effectLst>
        </p:spPr>
      </p:sp>
      <p:sp>
        <p:nvSpPr>
          <p:cNvPr id="15" name="Shape 13"/>
          <p:cNvSpPr/>
          <p:nvPr/>
        </p:nvSpPr>
        <p:spPr>
          <a:xfrm>
            <a:off x="4846320" y="2103120"/>
            <a:ext cx="3840480" cy="54864"/>
          </a:xfrm>
          <a:prstGeom prst="rect">
            <a:avLst/>
          </a:prstGeom>
          <a:solidFill>
            <a:srgbClr val="00D4AA"/>
          </a:solidFill>
          <a:ln/>
        </p:spPr>
      </p:sp>
      <p:sp>
        <p:nvSpPr>
          <p:cNvPr id="16" name="Text 14"/>
          <p:cNvSpPr/>
          <p:nvPr/>
        </p:nvSpPr>
        <p:spPr>
          <a:xfrm>
            <a:off x="5029200" y="2240280"/>
            <a:ext cx="3474720" cy="27432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With reasoning</a:t>
            </a:r>
            <a:endParaRPr lang="en-US" sz="1400" dirty="0"/>
          </a:p>
        </p:txBody>
      </p:sp>
      <p:sp>
        <p:nvSpPr>
          <p:cNvPr id="17" name="Shape 15"/>
          <p:cNvSpPr/>
          <p:nvPr/>
        </p:nvSpPr>
        <p:spPr>
          <a:xfrm>
            <a:off x="5029200" y="2606040"/>
            <a:ext cx="3474720" cy="274320"/>
          </a:xfrm>
          <a:prstGeom prst="rect">
            <a:avLst/>
          </a:prstGeom>
          <a:solidFill>
            <a:srgbClr val="0D1A18"/>
          </a:solidFill>
          <a:ln/>
        </p:spPr>
      </p:sp>
      <p:sp>
        <p:nvSpPr>
          <p:cNvPr id="18" name="Text 16"/>
          <p:cNvSpPr/>
          <p:nvPr/>
        </p:nvSpPr>
        <p:spPr>
          <a:xfrm>
            <a:off x="5120640" y="2624328"/>
            <a:ext cx="3291840" cy="237744"/>
          </a:xfrm>
          <a:prstGeom prst="rect">
            <a:avLst/>
          </a:prstGeom>
          <a:noFill/>
          <a:ln/>
        </p:spPr>
        <p:txBody>
          <a:bodyPr wrap="square" lIns="0" tIns="0" rIns="0" bIns="0" rtlCol="0" anchor="ctr"/>
          <a:lstStyle/>
          <a:p>
            <a:pPr indent="0" marL="0">
              <a:buNone/>
            </a:pPr>
            <a:r>
              <a:rPr lang="en-US" sz="1100" dirty="0">
                <a:solidFill>
                  <a:srgbClr val="00D4AA"/>
                </a:solidFill>
                <a:latin typeface="Consolas" pitchFamily="34" charset="0"/>
                <a:ea typeface="Consolas" pitchFamily="34" charset="-122"/>
                <a:cs typeface="Consolas" pitchFamily="34" charset="-120"/>
              </a:rPr>
              <a:t>"Let's think step by step"</a:t>
            </a:r>
            <a:endParaRPr lang="en-US" sz="1100" dirty="0"/>
          </a:p>
        </p:txBody>
      </p:sp>
      <p:sp>
        <p:nvSpPr>
          <p:cNvPr id="19" name="Text 17"/>
          <p:cNvSpPr/>
          <p:nvPr/>
        </p:nvSpPr>
        <p:spPr>
          <a:xfrm>
            <a:off x="5029200" y="2971800"/>
            <a:ext cx="347472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 First... Then... Therefore: 42 — verifiable</a:t>
            </a:r>
            <a:endParaRPr lang="en-US" sz="1100" dirty="0"/>
          </a:p>
        </p:txBody>
      </p:sp>
      <p:sp>
        <p:nvSpPr>
          <p:cNvPr id="20" name="Shape 18"/>
          <p:cNvSpPr/>
          <p:nvPr/>
        </p:nvSpPr>
        <p:spPr>
          <a:xfrm>
            <a:off x="457200" y="3703320"/>
            <a:ext cx="2560320" cy="100584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1" name="Shape 19"/>
          <p:cNvSpPr/>
          <p:nvPr/>
        </p:nvSpPr>
        <p:spPr>
          <a:xfrm>
            <a:off x="457200" y="3703320"/>
            <a:ext cx="54864" cy="1005840"/>
          </a:xfrm>
          <a:prstGeom prst="rect">
            <a:avLst/>
          </a:prstGeom>
          <a:solidFill>
            <a:srgbClr val="E91E8C"/>
          </a:solidFill>
          <a:ln/>
        </p:spPr>
      </p:sp>
      <p:sp>
        <p:nvSpPr>
          <p:cNvPr id="22" name="Text 20"/>
          <p:cNvSpPr/>
          <p:nvPr/>
        </p:nvSpPr>
        <p:spPr>
          <a:xfrm>
            <a:off x="640080" y="3767328"/>
            <a:ext cx="2194560" cy="274320"/>
          </a:xfrm>
          <a:prstGeom prst="rect">
            <a:avLst/>
          </a:prstGeom>
          <a:noFill/>
          <a:ln/>
        </p:spPr>
        <p:txBody>
          <a:bodyPr wrap="square" lIns="0" tIns="0" rIns="0" bIns="0" rtlCol="0" anchor="ctr"/>
          <a:lstStyle/>
          <a:p>
            <a:pPr indent="0" marL="0">
              <a:buNone/>
            </a:pPr>
            <a:r>
              <a:rPr lang="en-US" sz="1200" b="1" dirty="0">
                <a:solidFill>
                  <a:srgbClr val="E91E8C"/>
                </a:solidFill>
                <a:latin typeface="Arial" pitchFamily="34" charset="0"/>
                <a:ea typeface="Arial" pitchFamily="34" charset="-122"/>
                <a:cs typeface="Arial" pitchFamily="34" charset="-120"/>
              </a:rPr>
              <a:t>Debugging</a:t>
            </a:r>
            <a:endParaRPr lang="en-US" sz="1200" dirty="0"/>
          </a:p>
        </p:txBody>
      </p:sp>
      <p:sp>
        <p:nvSpPr>
          <p:cNvPr id="23" name="Text 21"/>
          <p:cNvSpPr/>
          <p:nvPr/>
        </p:nvSpPr>
        <p:spPr>
          <a:xfrm>
            <a:off x="640080" y="4069080"/>
            <a:ext cx="2194560" cy="54864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When output is wrong, ask for reasoning to find where logic fails</a:t>
            </a:r>
            <a:endParaRPr lang="en-US" sz="1000" dirty="0"/>
          </a:p>
        </p:txBody>
      </p:sp>
      <p:sp>
        <p:nvSpPr>
          <p:cNvPr id="24" name="Shape 22"/>
          <p:cNvSpPr/>
          <p:nvPr/>
        </p:nvSpPr>
        <p:spPr>
          <a:xfrm>
            <a:off x="3291840" y="3703320"/>
            <a:ext cx="2560320" cy="100584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5" name="Shape 23"/>
          <p:cNvSpPr/>
          <p:nvPr/>
        </p:nvSpPr>
        <p:spPr>
          <a:xfrm>
            <a:off x="3291840" y="3703320"/>
            <a:ext cx="54864" cy="1005840"/>
          </a:xfrm>
          <a:prstGeom prst="rect">
            <a:avLst/>
          </a:prstGeom>
          <a:solidFill>
            <a:srgbClr val="4A9FFF"/>
          </a:solidFill>
          <a:ln/>
        </p:spPr>
      </p:sp>
      <p:sp>
        <p:nvSpPr>
          <p:cNvPr id="26" name="Text 24"/>
          <p:cNvSpPr/>
          <p:nvPr/>
        </p:nvSpPr>
        <p:spPr>
          <a:xfrm>
            <a:off x="3474720" y="3767328"/>
            <a:ext cx="2194560" cy="274320"/>
          </a:xfrm>
          <a:prstGeom prst="rect">
            <a:avLst/>
          </a:prstGeom>
          <a:noFill/>
          <a:ln/>
        </p:spPr>
        <p:txBody>
          <a:bodyPr wrap="square" lIns="0" tIns="0" rIns="0" bIns="0" rtlCol="0" anchor="ctr"/>
          <a:lstStyle/>
          <a:p>
            <a:pPr indent="0" marL="0">
              <a:buNone/>
            </a:pPr>
            <a:r>
              <a:rPr lang="en-US" sz="1200" b="1" dirty="0">
                <a:solidFill>
                  <a:srgbClr val="4A9FFF"/>
                </a:solidFill>
                <a:latin typeface="Arial" pitchFamily="34" charset="0"/>
                <a:ea typeface="Arial" pitchFamily="34" charset="-122"/>
                <a:cs typeface="Arial" pitchFamily="34" charset="-120"/>
              </a:rPr>
              <a:t>Smaller models</a:t>
            </a:r>
            <a:endParaRPr lang="en-US" sz="1200" dirty="0"/>
          </a:p>
        </p:txBody>
      </p:sp>
      <p:sp>
        <p:nvSpPr>
          <p:cNvPr id="27" name="Text 25"/>
          <p:cNvSpPr/>
          <p:nvPr/>
        </p:nvSpPr>
        <p:spPr>
          <a:xfrm>
            <a:off x="3474720" y="4069080"/>
            <a:ext cx="2194560" cy="54864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GPT-4o-mini, Haiku, local models still benefit enormously from CoT</a:t>
            </a:r>
            <a:endParaRPr lang="en-US" sz="1000" dirty="0"/>
          </a:p>
        </p:txBody>
      </p:sp>
      <p:sp>
        <p:nvSpPr>
          <p:cNvPr id="28" name="Shape 26"/>
          <p:cNvSpPr/>
          <p:nvPr/>
        </p:nvSpPr>
        <p:spPr>
          <a:xfrm>
            <a:off x="6126480" y="3703320"/>
            <a:ext cx="2560320" cy="100584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9" name="Shape 27"/>
          <p:cNvSpPr/>
          <p:nvPr/>
        </p:nvSpPr>
        <p:spPr>
          <a:xfrm>
            <a:off x="6126480" y="3703320"/>
            <a:ext cx="54864" cy="1005840"/>
          </a:xfrm>
          <a:prstGeom prst="rect">
            <a:avLst/>
          </a:prstGeom>
          <a:solidFill>
            <a:srgbClr val="00D4AA"/>
          </a:solidFill>
          <a:ln/>
        </p:spPr>
      </p:sp>
      <p:sp>
        <p:nvSpPr>
          <p:cNvPr id="30" name="Text 28"/>
          <p:cNvSpPr/>
          <p:nvPr/>
        </p:nvSpPr>
        <p:spPr>
          <a:xfrm>
            <a:off x="6309360" y="3767328"/>
            <a:ext cx="2194560" cy="274320"/>
          </a:xfrm>
          <a:prstGeom prst="rect">
            <a:avLst/>
          </a:prstGeom>
          <a:noFill/>
          <a:ln/>
        </p:spPr>
        <p:txBody>
          <a:bodyPr wrap="square" lIns="0" tIns="0" rIns="0" bIns="0" rtlCol="0" anchor="ctr"/>
          <a:lstStyle/>
          <a:p>
            <a:pPr indent="0" marL="0">
              <a:buNone/>
            </a:pPr>
            <a:r>
              <a:rPr lang="en-US" sz="1200" b="1" dirty="0">
                <a:solidFill>
                  <a:srgbClr val="00D4AA"/>
                </a:solidFill>
                <a:latin typeface="Arial" pitchFamily="34" charset="0"/>
                <a:ea typeface="Arial" pitchFamily="34" charset="-122"/>
                <a:cs typeface="Arial" pitchFamily="34" charset="-120"/>
              </a:rPr>
              <a:t>Structured output</a:t>
            </a:r>
            <a:endParaRPr lang="en-US" sz="1200" dirty="0"/>
          </a:p>
        </p:txBody>
      </p:sp>
      <p:sp>
        <p:nvSpPr>
          <p:cNvPr id="31" name="Text 29"/>
          <p:cNvSpPr/>
          <p:nvPr/>
        </p:nvSpPr>
        <p:spPr>
          <a:xfrm>
            <a:off x="6309360" y="4069080"/>
            <a:ext cx="2194560" cy="54864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"Think, then format" prevents reasoning shortcuts in complex tasks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Prewarming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Prime the model before asking your real question</a:t>
            </a:r>
            <a:endParaRPr lang="en-US" sz="1100" dirty="0"/>
          </a:p>
        </p:txBody>
      </p:sp>
      <p:sp>
        <p:nvSpPr>
          <p:cNvPr id="5" name="Shape 3"/>
          <p:cNvSpPr/>
          <p:nvPr/>
        </p:nvSpPr>
        <p:spPr>
          <a:xfrm>
            <a:off x="457200" y="1051560"/>
            <a:ext cx="8229600" cy="685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685800"/>
          </a:xfrm>
          <a:prstGeom prst="rect">
            <a:avLst/>
          </a:prstGeom>
          <a:solidFill>
            <a:srgbClr val="4A9FFF"/>
          </a:solidFill>
          <a:ln/>
        </p:spPr>
      </p:sp>
      <p:sp>
        <p:nvSpPr>
          <p:cNvPr id="7" name="Text 5"/>
          <p:cNvSpPr/>
          <p:nvPr/>
        </p:nvSpPr>
        <p:spPr>
          <a:xfrm>
            <a:off x="731520" y="1097280"/>
            <a:ext cx="7680960" cy="2286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Ask the model to gather knowledge first, then use it.</a:t>
            </a:r>
            <a:endParaRPr lang="en-US" sz="1500" dirty="0"/>
          </a:p>
        </p:txBody>
      </p:sp>
      <p:sp>
        <p:nvSpPr>
          <p:cNvPr id="8" name="Text 6"/>
          <p:cNvSpPr/>
          <p:nvPr/>
        </p:nvSpPr>
        <p:spPr>
          <a:xfrm>
            <a:off x="731520" y="1371600"/>
            <a:ext cx="768096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Instead of jumping straight to the task, have the model brainstorm or recall relevant information first. Then use that output as context for the real question. It's like warming up before a sprint.</a:t>
            </a:r>
            <a:endParaRPr lang="en-US" sz="1100" dirty="0"/>
          </a:p>
        </p:txBody>
      </p:sp>
      <p:sp>
        <p:nvSpPr>
          <p:cNvPr id="9" name="Shape 7"/>
          <p:cNvSpPr/>
          <p:nvPr/>
        </p:nvSpPr>
        <p:spPr>
          <a:xfrm>
            <a:off x="457200" y="1965960"/>
            <a:ext cx="3931920" cy="2377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965960"/>
            <a:ext cx="3931920" cy="54864"/>
          </a:xfrm>
          <a:prstGeom prst="rect">
            <a:avLst/>
          </a:prstGeom>
          <a:solidFill>
            <a:srgbClr val="E91E8C"/>
          </a:solidFill>
          <a:ln/>
        </p:spPr>
      </p:sp>
      <p:sp>
        <p:nvSpPr>
          <p:cNvPr id="11" name="Text 9"/>
          <p:cNvSpPr/>
          <p:nvPr/>
        </p:nvSpPr>
        <p:spPr>
          <a:xfrm>
            <a:off x="594360" y="2057400"/>
            <a:ext cx="365760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Without prewarming</a:t>
            </a:r>
            <a:endParaRPr lang="en-US" sz="1300" dirty="0"/>
          </a:p>
        </p:txBody>
      </p:sp>
      <p:sp>
        <p:nvSpPr>
          <p:cNvPr id="12" name="Shape 10"/>
          <p:cNvSpPr/>
          <p:nvPr/>
        </p:nvSpPr>
        <p:spPr>
          <a:xfrm>
            <a:off x="594360" y="2377440"/>
            <a:ext cx="3657600" cy="1005840"/>
          </a:xfrm>
          <a:prstGeom prst="rect">
            <a:avLst/>
          </a:prstGeom>
          <a:solidFill>
            <a:srgbClr val="0D0D1A"/>
          </a:solidFill>
          <a:ln/>
        </p:spPr>
      </p:sp>
      <p:sp>
        <p:nvSpPr>
          <p:cNvPr id="13" name="Text 11"/>
          <p:cNvSpPr/>
          <p:nvPr/>
        </p:nvSpPr>
        <p:spPr>
          <a:xfrm>
            <a:off x="685800" y="2423160"/>
            <a:ext cx="3474720" cy="914400"/>
          </a:xfrm>
          <a:prstGeom prst="rect">
            <a:avLst/>
          </a:prstGeom>
          <a:noFill/>
          <a:ln/>
        </p:spPr>
        <p:txBody>
          <a:bodyPr wrap="square" lIns="0" tIns="0" rIns="0" bIns="0" rtlCol="0" anchor="ctr"/>
          <a:lstStyle/>
          <a:p>
            <a:pPr indent="0" marL="0">
              <a:buNone/>
            </a:pPr>
            <a:r>
              <a:rPr lang="en-US" sz="900" dirty="0">
                <a:solidFill>
                  <a:srgbClr val="C8C8D8"/>
                </a:solidFill>
                <a:latin typeface="Consolas" pitchFamily="34" charset="0"/>
                <a:ea typeface="Consolas" pitchFamily="34" charset="-122"/>
                <a:cs typeface="Consolas" pitchFamily="34" charset="-120"/>
              </a:rPr>
              <a:t>"Give me 5 product names</a:t>
            </a:r>
            <a:endParaRPr lang="en-US" sz="900" dirty="0"/>
          </a:p>
          <a:p>
            <a:pPr indent="0" marL="0">
              <a:buNone/>
            </a:pPr>
            <a:r>
              <a:rPr lang="en-US" sz="900" dirty="0">
                <a:solidFill>
                  <a:srgbClr val="C8C8D8"/>
                </a:solidFill>
                <a:latin typeface="Consolas" pitchFamily="34" charset="0"/>
                <a:ea typeface="Consolas" pitchFamily="34" charset="-122"/>
                <a:cs typeface="Consolas" pitchFamily="34" charset="-120"/>
              </a:rPr>
              <a:t>for shoes that fit any size."</a:t>
            </a:r>
            <a:endParaRPr lang="en-US" sz="900" dirty="0"/>
          </a:p>
        </p:txBody>
      </p:sp>
      <p:sp>
        <p:nvSpPr>
          <p:cNvPr id="14" name="Text 12"/>
          <p:cNvSpPr/>
          <p:nvPr/>
        </p:nvSpPr>
        <p:spPr>
          <a:xfrm>
            <a:off x="594360" y="3474720"/>
            <a:ext cx="3657600" cy="6400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 Generic names:</a:t>
            </a:r>
            <a:endParaRPr lang="en-US" sz="1000" dirty="0"/>
          </a:p>
          <a:p>
            <a:pPr indent="0" marL="0">
              <a:buNone/>
            </a:pPr>
            <a:r>
              <a:rPr lang="en-US" sz="1000" dirty="0">
                <a:solidFill>
                  <a:srgbClr val="9B9BB0"/>
                </a:solidFill>
                <a:latin typeface="Arial" pitchFamily="34" charset="0"/>
                <a:ea typeface="Arial" pitchFamily="34" charset="-122"/>
                <a:cs typeface="Arial" pitchFamily="34" charset="-120"/>
              </a:rPr>
              <a:t>UniFit, FlexShoe, AnySize...</a:t>
            </a:r>
            <a:endParaRPr lang="en-US" sz="1000" dirty="0"/>
          </a:p>
        </p:txBody>
      </p:sp>
      <p:sp>
        <p:nvSpPr>
          <p:cNvPr id="15" name="Shape 13"/>
          <p:cNvSpPr/>
          <p:nvPr/>
        </p:nvSpPr>
        <p:spPr>
          <a:xfrm>
            <a:off x="4754880" y="1965960"/>
            <a:ext cx="3931920" cy="2377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6" name="Shape 14"/>
          <p:cNvSpPr/>
          <p:nvPr/>
        </p:nvSpPr>
        <p:spPr>
          <a:xfrm>
            <a:off x="4754880" y="1965960"/>
            <a:ext cx="3931920" cy="54864"/>
          </a:xfrm>
          <a:prstGeom prst="rect">
            <a:avLst/>
          </a:prstGeom>
          <a:solidFill>
            <a:srgbClr val="00D4AA"/>
          </a:solidFill>
          <a:ln/>
        </p:spPr>
      </p:sp>
      <p:sp>
        <p:nvSpPr>
          <p:cNvPr id="17" name="Text 15"/>
          <p:cNvSpPr/>
          <p:nvPr/>
        </p:nvSpPr>
        <p:spPr>
          <a:xfrm>
            <a:off x="4892040" y="2057400"/>
            <a:ext cx="365760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With prewarming</a:t>
            </a:r>
            <a:endParaRPr lang="en-US" sz="1300" dirty="0"/>
          </a:p>
        </p:txBody>
      </p:sp>
      <p:sp>
        <p:nvSpPr>
          <p:cNvPr id="18" name="Shape 16"/>
          <p:cNvSpPr/>
          <p:nvPr/>
        </p:nvSpPr>
        <p:spPr>
          <a:xfrm>
            <a:off x="4892040" y="2377440"/>
            <a:ext cx="3657600" cy="1005840"/>
          </a:xfrm>
          <a:prstGeom prst="rect">
            <a:avLst/>
          </a:prstGeom>
          <a:solidFill>
            <a:srgbClr val="0D0D1A"/>
          </a:solidFill>
          <a:ln/>
        </p:spPr>
      </p:sp>
      <p:sp>
        <p:nvSpPr>
          <p:cNvPr id="19" name="Text 17"/>
          <p:cNvSpPr/>
          <p:nvPr/>
        </p:nvSpPr>
        <p:spPr>
          <a:xfrm>
            <a:off x="4983480" y="2423160"/>
            <a:ext cx="3474720" cy="914400"/>
          </a:xfrm>
          <a:prstGeom prst="rect">
            <a:avLst/>
          </a:prstGeom>
          <a:noFill/>
          <a:ln/>
        </p:spPr>
        <p:txBody>
          <a:bodyPr wrap="square" lIns="0" tIns="0" rIns="0" bIns="0" rtlCol="0" anchor="ctr"/>
          <a:lstStyle/>
          <a:p>
            <a:pPr indent="0" marL="0">
              <a:buNone/>
            </a:pPr>
            <a:r>
              <a:rPr lang="en-US" sz="900" dirty="0">
                <a:solidFill>
                  <a:srgbClr val="C8C8D8"/>
                </a:solidFill>
                <a:latin typeface="Consolas" pitchFamily="34" charset="0"/>
                <a:ea typeface="Consolas" pitchFamily="34" charset="-122"/>
                <a:cs typeface="Consolas" pitchFamily="34" charset="-120"/>
              </a:rPr>
              <a:t>Step 1: "List 10 expert tips</a:t>
            </a:r>
            <a:endParaRPr lang="en-US" sz="900" dirty="0"/>
          </a:p>
          <a:p>
            <a:pPr indent="0" marL="0">
              <a:buNone/>
            </a:pPr>
            <a:r>
              <a:rPr lang="en-US" sz="900" dirty="0">
                <a:solidFill>
                  <a:srgbClr val="C8C8D8"/>
                </a:solidFill>
                <a:latin typeface="Consolas" pitchFamily="34" charset="0"/>
                <a:ea typeface="Consolas" pitchFamily="34" charset="-122"/>
                <a:cs typeface="Consolas" pitchFamily="34" charset="-120"/>
              </a:rPr>
              <a:t>for naming consumer products."</a:t>
            </a:r>
            <a:endParaRPr lang="en-US" sz="900" dirty="0"/>
          </a:p>
          <a:p>
            <a:pPr indent="0" marL="0">
              <a:buNone/>
            </a:pPr>
            <a:endParaRPr lang="en-US" sz="900" dirty="0"/>
          </a:p>
          <a:p>
            <a:pPr indent="0" marL="0">
              <a:buNone/>
            </a:pPr>
            <a:r>
              <a:rPr lang="en-US" sz="900" dirty="0">
                <a:solidFill>
                  <a:srgbClr val="C8C8D8"/>
                </a:solidFill>
                <a:latin typeface="Consolas" pitchFamily="34" charset="0"/>
                <a:ea typeface="Consolas" pitchFamily="34" charset="-122"/>
                <a:cs typeface="Consolas" pitchFamily="34" charset="-120"/>
              </a:rPr>
              <a:t>Step 2: "Now using those tips,</a:t>
            </a:r>
            <a:endParaRPr lang="en-US" sz="900" dirty="0"/>
          </a:p>
          <a:p>
            <a:pPr indent="0" marL="0">
              <a:buNone/>
            </a:pPr>
            <a:r>
              <a:rPr lang="en-US" sz="900" dirty="0">
                <a:solidFill>
                  <a:srgbClr val="C8C8D8"/>
                </a:solidFill>
                <a:latin typeface="Consolas" pitchFamily="34" charset="0"/>
                <a:ea typeface="Consolas" pitchFamily="34" charset="-122"/>
                <a:cs typeface="Consolas" pitchFamily="34" charset="-120"/>
              </a:rPr>
              <a:t>give me 5 product names</a:t>
            </a:r>
            <a:endParaRPr lang="en-US" sz="900" dirty="0"/>
          </a:p>
          <a:p>
            <a:pPr indent="0" marL="0">
              <a:buNone/>
            </a:pPr>
            <a:r>
              <a:rPr lang="en-US" sz="900" dirty="0">
                <a:solidFill>
                  <a:srgbClr val="C8C8D8"/>
                </a:solidFill>
                <a:latin typeface="Consolas" pitchFamily="34" charset="0"/>
                <a:ea typeface="Consolas" pitchFamily="34" charset="-122"/>
                <a:cs typeface="Consolas" pitchFamily="34" charset="-120"/>
              </a:rPr>
              <a:t>for shoes that fit any size."</a:t>
            </a:r>
            <a:endParaRPr lang="en-US" sz="900" dirty="0"/>
          </a:p>
        </p:txBody>
      </p:sp>
      <p:sp>
        <p:nvSpPr>
          <p:cNvPr id="20" name="Text 18"/>
          <p:cNvSpPr/>
          <p:nvPr/>
        </p:nvSpPr>
        <p:spPr>
          <a:xfrm>
            <a:off x="4892040" y="3474720"/>
            <a:ext cx="3657600" cy="640080"/>
          </a:xfrm>
          <a:prstGeom prst="rect">
            <a:avLst/>
          </a:prstGeom>
          <a:noFill/>
          <a:ln/>
        </p:spPr>
        <p:txBody>
          <a:bodyPr wrap="square" lIns="0" tIns="0" rIns="0" bIns="0" rtlCol="0" anchor="ctr"/>
          <a:lstStyle/>
          <a:p>
            <a:pPr indent="0" marL="0">
              <a:buNone/>
            </a:pPr>
            <a:r>
              <a:rPr lang="en-US" sz="1000" dirty="0">
                <a:solidFill>
                  <a:srgbClr val="00D4AA"/>
                </a:solidFill>
                <a:latin typeface="Arial" pitchFamily="34" charset="0"/>
                <a:ea typeface="Arial" pitchFamily="34" charset="-122"/>
                <a:cs typeface="Arial" pitchFamily="34" charset="-120"/>
              </a:rPr>
              <a:t>→ Creative, expert-informed:</a:t>
            </a:r>
            <a:endParaRPr lang="en-US" sz="1000" dirty="0"/>
          </a:p>
          <a:p>
            <a:pPr indent="0" marL="0">
              <a:buNone/>
            </a:pPr>
            <a:r>
              <a:rPr lang="en-US" sz="1000" dirty="0">
                <a:solidFill>
                  <a:srgbClr val="00D4AA"/>
                </a:solidFill>
                <a:latin typeface="Arial" pitchFamily="34" charset="0"/>
                <a:ea typeface="Arial" pitchFamily="34" charset="-122"/>
                <a:cs typeface="Arial" pitchFamily="34" charset="-120"/>
              </a:rPr>
              <a:t>iMorph, SoleFlex, TrueForm...</a:t>
            </a:r>
            <a:endParaRPr lang="en-US" sz="1000" dirty="0"/>
          </a:p>
        </p:txBody>
      </p:sp>
      <p:sp>
        <p:nvSpPr>
          <p:cNvPr id="21" name="Shape 19"/>
          <p:cNvSpPr/>
          <p:nvPr/>
        </p:nvSpPr>
        <p:spPr>
          <a:xfrm>
            <a:off x="457200" y="4572000"/>
            <a:ext cx="822960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2" name="Shape 20"/>
          <p:cNvSpPr/>
          <p:nvPr/>
        </p:nvSpPr>
        <p:spPr>
          <a:xfrm>
            <a:off x="457200" y="4572000"/>
            <a:ext cx="54864" cy="411480"/>
          </a:xfrm>
          <a:prstGeom prst="rect">
            <a:avLst/>
          </a:prstGeom>
          <a:solidFill>
            <a:srgbClr val="E91E8C"/>
          </a:solidFill>
          <a:ln/>
        </p:spPr>
      </p:sp>
      <p:sp>
        <p:nvSpPr>
          <p:cNvPr id="23" name="Text 21"/>
          <p:cNvSpPr/>
          <p:nvPr/>
        </p:nvSpPr>
        <p:spPr>
          <a:xfrm>
            <a:off x="731520" y="4572000"/>
            <a:ext cx="7680960" cy="41148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 xml:space="preserve">Also called: </a:t>
            </a:r>
            <a:pPr indent="0" marL="0">
              <a:buNone/>
            </a:pPr>
            <a:r>
              <a:rPr lang="en-US" sz="1000" b="1" dirty="0">
                <a:solidFill>
                  <a:srgbClr val="E91E8C"/>
                </a:solidFill>
                <a:latin typeface="Arial" pitchFamily="34" charset="0"/>
                <a:ea typeface="Arial" pitchFamily="34" charset="-122"/>
                <a:cs typeface="Arial" pitchFamily="34" charset="-120"/>
              </a:rPr>
              <a:t>Internal Retrieval</a:t>
            </a:r>
            <a:pPr indent="0" marL="0">
              <a:buNone/>
            </a:pPr>
            <a:r>
              <a:rPr lang="en-US" sz="1000" dirty="0">
                <a:solidFill>
                  <a:srgbClr val="C8C8D8"/>
                </a:solidFill>
                <a:latin typeface="Arial" pitchFamily="34" charset="0"/>
                <a:ea typeface="Arial" pitchFamily="34" charset="-122"/>
                <a:cs typeface="Arial" pitchFamily="34" charset="-120"/>
              </a:rPr>
              <a:t xml:space="preserve"> or </a:t>
            </a:r>
            <a:pPr indent="0" marL="0">
              <a:buNone/>
            </a:pPr>
            <a:r>
              <a:rPr lang="en-US" sz="1000" b="1" dirty="0">
                <a:solidFill>
                  <a:srgbClr val="4A9FFF"/>
                </a:solidFill>
                <a:latin typeface="Arial" pitchFamily="34" charset="0"/>
                <a:ea typeface="Arial" pitchFamily="34" charset="-122"/>
                <a:cs typeface="Arial" pitchFamily="34" charset="-120"/>
              </a:rPr>
              <a:t>Generate Knowledge Prompting</a:t>
            </a:r>
            <a:pPr indent="0" marL="0">
              <a:buNone/>
            </a:pPr>
            <a:r>
              <a:rPr lang="en-US" sz="1000" dirty="0">
                <a:solidFill>
                  <a:srgbClr val="C8C8D8"/>
                </a:solidFill>
                <a:latin typeface="Arial" pitchFamily="34" charset="0"/>
                <a:ea typeface="Arial" pitchFamily="34" charset="-122"/>
                <a:cs typeface="Arial" pitchFamily="34" charset="-120"/>
              </a:rPr>
              <a:t xml:space="preserve"> — the model retrieves from its own training data before answering.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ReAct Pattern</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Reasoning + Action for complex tasks (Chapter 8)</a:t>
            </a:r>
            <a:endParaRPr lang="en-US" sz="1100" dirty="0"/>
          </a:p>
        </p:txBody>
      </p:sp>
      <p:sp>
        <p:nvSpPr>
          <p:cNvPr id="5" name="Shape 3"/>
          <p:cNvSpPr/>
          <p:nvPr/>
        </p:nvSpPr>
        <p:spPr>
          <a:xfrm>
            <a:off x="457200" y="1097280"/>
            <a:ext cx="1874520" cy="15544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6" name="Shape 4"/>
          <p:cNvSpPr/>
          <p:nvPr/>
        </p:nvSpPr>
        <p:spPr>
          <a:xfrm>
            <a:off x="457200" y="1097280"/>
            <a:ext cx="1874520" cy="54864"/>
          </a:xfrm>
          <a:prstGeom prst="rect">
            <a:avLst/>
          </a:prstGeom>
          <a:solidFill>
            <a:srgbClr val="E91E8C"/>
          </a:solidFill>
          <a:ln/>
        </p:spPr>
      </p:sp>
      <p:sp>
        <p:nvSpPr>
          <p:cNvPr id="7" name="Shape 5"/>
          <p:cNvSpPr/>
          <p:nvPr/>
        </p:nvSpPr>
        <p:spPr>
          <a:xfrm>
            <a:off x="594360" y="1325880"/>
            <a:ext cx="365760" cy="365760"/>
          </a:xfrm>
          <a:prstGeom prst="ellipse">
            <a:avLst/>
          </a:prstGeom>
          <a:solidFill>
            <a:srgbClr val="E91E8C"/>
          </a:solidFill>
          <a:ln/>
        </p:spPr>
      </p:sp>
      <p:sp>
        <p:nvSpPr>
          <p:cNvPr id="8" name="Text 6"/>
          <p:cNvSpPr/>
          <p:nvPr/>
        </p:nvSpPr>
        <p:spPr>
          <a:xfrm>
            <a:off x="594360" y="1325880"/>
            <a:ext cx="365760" cy="365760"/>
          </a:xfrm>
          <a:prstGeom prst="rect">
            <a:avLst/>
          </a:prstGeom>
          <a:noFill/>
          <a:ln/>
        </p:spPr>
        <p:txBody>
          <a:bodyPr wrap="square" lIns="0" tIns="0" rIns="0" bIns="0" rtlCol="0" anchor="ctr"/>
          <a:lstStyle/>
          <a:p>
            <a:pPr algn="ctr" indent="0" marL="0">
              <a:buNone/>
            </a:pPr>
            <a:r>
              <a:rPr lang="en-US" sz="1600" dirty="0">
                <a:solidFill>
                  <a:srgbClr val="0D0D0D"/>
                </a:solidFill>
                <a:latin typeface="Arial Black" pitchFamily="34" charset="0"/>
                <a:ea typeface="Arial Black" pitchFamily="34" charset="-122"/>
                <a:cs typeface="Arial Black" pitchFamily="34" charset="-120"/>
              </a:rPr>
              <a:t>1</a:t>
            </a:r>
            <a:endParaRPr lang="en-US" sz="1600" dirty="0"/>
          </a:p>
        </p:txBody>
      </p:sp>
      <p:sp>
        <p:nvSpPr>
          <p:cNvPr id="9" name="Text 7"/>
          <p:cNvSpPr/>
          <p:nvPr/>
        </p:nvSpPr>
        <p:spPr>
          <a:xfrm>
            <a:off x="548640" y="1783080"/>
            <a:ext cx="1691640" cy="274320"/>
          </a:xfrm>
          <a:prstGeom prst="rect">
            <a:avLst/>
          </a:prstGeom>
          <a:noFill/>
          <a:ln/>
        </p:spPr>
        <p:txBody>
          <a:bodyPr wrap="square" lIns="0" tIns="0" rIns="0" bIns="0" rtlCol="0" anchor="ctr"/>
          <a:lstStyle/>
          <a:p>
            <a:pPr indent="0" marL="0">
              <a:buNone/>
            </a:pPr>
            <a:r>
              <a:rPr lang="en-US" sz="1400" b="1" dirty="0">
                <a:solidFill>
                  <a:srgbClr val="E91E8C"/>
                </a:solidFill>
                <a:latin typeface="Arial" pitchFamily="34" charset="0"/>
                <a:ea typeface="Arial" pitchFamily="34" charset="-122"/>
                <a:cs typeface="Arial" pitchFamily="34" charset="-120"/>
              </a:rPr>
              <a:t>Thought</a:t>
            </a:r>
            <a:endParaRPr lang="en-US" sz="1400" dirty="0"/>
          </a:p>
        </p:txBody>
      </p:sp>
      <p:sp>
        <p:nvSpPr>
          <p:cNvPr id="10" name="Text 8"/>
          <p:cNvSpPr/>
          <p:nvPr/>
        </p:nvSpPr>
        <p:spPr>
          <a:xfrm>
            <a:off x="548640" y="2103120"/>
            <a:ext cx="1691640" cy="45720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Reason about what</a:t>
            </a:r>
            <a:endParaRPr lang="en-US" sz="1000" dirty="0"/>
          </a:p>
          <a:p>
            <a:pPr indent="0" marL="0">
              <a:buNone/>
            </a:pPr>
            <a:r>
              <a:rPr lang="en-US" sz="1000" dirty="0">
                <a:solidFill>
                  <a:srgbClr val="9B9BB0"/>
                </a:solidFill>
                <a:latin typeface="Arial" pitchFamily="34" charset="0"/>
                <a:ea typeface="Arial" pitchFamily="34" charset="-122"/>
                <a:cs typeface="Arial" pitchFamily="34" charset="-120"/>
              </a:rPr>
              <a:t>to do next</a:t>
            </a:r>
            <a:endParaRPr lang="en-US" sz="1000" dirty="0"/>
          </a:p>
        </p:txBody>
      </p:sp>
      <p:sp>
        <p:nvSpPr>
          <p:cNvPr id="11" name="Text 9"/>
          <p:cNvSpPr/>
          <p:nvPr/>
        </p:nvSpPr>
        <p:spPr>
          <a:xfrm>
            <a:off x="2286000" y="1554480"/>
            <a:ext cx="365760" cy="457200"/>
          </a:xfrm>
          <a:prstGeom prst="rect">
            <a:avLst/>
          </a:prstGeom>
          <a:noFill/>
          <a:ln/>
        </p:spPr>
        <p:txBody>
          <a:bodyPr wrap="square" lIns="0" tIns="0" rIns="0" bIns="0" rtlCol="0" anchor="ctr"/>
          <a:lstStyle/>
          <a:p>
            <a:pPr algn="ctr" indent="0" marL="0">
              <a:buNone/>
            </a:pPr>
            <a:r>
              <a:rPr lang="en-US" sz="2000" dirty="0">
                <a:solidFill>
                  <a:srgbClr val="9B9BB0"/>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2606040" y="1097280"/>
            <a:ext cx="1874520" cy="15544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3" name="Shape 11"/>
          <p:cNvSpPr/>
          <p:nvPr/>
        </p:nvSpPr>
        <p:spPr>
          <a:xfrm>
            <a:off x="2606040" y="1097280"/>
            <a:ext cx="1874520" cy="54864"/>
          </a:xfrm>
          <a:prstGeom prst="rect">
            <a:avLst/>
          </a:prstGeom>
          <a:solidFill>
            <a:srgbClr val="4A9FFF"/>
          </a:solidFill>
          <a:ln/>
        </p:spPr>
      </p:sp>
      <p:sp>
        <p:nvSpPr>
          <p:cNvPr id="14" name="Shape 12"/>
          <p:cNvSpPr/>
          <p:nvPr/>
        </p:nvSpPr>
        <p:spPr>
          <a:xfrm>
            <a:off x="2743200" y="1325880"/>
            <a:ext cx="365760" cy="365760"/>
          </a:xfrm>
          <a:prstGeom prst="ellipse">
            <a:avLst/>
          </a:prstGeom>
          <a:solidFill>
            <a:srgbClr val="4A9FFF"/>
          </a:solidFill>
          <a:ln/>
        </p:spPr>
      </p:sp>
      <p:sp>
        <p:nvSpPr>
          <p:cNvPr id="15" name="Text 13"/>
          <p:cNvSpPr/>
          <p:nvPr/>
        </p:nvSpPr>
        <p:spPr>
          <a:xfrm>
            <a:off x="2743200" y="1325880"/>
            <a:ext cx="365760" cy="365760"/>
          </a:xfrm>
          <a:prstGeom prst="rect">
            <a:avLst/>
          </a:prstGeom>
          <a:noFill/>
          <a:ln/>
        </p:spPr>
        <p:txBody>
          <a:bodyPr wrap="square" lIns="0" tIns="0" rIns="0" bIns="0" rtlCol="0" anchor="ctr"/>
          <a:lstStyle/>
          <a:p>
            <a:pPr algn="ctr" indent="0" marL="0">
              <a:buNone/>
            </a:pPr>
            <a:r>
              <a:rPr lang="en-US" sz="1600" dirty="0">
                <a:solidFill>
                  <a:srgbClr val="0D0D0D"/>
                </a:solidFill>
                <a:latin typeface="Arial Black" pitchFamily="34" charset="0"/>
                <a:ea typeface="Arial Black" pitchFamily="34" charset="-122"/>
                <a:cs typeface="Arial Black" pitchFamily="34" charset="-120"/>
              </a:rPr>
              <a:t>2</a:t>
            </a:r>
            <a:endParaRPr lang="en-US" sz="1600" dirty="0"/>
          </a:p>
        </p:txBody>
      </p:sp>
      <p:sp>
        <p:nvSpPr>
          <p:cNvPr id="16" name="Text 14"/>
          <p:cNvSpPr/>
          <p:nvPr/>
        </p:nvSpPr>
        <p:spPr>
          <a:xfrm>
            <a:off x="2697480" y="1783080"/>
            <a:ext cx="1691640" cy="274320"/>
          </a:xfrm>
          <a:prstGeom prst="rect">
            <a:avLst/>
          </a:prstGeom>
          <a:noFill/>
          <a:ln/>
        </p:spPr>
        <p:txBody>
          <a:bodyPr wrap="square" lIns="0" tIns="0" rIns="0" bIns="0" rtlCol="0" anchor="ctr"/>
          <a:lstStyle/>
          <a:p>
            <a:pPr indent="0" marL="0">
              <a:buNone/>
            </a:pPr>
            <a:r>
              <a:rPr lang="en-US" sz="1400" b="1" dirty="0">
                <a:solidFill>
                  <a:srgbClr val="4A9FFF"/>
                </a:solidFill>
                <a:latin typeface="Arial" pitchFamily="34" charset="0"/>
                <a:ea typeface="Arial" pitchFamily="34" charset="-122"/>
                <a:cs typeface="Arial" pitchFamily="34" charset="-120"/>
              </a:rPr>
              <a:t>Action</a:t>
            </a:r>
            <a:endParaRPr lang="en-US" sz="1400" dirty="0"/>
          </a:p>
        </p:txBody>
      </p:sp>
      <p:sp>
        <p:nvSpPr>
          <p:cNvPr id="17" name="Text 15"/>
          <p:cNvSpPr/>
          <p:nvPr/>
        </p:nvSpPr>
        <p:spPr>
          <a:xfrm>
            <a:off x="2697480" y="2103120"/>
            <a:ext cx="1691640" cy="45720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Use a tool or</a:t>
            </a:r>
            <a:endParaRPr lang="en-US" sz="1000" dirty="0"/>
          </a:p>
          <a:p>
            <a:pPr indent="0" marL="0">
              <a:buNone/>
            </a:pPr>
            <a:r>
              <a:rPr lang="en-US" sz="1000" dirty="0">
                <a:solidFill>
                  <a:srgbClr val="9B9BB0"/>
                </a:solidFill>
                <a:latin typeface="Arial" pitchFamily="34" charset="0"/>
                <a:ea typeface="Arial" pitchFamily="34" charset="-122"/>
                <a:cs typeface="Arial" pitchFamily="34" charset="-120"/>
              </a:rPr>
              <a:t>execute a function</a:t>
            </a:r>
            <a:endParaRPr lang="en-US" sz="1000" dirty="0"/>
          </a:p>
        </p:txBody>
      </p:sp>
      <p:sp>
        <p:nvSpPr>
          <p:cNvPr id="18" name="Text 16"/>
          <p:cNvSpPr/>
          <p:nvPr/>
        </p:nvSpPr>
        <p:spPr>
          <a:xfrm>
            <a:off x="4434840" y="1554480"/>
            <a:ext cx="365760" cy="457200"/>
          </a:xfrm>
          <a:prstGeom prst="rect">
            <a:avLst/>
          </a:prstGeom>
          <a:noFill/>
          <a:ln/>
        </p:spPr>
        <p:txBody>
          <a:bodyPr wrap="square" lIns="0" tIns="0" rIns="0" bIns="0" rtlCol="0" anchor="ctr"/>
          <a:lstStyle/>
          <a:p>
            <a:pPr algn="ctr" indent="0" marL="0">
              <a:buNone/>
            </a:pPr>
            <a:r>
              <a:rPr lang="en-US" sz="2000" dirty="0">
                <a:solidFill>
                  <a:srgbClr val="9B9BB0"/>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4754880" y="1097280"/>
            <a:ext cx="1874520" cy="15544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0" name="Shape 18"/>
          <p:cNvSpPr/>
          <p:nvPr/>
        </p:nvSpPr>
        <p:spPr>
          <a:xfrm>
            <a:off x="4754880" y="1097280"/>
            <a:ext cx="1874520" cy="54864"/>
          </a:xfrm>
          <a:prstGeom prst="rect">
            <a:avLst/>
          </a:prstGeom>
          <a:solidFill>
            <a:srgbClr val="00D4AA"/>
          </a:solidFill>
          <a:ln/>
        </p:spPr>
      </p:sp>
      <p:sp>
        <p:nvSpPr>
          <p:cNvPr id="21" name="Shape 19"/>
          <p:cNvSpPr/>
          <p:nvPr/>
        </p:nvSpPr>
        <p:spPr>
          <a:xfrm>
            <a:off x="4892040" y="1325880"/>
            <a:ext cx="365760" cy="365760"/>
          </a:xfrm>
          <a:prstGeom prst="ellipse">
            <a:avLst/>
          </a:prstGeom>
          <a:solidFill>
            <a:srgbClr val="00D4AA"/>
          </a:solidFill>
          <a:ln/>
        </p:spPr>
      </p:sp>
      <p:sp>
        <p:nvSpPr>
          <p:cNvPr id="22" name="Text 20"/>
          <p:cNvSpPr/>
          <p:nvPr/>
        </p:nvSpPr>
        <p:spPr>
          <a:xfrm>
            <a:off x="4892040" y="1325880"/>
            <a:ext cx="365760" cy="365760"/>
          </a:xfrm>
          <a:prstGeom prst="rect">
            <a:avLst/>
          </a:prstGeom>
          <a:noFill/>
          <a:ln/>
        </p:spPr>
        <p:txBody>
          <a:bodyPr wrap="square" lIns="0" tIns="0" rIns="0" bIns="0" rtlCol="0" anchor="ctr"/>
          <a:lstStyle/>
          <a:p>
            <a:pPr algn="ctr" indent="0" marL="0">
              <a:buNone/>
            </a:pPr>
            <a:r>
              <a:rPr lang="en-US" sz="1600" dirty="0">
                <a:solidFill>
                  <a:srgbClr val="0D0D0D"/>
                </a:solidFill>
                <a:latin typeface="Arial Black" pitchFamily="34" charset="0"/>
                <a:ea typeface="Arial Black" pitchFamily="34" charset="-122"/>
                <a:cs typeface="Arial Black" pitchFamily="34" charset="-120"/>
              </a:rPr>
              <a:t>3</a:t>
            </a:r>
            <a:endParaRPr lang="en-US" sz="1600" dirty="0"/>
          </a:p>
        </p:txBody>
      </p:sp>
      <p:sp>
        <p:nvSpPr>
          <p:cNvPr id="23" name="Text 21"/>
          <p:cNvSpPr/>
          <p:nvPr/>
        </p:nvSpPr>
        <p:spPr>
          <a:xfrm>
            <a:off x="4846320" y="1783080"/>
            <a:ext cx="1691640" cy="27432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Observation</a:t>
            </a:r>
            <a:endParaRPr lang="en-US" sz="1400" dirty="0"/>
          </a:p>
        </p:txBody>
      </p:sp>
      <p:sp>
        <p:nvSpPr>
          <p:cNvPr id="24" name="Text 22"/>
          <p:cNvSpPr/>
          <p:nvPr/>
        </p:nvSpPr>
        <p:spPr>
          <a:xfrm>
            <a:off x="4846320" y="2103120"/>
            <a:ext cx="1691640" cy="45720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See the result</a:t>
            </a:r>
            <a:endParaRPr lang="en-US" sz="1000" dirty="0"/>
          </a:p>
          <a:p>
            <a:pPr indent="0" marL="0">
              <a:buNone/>
            </a:pPr>
            <a:r>
              <a:rPr lang="en-US" sz="1000" dirty="0">
                <a:solidFill>
                  <a:srgbClr val="9B9BB0"/>
                </a:solidFill>
                <a:latin typeface="Arial" pitchFamily="34" charset="0"/>
                <a:ea typeface="Arial" pitchFamily="34" charset="-122"/>
                <a:cs typeface="Arial" pitchFamily="34" charset="-120"/>
              </a:rPr>
              <a:t>and analyze it</a:t>
            </a:r>
            <a:endParaRPr lang="en-US" sz="1000" dirty="0"/>
          </a:p>
        </p:txBody>
      </p:sp>
      <p:sp>
        <p:nvSpPr>
          <p:cNvPr id="25" name="Text 23"/>
          <p:cNvSpPr/>
          <p:nvPr/>
        </p:nvSpPr>
        <p:spPr>
          <a:xfrm>
            <a:off x="6583680" y="1554480"/>
            <a:ext cx="365760" cy="457200"/>
          </a:xfrm>
          <a:prstGeom prst="rect">
            <a:avLst/>
          </a:prstGeom>
          <a:noFill/>
          <a:ln/>
        </p:spPr>
        <p:txBody>
          <a:bodyPr wrap="square" lIns="0" tIns="0" rIns="0" bIns="0" rtlCol="0" anchor="ctr"/>
          <a:lstStyle/>
          <a:p>
            <a:pPr algn="ctr" indent="0" marL="0">
              <a:buNone/>
            </a:pPr>
            <a:r>
              <a:rPr lang="en-US" sz="2000" dirty="0">
                <a:solidFill>
                  <a:srgbClr val="9B9BB0"/>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6903720" y="1097280"/>
            <a:ext cx="1874520" cy="15544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7" name="Shape 25"/>
          <p:cNvSpPr/>
          <p:nvPr/>
        </p:nvSpPr>
        <p:spPr>
          <a:xfrm>
            <a:off x="6903720" y="1097280"/>
            <a:ext cx="1874520" cy="54864"/>
          </a:xfrm>
          <a:prstGeom prst="rect">
            <a:avLst/>
          </a:prstGeom>
          <a:solidFill>
            <a:srgbClr val="FF3DAB"/>
          </a:solidFill>
          <a:ln/>
        </p:spPr>
      </p:sp>
      <p:sp>
        <p:nvSpPr>
          <p:cNvPr id="28" name="Shape 26"/>
          <p:cNvSpPr/>
          <p:nvPr/>
        </p:nvSpPr>
        <p:spPr>
          <a:xfrm>
            <a:off x="7040880" y="1325880"/>
            <a:ext cx="365760" cy="365760"/>
          </a:xfrm>
          <a:prstGeom prst="ellipse">
            <a:avLst/>
          </a:prstGeom>
          <a:solidFill>
            <a:srgbClr val="FF3DAB"/>
          </a:solidFill>
          <a:ln/>
        </p:spPr>
      </p:sp>
      <p:sp>
        <p:nvSpPr>
          <p:cNvPr id="29" name="Text 27"/>
          <p:cNvSpPr/>
          <p:nvPr/>
        </p:nvSpPr>
        <p:spPr>
          <a:xfrm>
            <a:off x="7040880" y="1325880"/>
            <a:ext cx="365760" cy="365760"/>
          </a:xfrm>
          <a:prstGeom prst="rect">
            <a:avLst/>
          </a:prstGeom>
          <a:noFill/>
          <a:ln/>
        </p:spPr>
        <p:txBody>
          <a:bodyPr wrap="square" lIns="0" tIns="0" rIns="0" bIns="0" rtlCol="0" anchor="ctr"/>
          <a:lstStyle/>
          <a:p>
            <a:pPr algn="ctr" indent="0" marL="0">
              <a:buNone/>
            </a:pPr>
            <a:r>
              <a:rPr lang="en-US" sz="1600" dirty="0">
                <a:solidFill>
                  <a:srgbClr val="0D0D0D"/>
                </a:solidFill>
                <a:latin typeface="Arial Black" pitchFamily="34" charset="0"/>
                <a:ea typeface="Arial Black" pitchFamily="34" charset="-122"/>
                <a:cs typeface="Arial Black" pitchFamily="34" charset="-120"/>
              </a:rPr>
              <a:t>4</a:t>
            </a:r>
            <a:endParaRPr lang="en-US" sz="1600" dirty="0"/>
          </a:p>
        </p:txBody>
      </p:sp>
      <p:sp>
        <p:nvSpPr>
          <p:cNvPr id="30" name="Text 28"/>
          <p:cNvSpPr/>
          <p:nvPr/>
        </p:nvSpPr>
        <p:spPr>
          <a:xfrm>
            <a:off x="6995160" y="1783080"/>
            <a:ext cx="1691640" cy="274320"/>
          </a:xfrm>
          <a:prstGeom prst="rect">
            <a:avLst/>
          </a:prstGeom>
          <a:noFill/>
          <a:ln/>
        </p:spPr>
        <p:txBody>
          <a:bodyPr wrap="square" lIns="0" tIns="0" rIns="0" bIns="0" rtlCol="0" anchor="ctr"/>
          <a:lstStyle/>
          <a:p>
            <a:pPr indent="0" marL="0">
              <a:buNone/>
            </a:pPr>
            <a:r>
              <a:rPr lang="en-US" sz="1400" b="1" dirty="0">
                <a:solidFill>
                  <a:srgbClr val="FF3DAB"/>
                </a:solidFill>
                <a:latin typeface="Arial" pitchFamily="34" charset="0"/>
                <a:ea typeface="Arial" pitchFamily="34" charset="-122"/>
                <a:cs typeface="Arial" pitchFamily="34" charset="-120"/>
              </a:rPr>
              <a:t>Repeat</a:t>
            </a:r>
            <a:endParaRPr lang="en-US" sz="1400" dirty="0"/>
          </a:p>
        </p:txBody>
      </p:sp>
      <p:sp>
        <p:nvSpPr>
          <p:cNvPr id="31" name="Text 29"/>
          <p:cNvSpPr/>
          <p:nvPr/>
        </p:nvSpPr>
        <p:spPr>
          <a:xfrm>
            <a:off x="6995160" y="2103120"/>
            <a:ext cx="1691640" cy="45720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Loop until task</a:t>
            </a:r>
            <a:endParaRPr lang="en-US" sz="1000" dirty="0"/>
          </a:p>
          <a:p>
            <a:pPr indent="0" marL="0">
              <a:buNone/>
            </a:pPr>
            <a:r>
              <a:rPr lang="en-US" sz="1000" dirty="0">
                <a:solidFill>
                  <a:srgbClr val="9B9BB0"/>
                </a:solidFill>
                <a:latin typeface="Arial" pitchFamily="34" charset="0"/>
                <a:ea typeface="Arial" pitchFamily="34" charset="-122"/>
                <a:cs typeface="Arial" pitchFamily="34" charset="-120"/>
              </a:rPr>
              <a:t>is complete</a:t>
            </a:r>
            <a:endParaRPr lang="en-US" sz="1000" dirty="0"/>
          </a:p>
        </p:txBody>
      </p:sp>
      <p:sp>
        <p:nvSpPr>
          <p:cNvPr id="32" name="Shape 30"/>
          <p:cNvSpPr/>
          <p:nvPr/>
        </p:nvSpPr>
        <p:spPr>
          <a:xfrm>
            <a:off x="457200" y="2971800"/>
            <a:ext cx="39319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3" name="Shape 31"/>
          <p:cNvSpPr/>
          <p:nvPr/>
        </p:nvSpPr>
        <p:spPr>
          <a:xfrm>
            <a:off x="457200" y="2971800"/>
            <a:ext cx="54864" cy="1371600"/>
          </a:xfrm>
          <a:prstGeom prst="rect">
            <a:avLst/>
          </a:prstGeom>
          <a:solidFill>
            <a:srgbClr val="E91E8C"/>
          </a:solidFill>
          <a:ln/>
        </p:spPr>
      </p:sp>
      <p:sp>
        <p:nvSpPr>
          <p:cNvPr id="34" name="Text 32"/>
          <p:cNvSpPr/>
          <p:nvPr/>
        </p:nvSpPr>
        <p:spPr>
          <a:xfrm>
            <a:off x="685800" y="3063240"/>
            <a:ext cx="3474720" cy="274320"/>
          </a:xfrm>
          <a:prstGeom prst="rect">
            <a:avLst/>
          </a:prstGeom>
          <a:noFill/>
          <a:ln/>
        </p:spPr>
        <p:txBody>
          <a:bodyPr wrap="square" lIns="0" tIns="0" rIns="0" bIns="0" rtlCol="0" anchor="ctr"/>
          <a:lstStyle/>
          <a:p>
            <a:pPr indent="0" marL="0">
              <a:buNone/>
            </a:pPr>
            <a:r>
              <a:rPr lang="en-US" sz="1400" b="1" dirty="0">
                <a:solidFill>
                  <a:srgbClr val="E91E8C"/>
                </a:solidFill>
                <a:latin typeface="Arial" pitchFamily="34" charset="0"/>
                <a:ea typeface="Arial" pitchFamily="34" charset="-122"/>
                <a:cs typeface="Arial" pitchFamily="34" charset="-120"/>
              </a:rPr>
              <a:t>ReAct Loop</a:t>
            </a:r>
            <a:endParaRPr lang="en-US" sz="1400" dirty="0"/>
          </a:p>
        </p:txBody>
      </p:sp>
      <p:sp>
        <p:nvSpPr>
          <p:cNvPr id="35" name="Text 33"/>
          <p:cNvSpPr/>
          <p:nvPr/>
        </p:nvSpPr>
        <p:spPr>
          <a:xfrm>
            <a:off x="685800" y="3383280"/>
            <a:ext cx="3474720" cy="7315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Force the model to show its reasoning before reaching a conclusion.</a:t>
            </a:r>
            <a:endParaRPr lang="en-US" sz="1100" dirty="0"/>
          </a:p>
        </p:txBody>
      </p:sp>
      <p:sp>
        <p:nvSpPr>
          <p:cNvPr id="36" name="Shape 34"/>
          <p:cNvSpPr/>
          <p:nvPr/>
        </p:nvSpPr>
        <p:spPr>
          <a:xfrm>
            <a:off x="4754880" y="2971800"/>
            <a:ext cx="39319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7" name="Shape 35"/>
          <p:cNvSpPr/>
          <p:nvPr/>
        </p:nvSpPr>
        <p:spPr>
          <a:xfrm>
            <a:off x="4754880" y="2971800"/>
            <a:ext cx="54864" cy="1371600"/>
          </a:xfrm>
          <a:prstGeom prst="rect">
            <a:avLst/>
          </a:prstGeom>
          <a:solidFill>
            <a:srgbClr val="00D4AA"/>
          </a:solidFill>
          <a:ln/>
        </p:spPr>
      </p:sp>
      <p:sp>
        <p:nvSpPr>
          <p:cNvPr id="38" name="Text 36"/>
          <p:cNvSpPr/>
          <p:nvPr/>
        </p:nvSpPr>
        <p:spPr>
          <a:xfrm>
            <a:off x="4983480" y="3063240"/>
            <a:ext cx="3474720" cy="27432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Tool Usage</a:t>
            </a:r>
            <a:endParaRPr lang="en-US" sz="1400" dirty="0"/>
          </a:p>
        </p:txBody>
      </p:sp>
      <p:sp>
        <p:nvSpPr>
          <p:cNvPr id="39" name="Text 37"/>
          <p:cNvSpPr/>
          <p:nvPr/>
        </p:nvSpPr>
        <p:spPr>
          <a:xfrm>
            <a:off x="4983480" y="3383280"/>
            <a:ext cx="3474720" cy="7315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Output of prompt A becomes input of prompt B. Build complex workflows from simple blocks.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Prompt Chaining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Break complex tasks into a pipeline of focused prompts</a:t>
            </a:r>
            <a:endParaRPr lang="en-US" sz="1100" dirty="0"/>
          </a:p>
        </p:txBody>
      </p:sp>
      <p:sp>
        <p:nvSpPr>
          <p:cNvPr id="5" name="Shape 3"/>
          <p:cNvSpPr/>
          <p:nvPr/>
        </p:nvSpPr>
        <p:spPr>
          <a:xfrm>
            <a:off x="457200" y="1051560"/>
            <a:ext cx="8229600" cy="77724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777240"/>
          </a:xfrm>
          <a:prstGeom prst="rect">
            <a:avLst/>
          </a:prstGeom>
          <a:solidFill>
            <a:srgbClr val="E91E8C"/>
          </a:solidFill>
          <a:ln/>
        </p:spPr>
      </p:sp>
      <p:sp>
        <p:nvSpPr>
          <p:cNvPr id="7" name="Text 5"/>
          <p:cNvSpPr/>
          <p:nvPr/>
        </p:nvSpPr>
        <p:spPr>
          <a:xfrm>
            <a:off x="731520" y="1115568"/>
            <a:ext cx="76809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Don't ask the model to do everything at once.</a:t>
            </a:r>
            <a:endParaRPr lang="en-US" sz="1500" dirty="0"/>
          </a:p>
        </p:txBody>
      </p:sp>
      <p:sp>
        <p:nvSpPr>
          <p:cNvPr id="8" name="Text 6"/>
          <p:cNvSpPr/>
          <p:nvPr/>
        </p:nvSpPr>
        <p:spPr>
          <a:xfrm>
            <a:off x="731520" y="1417320"/>
            <a:ext cx="7680960" cy="32004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Instead, chain prompts together: output of step A becomes input of step B. Each step is simple, testable, and reliable.</a:t>
            </a:r>
            <a:endParaRPr lang="en-US" sz="1100" dirty="0"/>
          </a:p>
        </p:txBody>
      </p:sp>
      <p:sp>
        <p:nvSpPr>
          <p:cNvPr id="9" name="Shape 7"/>
          <p:cNvSpPr/>
          <p:nvPr/>
        </p:nvSpPr>
        <p:spPr>
          <a:xfrm>
            <a:off x="457200" y="2103120"/>
            <a:ext cx="1874520" cy="21031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2103120"/>
            <a:ext cx="1874520" cy="54864"/>
          </a:xfrm>
          <a:prstGeom prst="rect">
            <a:avLst/>
          </a:prstGeom>
          <a:solidFill>
            <a:srgbClr val="E91E8C"/>
          </a:solidFill>
          <a:ln/>
        </p:spPr>
      </p:sp>
      <p:sp>
        <p:nvSpPr>
          <p:cNvPr id="11" name="Shape 9"/>
          <p:cNvSpPr/>
          <p:nvPr/>
        </p:nvSpPr>
        <p:spPr>
          <a:xfrm>
            <a:off x="594360" y="2286000"/>
            <a:ext cx="320040" cy="320040"/>
          </a:xfrm>
          <a:prstGeom prst="ellipse">
            <a:avLst/>
          </a:prstGeom>
          <a:solidFill>
            <a:srgbClr val="E91E8C"/>
          </a:solidFill>
          <a:ln/>
        </p:spPr>
      </p:sp>
      <p:sp>
        <p:nvSpPr>
          <p:cNvPr id="12" name="Text 10"/>
          <p:cNvSpPr/>
          <p:nvPr/>
        </p:nvSpPr>
        <p:spPr>
          <a:xfrm>
            <a:off x="59436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1</a:t>
            </a:r>
            <a:endParaRPr lang="en-US" sz="1400" dirty="0"/>
          </a:p>
        </p:txBody>
      </p:sp>
      <p:sp>
        <p:nvSpPr>
          <p:cNvPr id="13" name="Text 11"/>
          <p:cNvSpPr/>
          <p:nvPr/>
        </p:nvSpPr>
        <p:spPr>
          <a:xfrm>
            <a:off x="548640" y="2697480"/>
            <a:ext cx="169164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Extract</a:t>
            </a:r>
            <a:endParaRPr lang="en-US" sz="1300" dirty="0"/>
          </a:p>
        </p:txBody>
      </p:sp>
      <p:sp>
        <p:nvSpPr>
          <p:cNvPr id="14" name="Text 12"/>
          <p:cNvSpPr/>
          <p:nvPr/>
        </p:nvSpPr>
        <p:spPr>
          <a:xfrm>
            <a:off x="548640" y="2971800"/>
            <a:ext cx="1691640" cy="27432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Pull key data from raw input</a:t>
            </a:r>
            <a:endParaRPr lang="en-US" sz="1000" dirty="0"/>
          </a:p>
        </p:txBody>
      </p:sp>
      <p:sp>
        <p:nvSpPr>
          <p:cNvPr id="15" name="Shape 13"/>
          <p:cNvSpPr/>
          <p:nvPr/>
        </p:nvSpPr>
        <p:spPr>
          <a:xfrm>
            <a:off x="548640" y="3337560"/>
            <a:ext cx="1691640" cy="685800"/>
          </a:xfrm>
          <a:prstGeom prst="rect">
            <a:avLst/>
          </a:prstGeom>
          <a:solidFill>
            <a:srgbClr val="0D0D1A"/>
          </a:solidFill>
          <a:ln/>
        </p:spPr>
      </p:sp>
      <p:sp>
        <p:nvSpPr>
          <p:cNvPr id="16" name="Text 14"/>
          <p:cNvSpPr/>
          <p:nvPr/>
        </p:nvSpPr>
        <p:spPr>
          <a:xfrm>
            <a:off x="640080" y="3383280"/>
            <a:ext cx="1508760" cy="594360"/>
          </a:xfrm>
          <a:prstGeom prst="rect">
            <a:avLst/>
          </a:prstGeom>
          <a:noFill/>
          <a:ln/>
        </p:spPr>
        <p:txBody>
          <a:bodyPr wrap="square" lIns="0" tIns="0" rIns="0" bIns="0" rtlCol="0" anchor="ctr"/>
          <a:lstStyle/>
          <a:p>
            <a:pPr indent="0" marL="0">
              <a:buNone/>
            </a:pPr>
            <a:r>
              <a:rPr lang="en-US" sz="900" dirty="0">
                <a:solidFill>
                  <a:srgbClr val="9B9BB0"/>
                </a:solidFill>
                <a:latin typeface="Consolas" pitchFamily="34" charset="0"/>
                <a:ea typeface="Consolas" pitchFamily="34" charset="-122"/>
                <a:cs typeface="Consolas" pitchFamily="34" charset="-120"/>
              </a:rPr>
              <a:t>"Extract all dates, names, and amounts from this contract"</a:t>
            </a:r>
            <a:endParaRPr lang="en-US" sz="900" dirty="0"/>
          </a:p>
        </p:txBody>
      </p:sp>
      <p:sp>
        <p:nvSpPr>
          <p:cNvPr id="17" name="Text 15"/>
          <p:cNvSpPr/>
          <p:nvPr/>
        </p:nvSpPr>
        <p:spPr>
          <a:xfrm>
            <a:off x="2286000" y="265176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2606040" y="2103120"/>
            <a:ext cx="1874520" cy="21031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9" name="Shape 17"/>
          <p:cNvSpPr/>
          <p:nvPr/>
        </p:nvSpPr>
        <p:spPr>
          <a:xfrm>
            <a:off x="2606040" y="2103120"/>
            <a:ext cx="1874520" cy="54864"/>
          </a:xfrm>
          <a:prstGeom prst="rect">
            <a:avLst/>
          </a:prstGeom>
          <a:solidFill>
            <a:srgbClr val="4A9FFF"/>
          </a:solidFill>
          <a:ln/>
        </p:spPr>
      </p:sp>
      <p:sp>
        <p:nvSpPr>
          <p:cNvPr id="20" name="Shape 18"/>
          <p:cNvSpPr/>
          <p:nvPr/>
        </p:nvSpPr>
        <p:spPr>
          <a:xfrm>
            <a:off x="2743200" y="2286000"/>
            <a:ext cx="320040" cy="320040"/>
          </a:xfrm>
          <a:prstGeom prst="ellipse">
            <a:avLst/>
          </a:prstGeom>
          <a:solidFill>
            <a:srgbClr val="4A9FFF"/>
          </a:solidFill>
          <a:ln/>
        </p:spPr>
      </p:sp>
      <p:sp>
        <p:nvSpPr>
          <p:cNvPr id="21" name="Text 19"/>
          <p:cNvSpPr/>
          <p:nvPr/>
        </p:nvSpPr>
        <p:spPr>
          <a:xfrm>
            <a:off x="274320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2</a:t>
            </a:r>
            <a:endParaRPr lang="en-US" sz="1400" dirty="0"/>
          </a:p>
        </p:txBody>
      </p:sp>
      <p:sp>
        <p:nvSpPr>
          <p:cNvPr id="22" name="Text 20"/>
          <p:cNvSpPr/>
          <p:nvPr/>
        </p:nvSpPr>
        <p:spPr>
          <a:xfrm>
            <a:off x="2697480" y="2697480"/>
            <a:ext cx="169164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Transform</a:t>
            </a:r>
            <a:endParaRPr lang="en-US" sz="1300" dirty="0"/>
          </a:p>
        </p:txBody>
      </p:sp>
      <p:sp>
        <p:nvSpPr>
          <p:cNvPr id="23" name="Text 21"/>
          <p:cNvSpPr/>
          <p:nvPr/>
        </p:nvSpPr>
        <p:spPr>
          <a:xfrm>
            <a:off x="2697480" y="2971800"/>
            <a:ext cx="1691640" cy="27432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Restructure into useful format</a:t>
            </a:r>
            <a:endParaRPr lang="en-US" sz="1000" dirty="0"/>
          </a:p>
        </p:txBody>
      </p:sp>
      <p:sp>
        <p:nvSpPr>
          <p:cNvPr id="24" name="Shape 22"/>
          <p:cNvSpPr/>
          <p:nvPr/>
        </p:nvSpPr>
        <p:spPr>
          <a:xfrm>
            <a:off x="2697480" y="3337560"/>
            <a:ext cx="1691640" cy="685800"/>
          </a:xfrm>
          <a:prstGeom prst="rect">
            <a:avLst/>
          </a:prstGeom>
          <a:solidFill>
            <a:srgbClr val="0D0D1A"/>
          </a:solidFill>
          <a:ln/>
        </p:spPr>
      </p:sp>
      <p:sp>
        <p:nvSpPr>
          <p:cNvPr id="25" name="Text 23"/>
          <p:cNvSpPr/>
          <p:nvPr/>
        </p:nvSpPr>
        <p:spPr>
          <a:xfrm>
            <a:off x="2788920" y="3383280"/>
            <a:ext cx="1508760" cy="594360"/>
          </a:xfrm>
          <a:prstGeom prst="rect">
            <a:avLst/>
          </a:prstGeom>
          <a:noFill/>
          <a:ln/>
        </p:spPr>
        <p:txBody>
          <a:bodyPr wrap="square" lIns="0" tIns="0" rIns="0" bIns="0" rtlCol="0" anchor="ctr"/>
          <a:lstStyle/>
          <a:p>
            <a:pPr indent="0" marL="0">
              <a:buNone/>
            </a:pPr>
            <a:r>
              <a:rPr lang="en-US" sz="900" dirty="0">
                <a:solidFill>
                  <a:srgbClr val="9B9BB0"/>
                </a:solidFill>
                <a:latin typeface="Consolas" pitchFamily="34" charset="0"/>
                <a:ea typeface="Consolas" pitchFamily="34" charset="-122"/>
                <a:cs typeface="Consolas" pitchFamily="34" charset="-120"/>
              </a:rPr>
              <a:t>"Given this data, create a JSON summary with..."</a:t>
            </a:r>
            <a:endParaRPr lang="en-US" sz="900" dirty="0"/>
          </a:p>
        </p:txBody>
      </p:sp>
      <p:sp>
        <p:nvSpPr>
          <p:cNvPr id="26" name="Text 24"/>
          <p:cNvSpPr/>
          <p:nvPr/>
        </p:nvSpPr>
        <p:spPr>
          <a:xfrm>
            <a:off x="4434840" y="265176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4754880" y="2103120"/>
            <a:ext cx="1874520" cy="21031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8" name="Shape 26"/>
          <p:cNvSpPr/>
          <p:nvPr/>
        </p:nvSpPr>
        <p:spPr>
          <a:xfrm>
            <a:off x="4754880" y="2103120"/>
            <a:ext cx="1874520" cy="54864"/>
          </a:xfrm>
          <a:prstGeom prst="rect">
            <a:avLst/>
          </a:prstGeom>
          <a:solidFill>
            <a:srgbClr val="00D4AA"/>
          </a:solidFill>
          <a:ln/>
        </p:spPr>
      </p:sp>
      <p:sp>
        <p:nvSpPr>
          <p:cNvPr id="29" name="Shape 27"/>
          <p:cNvSpPr/>
          <p:nvPr/>
        </p:nvSpPr>
        <p:spPr>
          <a:xfrm>
            <a:off x="4892040" y="2286000"/>
            <a:ext cx="320040" cy="320040"/>
          </a:xfrm>
          <a:prstGeom prst="ellipse">
            <a:avLst/>
          </a:prstGeom>
          <a:solidFill>
            <a:srgbClr val="00D4AA"/>
          </a:solidFill>
          <a:ln/>
        </p:spPr>
      </p:sp>
      <p:sp>
        <p:nvSpPr>
          <p:cNvPr id="30" name="Text 28"/>
          <p:cNvSpPr/>
          <p:nvPr/>
        </p:nvSpPr>
        <p:spPr>
          <a:xfrm>
            <a:off x="489204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3</a:t>
            </a:r>
            <a:endParaRPr lang="en-US" sz="1400" dirty="0"/>
          </a:p>
        </p:txBody>
      </p:sp>
      <p:sp>
        <p:nvSpPr>
          <p:cNvPr id="31" name="Text 29"/>
          <p:cNvSpPr/>
          <p:nvPr/>
        </p:nvSpPr>
        <p:spPr>
          <a:xfrm>
            <a:off x="4846320" y="2697480"/>
            <a:ext cx="169164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Analyze</a:t>
            </a:r>
            <a:endParaRPr lang="en-US" sz="1300" dirty="0"/>
          </a:p>
        </p:txBody>
      </p:sp>
      <p:sp>
        <p:nvSpPr>
          <p:cNvPr id="32" name="Text 30"/>
          <p:cNvSpPr/>
          <p:nvPr/>
        </p:nvSpPr>
        <p:spPr>
          <a:xfrm>
            <a:off x="4846320" y="2971800"/>
            <a:ext cx="1691640" cy="27432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Reason over structured data</a:t>
            </a:r>
            <a:endParaRPr lang="en-US" sz="1000" dirty="0"/>
          </a:p>
        </p:txBody>
      </p:sp>
      <p:sp>
        <p:nvSpPr>
          <p:cNvPr id="33" name="Shape 31"/>
          <p:cNvSpPr/>
          <p:nvPr/>
        </p:nvSpPr>
        <p:spPr>
          <a:xfrm>
            <a:off x="4846320" y="3337560"/>
            <a:ext cx="1691640" cy="685800"/>
          </a:xfrm>
          <a:prstGeom prst="rect">
            <a:avLst/>
          </a:prstGeom>
          <a:solidFill>
            <a:srgbClr val="0D0D1A"/>
          </a:solidFill>
          <a:ln/>
        </p:spPr>
      </p:sp>
      <p:sp>
        <p:nvSpPr>
          <p:cNvPr id="34" name="Text 32"/>
          <p:cNvSpPr/>
          <p:nvPr/>
        </p:nvSpPr>
        <p:spPr>
          <a:xfrm>
            <a:off x="4937760" y="3383280"/>
            <a:ext cx="1508760" cy="594360"/>
          </a:xfrm>
          <a:prstGeom prst="rect">
            <a:avLst/>
          </a:prstGeom>
          <a:noFill/>
          <a:ln/>
        </p:spPr>
        <p:txBody>
          <a:bodyPr wrap="square" lIns="0" tIns="0" rIns="0" bIns="0" rtlCol="0" anchor="ctr"/>
          <a:lstStyle/>
          <a:p>
            <a:pPr indent="0" marL="0">
              <a:buNone/>
            </a:pPr>
            <a:r>
              <a:rPr lang="en-US" sz="900" dirty="0">
                <a:solidFill>
                  <a:srgbClr val="9B9BB0"/>
                </a:solidFill>
                <a:latin typeface="Consolas" pitchFamily="34" charset="0"/>
                <a:ea typeface="Consolas" pitchFamily="34" charset="-122"/>
                <a:cs typeface="Consolas" pitchFamily="34" charset="-120"/>
              </a:rPr>
              <a:t>"Compare these values and flag anomalies over 10%"</a:t>
            </a:r>
            <a:endParaRPr lang="en-US" sz="900" dirty="0"/>
          </a:p>
        </p:txBody>
      </p:sp>
      <p:sp>
        <p:nvSpPr>
          <p:cNvPr id="35" name="Text 33"/>
          <p:cNvSpPr/>
          <p:nvPr/>
        </p:nvSpPr>
        <p:spPr>
          <a:xfrm>
            <a:off x="6583680" y="265176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36" name="Shape 34"/>
          <p:cNvSpPr/>
          <p:nvPr/>
        </p:nvSpPr>
        <p:spPr>
          <a:xfrm>
            <a:off x="6903720" y="2103120"/>
            <a:ext cx="1874520" cy="21031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7" name="Shape 35"/>
          <p:cNvSpPr/>
          <p:nvPr/>
        </p:nvSpPr>
        <p:spPr>
          <a:xfrm>
            <a:off x="6903720" y="2103120"/>
            <a:ext cx="1874520" cy="54864"/>
          </a:xfrm>
          <a:prstGeom prst="rect">
            <a:avLst/>
          </a:prstGeom>
          <a:solidFill>
            <a:srgbClr val="FF3DAB"/>
          </a:solidFill>
          <a:ln/>
        </p:spPr>
      </p:sp>
      <p:sp>
        <p:nvSpPr>
          <p:cNvPr id="38" name="Shape 36"/>
          <p:cNvSpPr/>
          <p:nvPr/>
        </p:nvSpPr>
        <p:spPr>
          <a:xfrm>
            <a:off x="7040880" y="2286000"/>
            <a:ext cx="320040" cy="320040"/>
          </a:xfrm>
          <a:prstGeom prst="ellipse">
            <a:avLst/>
          </a:prstGeom>
          <a:solidFill>
            <a:srgbClr val="FF3DAB"/>
          </a:solidFill>
          <a:ln/>
        </p:spPr>
      </p:sp>
      <p:sp>
        <p:nvSpPr>
          <p:cNvPr id="39" name="Text 37"/>
          <p:cNvSpPr/>
          <p:nvPr/>
        </p:nvSpPr>
        <p:spPr>
          <a:xfrm>
            <a:off x="704088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4</a:t>
            </a:r>
            <a:endParaRPr lang="en-US" sz="1400" dirty="0"/>
          </a:p>
        </p:txBody>
      </p:sp>
      <p:sp>
        <p:nvSpPr>
          <p:cNvPr id="40" name="Text 38"/>
          <p:cNvSpPr/>
          <p:nvPr/>
        </p:nvSpPr>
        <p:spPr>
          <a:xfrm>
            <a:off x="6995160" y="2697480"/>
            <a:ext cx="1691640" cy="274320"/>
          </a:xfrm>
          <a:prstGeom prst="rect">
            <a:avLst/>
          </a:prstGeom>
          <a:noFill/>
          <a:ln/>
        </p:spPr>
        <p:txBody>
          <a:bodyPr wrap="square" lIns="0" tIns="0" rIns="0" bIns="0" rtlCol="0" anchor="ctr"/>
          <a:lstStyle/>
          <a:p>
            <a:pPr indent="0" marL="0">
              <a:buNone/>
            </a:pPr>
            <a:r>
              <a:rPr lang="en-US" sz="1300" b="1" dirty="0">
                <a:solidFill>
                  <a:srgbClr val="FF3DAB"/>
                </a:solidFill>
                <a:latin typeface="Arial" pitchFamily="34" charset="0"/>
                <a:ea typeface="Arial" pitchFamily="34" charset="-122"/>
                <a:cs typeface="Arial" pitchFamily="34" charset="-120"/>
              </a:rPr>
              <a:t>Generate</a:t>
            </a:r>
            <a:endParaRPr lang="en-US" sz="1300" dirty="0"/>
          </a:p>
        </p:txBody>
      </p:sp>
      <p:sp>
        <p:nvSpPr>
          <p:cNvPr id="41" name="Text 39"/>
          <p:cNvSpPr/>
          <p:nvPr/>
        </p:nvSpPr>
        <p:spPr>
          <a:xfrm>
            <a:off x="6995160" y="2971800"/>
            <a:ext cx="1691640" cy="27432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Produce the final output</a:t>
            </a:r>
            <a:endParaRPr lang="en-US" sz="1000" dirty="0"/>
          </a:p>
        </p:txBody>
      </p:sp>
      <p:sp>
        <p:nvSpPr>
          <p:cNvPr id="42" name="Shape 40"/>
          <p:cNvSpPr/>
          <p:nvPr/>
        </p:nvSpPr>
        <p:spPr>
          <a:xfrm>
            <a:off x="6995160" y="3337560"/>
            <a:ext cx="1691640" cy="685800"/>
          </a:xfrm>
          <a:prstGeom prst="rect">
            <a:avLst/>
          </a:prstGeom>
          <a:solidFill>
            <a:srgbClr val="0D0D1A"/>
          </a:solidFill>
          <a:ln/>
        </p:spPr>
      </p:sp>
      <p:sp>
        <p:nvSpPr>
          <p:cNvPr id="43" name="Text 41"/>
          <p:cNvSpPr/>
          <p:nvPr/>
        </p:nvSpPr>
        <p:spPr>
          <a:xfrm>
            <a:off x="7086600" y="3383280"/>
            <a:ext cx="1508760" cy="594360"/>
          </a:xfrm>
          <a:prstGeom prst="rect">
            <a:avLst/>
          </a:prstGeom>
          <a:noFill/>
          <a:ln/>
        </p:spPr>
        <p:txBody>
          <a:bodyPr wrap="square" lIns="0" tIns="0" rIns="0" bIns="0" rtlCol="0" anchor="ctr"/>
          <a:lstStyle/>
          <a:p>
            <a:pPr indent="0" marL="0">
              <a:buNone/>
            </a:pPr>
            <a:r>
              <a:rPr lang="en-US" sz="900" dirty="0">
                <a:solidFill>
                  <a:srgbClr val="9B9BB0"/>
                </a:solidFill>
                <a:latin typeface="Consolas" pitchFamily="34" charset="0"/>
                <a:ea typeface="Consolas" pitchFamily="34" charset="-122"/>
                <a:cs typeface="Consolas" pitchFamily="34" charset="-120"/>
              </a:rPr>
              <a:t>"Write a 3-paragraph executive summary from this analysis"</a:t>
            </a:r>
            <a:endParaRPr lang="en-US" sz="900" dirty="0"/>
          </a:p>
        </p:txBody>
      </p:sp>
      <p:sp>
        <p:nvSpPr>
          <p:cNvPr id="44" name="Text 42"/>
          <p:cNvSpPr/>
          <p:nvPr/>
        </p:nvSpPr>
        <p:spPr>
          <a:xfrm>
            <a:off x="457200" y="4480560"/>
            <a:ext cx="8229600" cy="36576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Each step is independently testable — when something breaks, you know exactly where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RAG: Retrieval-Augmented Generation</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Ground responses in your own data</a:t>
            </a:r>
            <a:endParaRPr lang="en-US" sz="1100" dirty="0"/>
          </a:p>
        </p:txBody>
      </p:sp>
      <p:sp>
        <p:nvSpPr>
          <p:cNvPr id="5" name="Shape 3"/>
          <p:cNvSpPr/>
          <p:nvPr/>
        </p:nvSpPr>
        <p:spPr>
          <a:xfrm>
            <a:off x="457200" y="1051560"/>
            <a:ext cx="8229600" cy="9144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914400"/>
          </a:xfrm>
          <a:prstGeom prst="rect">
            <a:avLst/>
          </a:prstGeom>
          <a:solidFill>
            <a:srgbClr val="4A9FFF"/>
          </a:solidFill>
          <a:ln/>
        </p:spPr>
      </p:sp>
      <p:pic>
        <p:nvPicPr>
          <p:cNvPr id="7" name="Image 0" descr="preencoded.png"/>
          <p:cNvPicPr>
            <a:picLocks noChangeAspect="1"/>
          </p:cNvPicPr>
          <p:nvPr/>
        </p:nvPicPr>
        <p:blipFill>
          <a:blip r:embed="rId1"/>
          <a:stretch>
            <a:fillRect/>
          </a:stretch>
        </p:blipFill>
        <p:spPr>
          <a:xfrm>
            <a:off x="731520" y="1188720"/>
            <a:ext cx="365760" cy="365760"/>
          </a:xfrm>
          <a:prstGeom prst="rect">
            <a:avLst/>
          </a:prstGeom>
        </p:spPr>
      </p:pic>
      <p:sp>
        <p:nvSpPr>
          <p:cNvPr id="8" name="Text 5"/>
          <p:cNvSpPr/>
          <p:nvPr/>
        </p:nvSpPr>
        <p:spPr>
          <a:xfrm>
            <a:off x="1234440" y="1143000"/>
            <a:ext cx="713232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Bring your own knowledge</a:t>
            </a:r>
            <a:endParaRPr lang="en-US" sz="1600" dirty="0"/>
          </a:p>
        </p:txBody>
      </p:sp>
      <p:sp>
        <p:nvSpPr>
          <p:cNvPr id="9" name="Text 6"/>
          <p:cNvSpPr/>
          <p:nvPr/>
        </p:nvSpPr>
        <p:spPr>
          <a:xfrm>
            <a:off x="731520" y="1508760"/>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LLMs don't know YOUR data. RAG fetches relevant docs at query time and injects them as context. No retraining needed.</a:t>
            </a:r>
            <a:endParaRPr lang="en-US" sz="1100" dirty="0"/>
          </a:p>
        </p:txBody>
      </p:sp>
      <p:sp>
        <p:nvSpPr>
          <p:cNvPr id="10" name="Shape 7"/>
          <p:cNvSpPr/>
          <p:nvPr/>
        </p:nvSpPr>
        <p:spPr>
          <a:xfrm>
            <a:off x="457200" y="2240280"/>
            <a:ext cx="18745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1" name="Shape 8"/>
          <p:cNvSpPr/>
          <p:nvPr/>
        </p:nvSpPr>
        <p:spPr>
          <a:xfrm>
            <a:off x="457200" y="2240280"/>
            <a:ext cx="1874520" cy="54864"/>
          </a:xfrm>
          <a:prstGeom prst="rect">
            <a:avLst/>
          </a:prstGeom>
          <a:solidFill>
            <a:srgbClr val="E91E8C"/>
          </a:solidFill>
          <a:ln/>
        </p:spPr>
      </p:sp>
      <p:sp>
        <p:nvSpPr>
          <p:cNvPr id="12" name="Shape 9"/>
          <p:cNvSpPr/>
          <p:nvPr/>
        </p:nvSpPr>
        <p:spPr>
          <a:xfrm>
            <a:off x="594360" y="2423160"/>
            <a:ext cx="320040" cy="320040"/>
          </a:xfrm>
          <a:prstGeom prst="ellipse">
            <a:avLst/>
          </a:prstGeom>
          <a:solidFill>
            <a:srgbClr val="E91E8C"/>
          </a:solidFill>
          <a:ln/>
        </p:spPr>
      </p:sp>
      <p:sp>
        <p:nvSpPr>
          <p:cNvPr id="13" name="Text 10"/>
          <p:cNvSpPr/>
          <p:nvPr/>
        </p:nvSpPr>
        <p:spPr>
          <a:xfrm>
            <a:off x="594360" y="242316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1</a:t>
            </a:r>
            <a:endParaRPr lang="en-US" sz="1400" dirty="0"/>
          </a:p>
        </p:txBody>
      </p:sp>
      <p:sp>
        <p:nvSpPr>
          <p:cNvPr id="14" name="Text 11"/>
          <p:cNvSpPr/>
          <p:nvPr/>
        </p:nvSpPr>
        <p:spPr>
          <a:xfrm>
            <a:off x="548640" y="2834640"/>
            <a:ext cx="169164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User asks</a:t>
            </a:r>
            <a:endParaRPr lang="en-US" sz="1300" dirty="0"/>
          </a:p>
        </p:txBody>
      </p:sp>
      <p:sp>
        <p:nvSpPr>
          <p:cNvPr id="15" name="Text 12"/>
          <p:cNvSpPr/>
          <p:nvPr/>
        </p:nvSpPr>
        <p:spPr>
          <a:xfrm>
            <a:off x="548640" y="3108960"/>
            <a:ext cx="169164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Natural language query</a:t>
            </a:r>
            <a:endParaRPr lang="en-US" sz="1000" dirty="0"/>
          </a:p>
        </p:txBody>
      </p:sp>
      <p:sp>
        <p:nvSpPr>
          <p:cNvPr id="16" name="Text 13"/>
          <p:cNvSpPr/>
          <p:nvPr/>
        </p:nvSpPr>
        <p:spPr>
          <a:xfrm>
            <a:off x="2286000" y="256032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17" name="Shape 14"/>
          <p:cNvSpPr/>
          <p:nvPr/>
        </p:nvSpPr>
        <p:spPr>
          <a:xfrm>
            <a:off x="2606040" y="2240280"/>
            <a:ext cx="18745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8" name="Shape 15"/>
          <p:cNvSpPr/>
          <p:nvPr/>
        </p:nvSpPr>
        <p:spPr>
          <a:xfrm>
            <a:off x="2606040" y="2240280"/>
            <a:ext cx="1874520" cy="54864"/>
          </a:xfrm>
          <a:prstGeom prst="rect">
            <a:avLst/>
          </a:prstGeom>
          <a:solidFill>
            <a:srgbClr val="4A9FFF"/>
          </a:solidFill>
          <a:ln/>
        </p:spPr>
      </p:sp>
      <p:sp>
        <p:nvSpPr>
          <p:cNvPr id="19" name="Shape 16"/>
          <p:cNvSpPr/>
          <p:nvPr/>
        </p:nvSpPr>
        <p:spPr>
          <a:xfrm>
            <a:off x="2743200" y="2423160"/>
            <a:ext cx="320040" cy="320040"/>
          </a:xfrm>
          <a:prstGeom prst="ellipse">
            <a:avLst/>
          </a:prstGeom>
          <a:solidFill>
            <a:srgbClr val="4A9FFF"/>
          </a:solidFill>
          <a:ln/>
        </p:spPr>
      </p:sp>
      <p:sp>
        <p:nvSpPr>
          <p:cNvPr id="20" name="Text 17"/>
          <p:cNvSpPr/>
          <p:nvPr/>
        </p:nvSpPr>
        <p:spPr>
          <a:xfrm>
            <a:off x="2743200" y="242316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2</a:t>
            </a:r>
            <a:endParaRPr lang="en-US" sz="1400" dirty="0"/>
          </a:p>
        </p:txBody>
      </p:sp>
      <p:sp>
        <p:nvSpPr>
          <p:cNvPr id="21" name="Text 18"/>
          <p:cNvSpPr/>
          <p:nvPr/>
        </p:nvSpPr>
        <p:spPr>
          <a:xfrm>
            <a:off x="2697480" y="2834640"/>
            <a:ext cx="169164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Retrieve</a:t>
            </a:r>
            <a:endParaRPr lang="en-US" sz="1300" dirty="0"/>
          </a:p>
        </p:txBody>
      </p:sp>
      <p:sp>
        <p:nvSpPr>
          <p:cNvPr id="22" name="Text 19"/>
          <p:cNvSpPr/>
          <p:nvPr/>
        </p:nvSpPr>
        <p:spPr>
          <a:xfrm>
            <a:off x="2697480" y="3108960"/>
            <a:ext cx="169164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Search knowledge base</a:t>
            </a:r>
            <a:endParaRPr lang="en-US" sz="1000" dirty="0"/>
          </a:p>
        </p:txBody>
      </p:sp>
      <p:sp>
        <p:nvSpPr>
          <p:cNvPr id="23" name="Text 20"/>
          <p:cNvSpPr/>
          <p:nvPr/>
        </p:nvSpPr>
        <p:spPr>
          <a:xfrm>
            <a:off x="4434840" y="256032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24" name="Shape 21"/>
          <p:cNvSpPr/>
          <p:nvPr/>
        </p:nvSpPr>
        <p:spPr>
          <a:xfrm>
            <a:off x="4754880" y="2240280"/>
            <a:ext cx="18745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5" name="Shape 22"/>
          <p:cNvSpPr/>
          <p:nvPr/>
        </p:nvSpPr>
        <p:spPr>
          <a:xfrm>
            <a:off x="4754880" y="2240280"/>
            <a:ext cx="1874520" cy="54864"/>
          </a:xfrm>
          <a:prstGeom prst="rect">
            <a:avLst/>
          </a:prstGeom>
          <a:solidFill>
            <a:srgbClr val="00D4AA"/>
          </a:solidFill>
          <a:ln/>
        </p:spPr>
      </p:sp>
      <p:sp>
        <p:nvSpPr>
          <p:cNvPr id="26" name="Shape 23"/>
          <p:cNvSpPr/>
          <p:nvPr/>
        </p:nvSpPr>
        <p:spPr>
          <a:xfrm>
            <a:off x="4892040" y="2423160"/>
            <a:ext cx="320040" cy="320040"/>
          </a:xfrm>
          <a:prstGeom prst="ellipse">
            <a:avLst/>
          </a:prstGeom>
          <a:solidFill>
            <a:srgbClr val="00D4AA"/>
          </a:solidFill>
          <a:ln/>
        </p:spPr>
      </p:sp>
      <p:sp>
        <p:nvSpPr>
          <p:cNvPr id="27" name="Text 24"/>
          <p:cNvSpPr/>
          <p:nvPr/>
        </p:nvSpPr>
        <p:spPr>
          <a:xfrm>
            <a:off x="4892040" y="242316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3</a:t>
            </a:r>
            <a:endParaRPr lang="en-US" sz="1400" dirty="0"/>
          </a:p>
        </p:txBody>
      </p:sp>
      <p:sp>
        <p:nvSpPr>
          <p:cNvPr id="28" name="Text 25"/>
          <p:cNvSpPr/>
          <p:nvPr/>
        </p:nvSpPr>
        <p:spPr>
          <a:xfrm>
            <a:off x="4846320" y="2834640"/>
            <a:ext cx="169164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Inject</a:t>
            </a:r>
            <a:endParaRPr lang="en-US" sz="1300" dirty="0"/>
          </a:p>
        </p:txBody>
      </p:sp>
      <p:sp>
        <p:nvSpPr>
          <p:cNvPr id="29" name="Text 26"/>
          <p:cNvSpPr/>
          <p:nvPr/>
        </p:nvSpPr>
        <p:spPr>
          <a:xfrm>
            <a:off x="4846320" y="3108960"/>
            <a:ext cx="169164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Add docs to prompt</a:t>
            </a:r>
            <a:endParaRPr lang="en-US" sz="1000" dirty="0"/>
          </a:p>
        </p:txBody>
      </p:sp>
      <p:sp>
        <p:nvSpPr>
          <p:cNvPr id="30" name="Text 27"/>
          <p:cNvSpPr/>
          <p:nvPr/>
        </p:nvSpPr>
        <p:spPr>
          <a:xfrm>
            <a:off x="6583680" y="256032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31" name="Shape 28"/>
          <p:cNvSpPr/>
          <p:nvPr/>
        </p:nvSpPr>
        <p:spPr>
          <a:xfrm>
            <a:off x="6903720" y="2240280"/>
            <a:ext cx="18745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2" name="Shape 29"/>
          <p:cNvSpPr/>
          <p:nvPr/>
        </p:nvSpPr>
        <p:spPr>
          <a:xfrm>
            <a:off x="6903720" y="2240280"/>
            <a:ext cx="1874520" cy="54864"/>
          </a:xfrm>
          <a:prstGeom prst="rect">
            <a:avLst/>
          </a:prstGeom>
          <a:solidFill>
            <a:srgbClr val="FF3DAB"/>
          </a:solidFill>
          <a:ln/>
        </p:spPr>
      </p:sp>
      <p:sp>
        <p:nvSpPr>
          <p:cNvPr id="33" name="Shape 30"/>
          <p:cNvSpPr/>
          <p:nvPr/>
        </p:nvSpPr>
        <p:spPr>
          <a:xfrm>
            <a:off x="7040880" y="2423160"/>
            <a:ext cx="320040" cy="320040"/>
          </a:xfrm>
          <a:prstGeom prst="ellipse">
            <a:avLst/>
          </a:prstGeom>
          <a:solidFill>
            <a:srgbClr val="FF3DAB"/>
          </a:solidFill>
          <a:ln/>
        </p:spPr>
      </p:sp>
      <p:sp>
        <p:nvSpPr>
          <p:cNvPr id="34" name="Text 31"/>
          <p:cNvSpPr/>
          <p:nvPr/>
        </p:nvSpPr>
        <p:spPr>
          <a:xfrm>
            <a:off x="7040880" y="242316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4</a:t>
            </a:r>
            <a:endParaRPr lang="en-US" sz="1400" dirty="0"/>
          </a:p>
        </p:txBody>
      </p:sp>
      <p:sp>
        <p:nvSpPr>
          <p:cNvPr id="35" name="Text 32"/>
          <p:cNvSpPr/>
          <p:nvPr/>
        </p:nvSpPr>
        <p:spPr>
          <a:xfrm>
            <a:off x="6995160" y="2834640"/>
            <a:ext cx="1691640" cy="274320"/>
          </a:xfrm>
          <a:prstGeom prst="rect">
            <a:avLst/>
          </a:prstGeom>
          <a:noFill/>
          <a:ln/>
        </p:spPr>
        <p:txBody>
          <a:bodyPr wrap="square" lIns="0" tIns="0" rIns="0" bIns="0" rtlCol="0" anchor="ctr"/>
          <a:lstStyle/>
          <a:p>
            <a:pPr indent="0" marL="0">
              <a:buNone/>
            </a:pPr>
            <a:r>
              <a:rPr lang="en-US" sz="1300" b="1" dirty="0">
                <a:solidFill>
                  <a:srgbClr val="FF3DAB"/>
                </a:solidFill>
                <a:latin typeface="Arial" pitchFamily="34" charset="0"/>
                <a:ea typeface="Arial" pitchFamily="34" charset="-122"/>
                <a:cs typeface="Arial" pitchFamily="34" charset="-120"/>
              </a:rPr>
              <a:t>Generate</a:t>
            </a:r>
            <a:endParaRPr lang="en-US" sz="1300" dirty="0"/>
          </a:p>
        </p:txBody>
      </p:sp>
      <p:sp>
        <p:nvSpPr>
          <p:cNvPr id="36" name="Text 33"/>
          <p:cNvSpPr/>
          <p:nvPr/>
        </p:nvSpPr>
        <p:spPr>
          <a:xfrm>
            <a:off x="6995160" y="3108960"/>
            <a:ext cx="169164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Grounded in your data</a:t>
            </a:r>
            <a:endParaRPr lang="en-US" sz="1000" dirty="0"/>
          </a:p>
        </p:txBody>
      </p:sp>
      <p:sp>
        <p:nvSpPr>
          <p:cNvPr id="37" name="Shape 34"/>
          <p:cNvSpPr/>
          <p:nvPr/>
        </p:nvSpPr>
        <p:spPr>
          <a:xfrm>
            <a:off x="457200" y="3931920"/>
            <a:ext cx="8229600" cy="548640"/>
          </a:xfrm>
          <a:prstGeom prst="rect">
            <a:avLst/>
          </a:prstGeom>
          <a:solidFill>
            <a:srgbClr val="1A1A2E"/>
          </a:solidFill>
          <a:ln/>
        </p:spPr>
      </p:sp>
      <p:sp>
        <p:nvSpPr>
          <p:cNvPr id="38" name="Text 35"/>
          <p:cNvSpPr/>
          <p:nvPr/>
        </p:nvSpPr>
        <p:spPr>
          <a:xfrm>
            <a:off x="457200" y="3931920"/>
            <a:ext cx="8229600" cy="548640"/>
          </a:xfrm>
          <a:prstGeom prst="rect">
            <a:avLst/>
          </a:prstGeom>
          <a:noFill/>
          <a:ln/>
        </p:spPr>
        <p:txBody>
          <a:bodyPr wrap="square" lIns="0" tIns="0" rIns="0" bIns="0" rtlCol="0" anchor="ctr"/>
          <a:lstStyle/>
          <a:p>
            <a:pPr algn="ctr" indent="0" marL="0">
              <a:buNone/>
            </a:pPr>
            <a:r>
              <a:rPr lang="en-US" sz="1200" dirty="0">
                <a:solidFill>
                  <a:srgbClr val="9B9BB0"/>
                </a:solidFill>
                <a:latin typeface="Arial" pitchFamily="34" charset="0"/>
                <a:ea typeface="Arial" pitchFamily="34" charset="-122"/>
                <a:cs typeface="Arial" pitchFamily="34" charset="-120"/>
              </a:rPr>
              <a:t xml:space="preserve">Use cases:  </a:t>
            </a:r>
            <a:pPr algn="ctr" indent="0" marL="0">
              <a:buNone/>
            </a:pPr>
            <a:r>
              <a:rPr lang="en-US" sz="1200" b="1" dirty="0">
                <a:solidFill>
                  <a:srgbClr val="E91E8C"/>
                </a:solidFill>
                <a:latin typeface="Arial" pitchFamily="34" charset="0"/>
                <a:ea typeface="Arial" pitchFamily="34" charset="-122"/>
                <a:cs typeface="Arial" pitchFamily="34" charset="-120"/>
              </a:rPr>
              <a:t>Documentation bots</a:t>
            </a:r>
            <a:pPr algn="ctr" indent="0" marL="0">
              <a:buNone/>
            </a:pPr>
            <a:r>
              <a:rPr lang="en-US" sz="1200" dirty="0">
                <a:solidFill>
                  <a:srgbClr val="9B9BB0"/>
                </a:solidFill>
                <a:latin typeface="Arial" pitchFamily="34" charset="0"/>
                <a:ea typeface="Arial" pitchFamily="34" charset="-122"/>
                <a:cs typeface="Arial" pitchFamily="34" charset="-120"/>
              </a:rPr>
              <a:t xml:space="preserve">  •  </a:t>
            </a:r>
            <a:pPr algn="ctr" indent="0" marL="0">
              <a:buNone/>
            </a:pPr>
            <a:r>
              <a:rPr lang="en-US" sz="1200" b="1" dirty="0">
                <a:solidFill>
                  <a:srgbClr val="4A9FFF"/>
                </a:solidFill>
                <a:latin typeface="Arial" pitchFamily="34" charset="0"/>
                <a:ea typeface="Arial" pitchFamily="34" charset="-122"/>
                <a:cs typeface="Arial" pitchFamily="34" charset="-120"/>
              </a:rPr>
              <a:t>Code search</a:t>
            </a:r>
            <a:pPr algn="ctr" indent="0" marL="0">
              <a:buNone/>
            </a:pPr>
            <a:r>
              <a:rPr lang="en-US" sz="1200" dirty="0">
                <a:solidFill>
                  <a:srgbClr val="9B9BB0"/>
                </a:solidFill>
                <a:latin typeface="Arial" pitchFamily="34" charset="0"/>
                <a:ea typeface="Arial" pitchFamily="34" charset="-122"/>
                <a:cs typeface="Arial" pitchFamily="34" charset="-120"/>
              </a:rPr>
              <a:t xml:space="preserve">  •  </a:t>
            </a:r>
            <a:pPr algn="ctr" indent="0" marL="0">
              <a:buNone/>
            </a:pPr>
            <a:r>
              <a:rPr lang="en-US" sz="1200" b="1" dirty="0">
                <a:solidFill>
                  <a:srgbClr val="00D4AA"/>
                </a:solidFill>
                <a:latin typeface="Arial" pitchFamily="34" charset="0"/>
                <a:ea typeface="Arial" pitchFamily="34" charset="-122"/>
                <a:cs typeface="Arial" pitchFamily="34" charset="-120"/>
              </a:rPr>
              <a:t>Customer support</a:t>
            </a:r>
            <a:pPr algn="ctr" indent="0" marL="0">
              <a:buNone/>
            </a:pPr>
            <a:r>
              <a:rPr lang="en-US" sz="1200" dirty="0">
                <a:solidFill>
                  <a:srgbClr val="9B9BB0"/>
                </a:solidFill>
                <a:latin typeface="Arial" pitchFamily="34" charset="0"/>
                <a:ea typeface="Arial" pitchFamily="34" charset="-122"/>
                <a:cs typeface="Arial" pitchFamily="34" charset="-120"/>
              </a:rPr>
              <a:t xml:space="preserve">  •  </a:t>
            </a:r>
            <a:pPr algn="ctr" indent="0" marL="0">
              <a:buNone/>
            </a:pPr>
            <a:r>
              <a:rPr lang="en-US" sz="1200" b="1" dirty="0">
                <a:solidFill>
                  <a:srgbClr val="FF3DAB"/>
                </a:solidFill>
                <a:latin typeface="Arial" pitchFamily="34" charset="0"/>
                <a:ea typeface="Arial" pitchFamily="34" charset="-122"/>
                <a:cs typeface="Arial" pitchFamily="34" charset="-120"/>
              </a:rPr>
              <a:t>Enterprise knowledge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Context Engineering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evolution from prompt engineering to full context design</a:t>
            </a:r>
            <a:endParaRPr lang="en-US" sz="1100" dirty="0"/>
          </a:p>
        </p:txBody>
      </p:sp>
      <p:sp>
        <p:nvSpPr>
          <p:cNvPr id="5" name="Shape 3"/>
          <p:cNvSpPr/>
          <p:nvPr/>
        </p:nvSpPr>
        <p:spPr>
          <a:xfrm>
            <a:off x="457200" y="1051560"/>
            <a:ext cx="8229600" cy="822960"/>
          </a:xfrm>
          <a:prstGeom prst="rect">
            <a:avLst/>
          </a:prstGeom>
          <a:solidFill>
            <a:srgbClr val="1A1028"/>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822960"/>
          </a:xfrm>
          <a:prstGeom prst="rect">
            <a:avLst/>
          </a:prstGeom>
          <a:solidFill>
            <a:srgbClr val="E91E8C"/>
          </a:solidFill>
          <a:ln/>
        </p:spPr>
      </p:sp>
      <p:sp>
        <p:nvSpPr>
          <p:cNvPr id="7" name="Text 5"/>
          <p:cNvSpPr/>
          <p:nvPr/>
        </p:nvSpPr>
        <p:spPr>
          <a:xfrm>
            <a:off x="731520" y="1115568"/>
            <a:ext cx="76809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prompt is only part of what the model reads.</a:t>
            </a:r>
            <a:endParaRPr lang="en-US" sz="1500" dirty="0"/>
          </a:p>
        </p:txBody>
      </p:sp>
      <p:sp>
        <p:nvSpPr>
          <p:cNvPr id="8" name="Text 6"/>
          <p:cNvSpPr/>
          <p:nvPr/>
        </p:nvSpPr>
        <p:spPr>
          <a:xfrm>
            <a:off x="731520" y="1417320"/>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Context engineering is designing the full information architecture: system instructions, memory, retrieved docs, tool schemas, conversation history, and the current task. Each is a separate layer to optimize.</a:t>
            </a:r>
            <a:endParaRPr lang="en-US" sz="1100" dirty="0"/>
          </a:p>
        </p:txBody>
      </p:sp>
      <p:sp>
        <p:nvSpPr>
          <p:cNvPr id="9" name="Shape 7"/>
          <p:cNvSpPr/>
          <p:nvPr/>
        </p:nvSpPr>
        <p:spPr>
          <a:xfrm>
            <a:off x="457200" y="214884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2148840"/>
            <a:ext cx="2560320" cy="45720"/>
          </a:xfrm>
          <a:prstGeom prst="rect">
            <a:avLst/>
          </a:prstGeom>
          <a:solidFill>
            <a:srgbClr val="E91E8C"/>
          </a:solidFill>
          <a:ln/>
        </p:spPr>
      </p:sp>
      <p:sp>
        <p:nvSpPr>
          <p:cNvPr id="11" name="Text 9"/>
          <p:cNvSpPr/>
          <p:nvPr/>
        </p:nvSpPr>
        <p:spPr>
          <a:xfrm>
            <a:off x="594360" y="2240280"/>
            <a:ext cx="2286000" cy="274320"/>
          </a:xfrm>
          <a:prstGeom prst="rect">
            <a:avLst/>
          </a:prstGeom>
          <a:noFill/>
          <a:ln/>
        </p:spPr>
        <p:txBody>
          <a:bodyPr wrap="square" lIns="0" tIns="0" rIns="0" bIns="0" rtlCol="0" anchor="ctr"/>
          <a:lstStyle/>
          <a:p>
            <a:pPr indent="0" marL="0">
              <a:buNone/>
            </a:pPr>
            <a:r>
              <a:rPr lang="en-US" sz="1200" b="1" dirty="0">
                <a:solidFill>
                  <a:srgbClr val="E91E8C"/>
                </a:solidFill>
                <a:latin typeface="Arial" pitchFamily="34" charset="0"/>
                <a:ea typeface="Arial" pitchFamily="34" charset="-122"/>
                <a:cs typeface="Arial" pitchFamily="34" charset="-120"/>
              </a:rPr>
              <a:t>System Instructions</a:t>
            </a:r>
            <a:endParaRPr lang="en-US" sz="1200" dirty="0"/>
          </a:p>
        </p:txBody>
      </p:sp>
      <p:sp>
        <p:nvSpPr>
          <p:cNvPr id="12" name="Text 10"/>
          <p:cNvSpPr/>
          <p:nvPr/>
        </p:nvSpPr>
        <p:spPr>
          <a:xfrm>
            <a:off x="594360" y="253288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Stable rules, identity, behavior</a:t>
            </a:r>
            <a:endParaRPr lang="en-US" sz="1000" dirty="0"/>
          </a:p>
        </p:txBody>
      </p:sp>
      <p:sp>
        <p:nvSpPr>
          <p:cNvPr id="13" name="Shape 11"/>
          <p:cNvSpPr/>
          <p:nvPr/>
        </p:nvSpPr>
        <p:spPr>
          <a:xfrm>
            <a:off x="3291840" y="214884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4" name="Shape 12"/>
          <p:cNvSpPr/>
          <p:nvPr/>
        </p:nvSpPr>
        <p:spPr>
          <a:xfrm>
            <a:off x="3291840" y="2148840"/>
            <a:ext cx="2560320" cy="45720"/>
          </a:xfrm>
          <a:prstGeom prst="rect">
            <a:avLst/>
          </a:prstGeom>
          <a:solidFill>
            <a:srgbClr val="4A9FFF"/>
          </a:solidFill>
          <a:ln/>
        </p:spPr>
      </p:sp>
      <p:sp>
        <p:nvSpPr>
          <p:cNvPr id="15" name="Text 13"/>
          <p:cNvSpPr/>
          <p:nvPr/>
        </p:nvSpPr>
        <p:spPr>
          <a:xfrm>
            <a:off x="3429000" y="2240280"/>
            <a:ext cx="2286000" cy="274320"/>
          </a:xfrm>
          <a:prstGeom prst="rect">
            <a:avLst/>
          </a:prstGeom>
          <a:noFill/>
          <a:ln/>
        </p:spPr>
        <p:txBody>
          <a:bodyPr wrap="square" lIns="0" tIns="0" rIns="0" bIns="0" rtlCol="0" anchor="ctr"/>
          <a:lstStyle/>
          <a:p>
            <a:pPr indent="0" marL="0">
              <a:buNone/>
            </a:pPr>
            <a:r>
              <a:rPr lang="en-US" sz="1200" b="1" dirty="0">
                <a:solidFill>
                  <a:srgbClr val="4A9FFF"/>
                </a:solidFill>
                <a:latin typeface="Arial" pitchFamily="34" charset="0"/>
                <a:ea typeface="Arial" pitchFamily="34" charset="-122"/>
                <a:cs typeface="Arial" pitchFamily="34" charset="-120"/>
              </a:rPr>
              <a:t>Memory</a:t>
            </a:r>
            <a:endParaRPr lang="en-US" sz="1200" dirty="0"/>
          </a:p>
        </p:txBody>
      </p:sp>
      <p:sp>
        <p:nvSpPr>
          <p:cNvPr id="16" name="Text 14"/>
          <p:cNvSpPr/>
          <p:nvPr/>
        </p:nvSpPr>
        <p:spPr>
          <a:xfrm>
            <a:off x="3429000" y="253288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Persisted facts across sessions</a:t>
            </a:r>
            <a:endParaRPr lang="en-US" sz="1000" dirty="0"/>
          </a:p>
        </p:txBody>
      </p:sp>
      <p:sp>
        <p:nvSpPr>
          <p:cNvPr id="17" name="Shape 15"/>
          <p:cNvSpPr/>
          <p:nvPr/>
        </p:nvSpPr>
        <p:spPr>
          <a:xfrm>
            <a:off x="6126480" y="214884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8" name="Shape 16"/>
          <p:cNvSpPr/>
          <p:nvPr/>
        </p:nvSpPr>
        <p:spPr>
          <a:xfrm>
            <a:off x="6126480" y="2148840"/>
            <a:ext cx="2560320" cy="45720"/>
          </a:xfrm>
          <a:prstGeom prst="rect">
            <a:avLst/>
          </a:prstGeom>
          <a:solidFill>
            <a:srgbClr val="00D4AA"/>
          </a:solidFill>
          <a:ln/>
        </p:spPr>
      </p:sp>
      <p:sp>
        <p:nvSpPr>
          <p:cNvPr id="19" name="Text 17"/>
          <p:cNvSpPr/>
          <p:nvPr/>
        </p:nvSpPr>
        <p:spPr>
          <a:xfrm>
            <a:off x="6263640" y="2240280"/>
            <a:ext cx="2286000" cy="274320"/>
          </a:xfrm>
          <a:prstGeom prst="rect">
            <a:avLst/>
          </a:prstGeom>
          <a:noFill/>
          <a:ln/>
        </p:spPr>
        <p:txBody>
          <a:bodyPr wrap="square" lIns="0" tIns="0" rIns="0" bIns="0" rtlCol="0" anchor="ctr"/>
          <a:lstStyle/>
          <a:p>
            <a:pPr indent="0" marL="0">
              <a:buNone/>
            </a:pPr>
            <a:r>
              <a:rPr lang="en-US" sz="1200" b="1" dirty="0">
                <a:solidFill>
                  <a:srgbClr val="00D4AA"/>
                </a:solidFill>
                <a:latin typeface="Arial" pitchFamily="34" charset="0"/>
                <a:ea typeface="Arial" pitchFamily="34" charset="-122"/>
                <a:cs typeface="Arial" pitchFamily="34" charset="-120"/>
              </a:rPr>
              <a:t>Retrieved Docs (RAG)</a:t>
            </a:r>
            <a:endParaRPr lang="en-US" sz="1200" dirty="0"/>
          </a:p>
        </p:txBody>
      </p:sp>
      <p:sp>
        <p:nvSpPr>
          <p:cNvPr id="20" name="Text 18"/>
          <p:cNvSpPr/>
          <p:nvPr/>
        </p:nvSpPr>
        <p:spPr>
          <a:xfrm>
            <a:off x="6263640" y="253288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Dynamic knowledge per query</a:t>
            </a:r>
            <a:endParaRPr lang="en-US" sz="1000" dirty="0"/>
          </a:p>
        </p:txBody>
      </p:sp>
      <p:sp>
        <p:nvSpPr>
          <p:cNvPr id="21" name="Shape 19"/>
          <p:cNvSpPr/>
          <p:nvPr/>
        </p:nvSpPr>
        <p:spPr>
          <a:xfrm>
            <a:off x="457200" y="324612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2" name="Shape 20"/>
          <p:cNvSpPr/>
          <p:nvPr/>
        </p:nvSpPr>
        <p:spPr>
          <a:xfrm>
            <a:off x="457200" y="3246120"/>
            <a:ext cx="2560320" cy="45720"/>
          </a:xfrm>
          <a:prstGeom prst="rect">
            <a:avLst/>
          </a:prstGeom>
          <a:solidFill>
            <a:srgbClr val="FF3DAB"/>
          </a:solidFill>
          <a:ln/>
        </p:spPr>
      </p:sp>
      <p:sp>
        <p:nvSpPr>
          <p:cNvPr id="23" name="Text 21"/>
          <p:cNvSpPr/>
          <p:nvPr/>
        </p:nvSpPr>
        <p:spPr>
          <a:xfrm>
            <a:off x="594360" y="3337560"/>
            <a:ext cx="2286000" cy="274320"/>
          </a:xfrm>
          <a:prstGeom prst="rect">
            <a:avLst/>
          </a:prstGeom>
          <a:noFill/>
          <a:ln/>
        </p:spPr>
        <p:txBody>
          <a:bodyPr wrap="square" lIns="0" tIns="0" rIns="0" bIns="0" rtlCol="0" anchor="ctr"/>
          <a:lstStyle/>
          <a:p>
            <a:pPr indent="0" marL="0">
              <a:buNone/>
            </a:pPr>
            <a:r>
              <a:rPr lang="en-US" sz="1200" b="1" dirty="0">
                <a:solidFill>
                  <a:srgbClr val="FF3DAB"/>
                </a:solidFill>
                <a:latin typeface="Arial" pitchFamily="34" charset="0"/>
                <a:ea typeface="Arial" pitchFamily="34" charset="-122"/>
                <a:cs typeface="Arial" pitchFamily="34" charset="-120"/>
              </a:rPr>
              <a:t>Tool Schemas</a:t>
            </a:r>
            <a:endParaRPr lang="en-US" sz="1200" dirty="0"/>
          </a:p>
        </p:txBody>
      </p:sp>
      <p:sp>
        <p:nvSpPr>
          <p:cNvPr id="24" name="Text 22"/>
          <p:cNvSpPr/>
          <p:nvPr/>
        </p:nvSpPr>
        <p:spPr>
          <a:xfrm>
            <a:off x="594360" y="363016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Available actions &amp; their contracts</a:t>
            </a:r>
            <a:endParaRPr lang="en-US" sz="1000" dirty="0"/>
          </a:p>
        </p:txBody>
      </p:sp>
      <p:sp>
        <p:nvSpPr>
          <p:cNvPr id="25" name="Shape 23"/>
          <p:cNvSpPr/>
          <p:nvPr/>
        </p:nvSpPr>
        <p:spPr>
          <a:xfrm>
            <a:off x="3291840" y="324612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6" name="Shape 24"/>
          <p:cNvSpPr/>
          <p:nvPr/>
        </p:nvSpPr>
        <p:spPr>
          <a:xfrm>
            <a:off x="3291840" y="3246120"/>
            <a:ext cx="2560320" cy="45720"/>
          </a:xfrm>
          <a:prstGeom prst="rect">
            <a:avLst/>
          </a:prstGeom>
          <a:solidFill>
            <a:srgbClr val="FFB347"/>
          </a:solidFill>
          <a:ln/>
        </p:spPr>
      </p:sp>
      <p:sp>
        <p:nvSpPr>
          <p:cNvPr id="27" name="Text 25"/>
          <p:cNvSpPr/>
          <p:nvPr/>
        </p:nvSpPr>
        <p:spPr>
          <a:xfrm>
            <a:off x="3429000" y="3337560"/>
            <a:ext cx="2286000" cy="274320"/>
          </a:xfrm>
          <a:prstGeom prst="rect">
            <a:avLst/>
          </a:prstGeom>
          <a:noFill/>
          <a:ln/>
        </p:spPr>
        <p:txBody>
          <a:bodyPr wrap="square" lIns="0" tIns="0" rIns="0" bIns="0" rtlCol="0" anchor="ctr"/>
          <a:lstStyle/>
          <a:p>
            <a:pPr indent="0" marL="0">
              <a:buNone/>
            </a:pPr>
            <a:r>
              <a:rPr lang="en-US" sz="1200" b="1" dirty="0">
                <a:solidFill>
                  <a:srgbClr val="FFB347"/>
                </a:solidFill>
                <a:latin typeface="Arial" pitchFamily="34" charset="0"/>
                <a:ea typeface="Arial" pitchFamily="34" charset="-122"/>
                <a:cs typeface="Arial" pitchFamily="34" charset="-120"/>
              </a:rPr>
              <a:t>Conversation History</a:t>
            </a:r>
            <a:endParaRPr lang="en-US" sz="1200" dirty="0"/>
          </a:p>
        </p:txBody>
      </p:sp>
      <p:sp>
        <p:nvSpPr>
          <p:cNvPr id="28" name="Text 26"/>
          <p:cNvSpPr/>
          <p:nvPr/>
        </p:nvSpPr>
        <p:spPr>
          <a:xfrm>
            <a:off x="3429000" y="363016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Recent messages &amp; context</a:t>
            </a:r>
            <a:endParaRPr lang="en-US" sz="1000" dirty="0"/>
          </a:p>
        </p:txBody>
      </p:sp>
      <p:sp>
        <p:nvSpPr>
          <p:cNvPr id="29" name="Shape 27"/>
          <p:cNvSpPr/>
          <p:nvPr/>
        </p:nvSpPr>
        <p:spPr>
          <a:xfrm>
            <a:off x="6126480" y="3246120"/>
            <a:ext cx="2560320" cy="8686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30" name="Shape 28"/>
          <p:cNvSpPr/>
          <p:nvPr/>
        </p:nvSpPr>
        <p:spPr>
          <a:xfrm>
            <a:off x="6126480" y="3246120"/>
            <a:ext cx="2560320" cy="45720"/>
          </a:xfrm>
          <a:prstGeom prst="rect">
            <a:avLst/>
          </a:prstGeom>
          <a:solidFill>
            <a:srgbClr val="7B68EE"/>
          </a:solidFill>
          <a:ln/>
        </p:spPr>
      </p:sp>
      <p:sp>
        <p:nvSpPr>
          <p:cNvPr id="31" name="Text 29"/>
          <p:cNvSpPr/>
          <p:nvPr/>
        </p:nvSpPr>
        <p:spPr>
          <a:xfrm>
            <a:off x="6263640" y="3337560"/>
            <a:ext cx="2286000" cy="274320"/>
          </a:xfrm>
          <a:prstGeom prst="rect">
            <a:avLst/>
          </a:prstGeom>
          <a:noFill/>
          <a:ln/>
        </p:spPr>
        <p:txBody>
          <a:bodyPr wrap="square" lIns="0" tIns="0" rIns="0" bIns="0" rtlCol="0" anchor="ctr"/>
          <a:lstStyle/>
          <a:p>
            <a:pPr indent="0" marL="0">
              <a:buNone/>
            </a:pPr>
            <a:r>
              <a:rPr lang="en-US" sz="1200" b="1" dirty="0">
                <a:solidFill>
                  <a:srgbClr val="7B68EE"/>
                </a:solidFill>
                <a:latin typeface="Arial" pitchFamily="34" charset="0"/>
                <a:ea typeface="Arial" pitchFamily="34" charset="-122"/>
                <a:cs typeface="Arial" pitchFamily="34" charset="-120"/>
              </a:rPr>
              <a:t>Current Task</a:t>
            </a:r>
            <a:endParaRPr lang="en-US" sz="1200" dirty="0"/>
          </a:p>
        </p:txBody>
      </p:sp>
      <p:sp>
        <p:nvSpPr>
          <p:cNvPr id="32" name="Text 30"/>
          <p:cNvSpPr/>
          <p:nvPr/>
        </p:nvSpPr>
        <p:spPr>
          <a:xfrm>
            <a:off x="6263640" y="3630168"/>
            <a:ext cx="2286000" cy="36576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The actual user request</a:t>
            </a:r>
            <a:endParaRPr lang="en-US" sz="1000" dirty="0"/>
          </a:p>
        </p:txBody>
      </p:sp>
      <p:sp>
        <p:nvSpPr>
          <p:cNvPr id="33" name="Text 31"/>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"Prompt engineering is now being rebranded as context engineering" — promptingguide.ai</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From chat to agents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2026 paradigm shift — and why prompting still matters</a:t>
            </a:r>
            <a:endParaRPr lang="en-US" sz="1100" dirty="0"/>
          </a:p>
        </p:txBody>
      </p:sp>
      <p:sp>
        <p:nvSpPr>
          <p:cNvPr id="5" name="Shape 3"/>
          <p:cNvSpPr/>
          <p:nvPr/>
        </p:nvSpPr>
        <p:spPr>
          <a:xfrm>
            <a:off x="457200" y="1051560"/>
            <a:ext cx="8229600" cy="50292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502920"/>
          </a:xfrm>
          <a:prstGeom prst="rect">
            <a:avLst/>
          </a:prstGeom>
          <a:solidFill>
            <a:srgbClr val="E91E8C"/>
          </a:solidFill>
          <a:ln/>
        </p:spPr>
      </p:sp>
      <p:sp>
        <p:nvSpPr>
          <p:cNvPr id="7" name="Text 5"/>
          <p:cNvSpPr/>
          <p:nvPr/>
        </p:nvSpPr>
        <p:spPr>
          <a:xfrm>
            <a:off x="731520" y="1097280"/>
            <a:ext cx="7680960" cy="1828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GPT-3.5 in an agentic workflow outperforms GPT-4 with a single prompt.</a:t>
            </a:r>
            <a:endParaRPr lang="en-US" sz="1300" dirty="0"/>
          </a:p>
        </p:txBody>
      </p:sp>
      <p:sp>
        <p:nvSpPr>
          <p:cNvPr id="8" name="Text 6"/>
          <p:cNvSpPr/>
          <p:nvPr/>
        </p:nvSpPr>
        <p:spPr>
          <a:xfrm>
            <a:off x="731520" y="1298448"/>
            <a:ext cx="7680960" cy="182880"/>
          </a:xfrm>
          <a:prstGeom prst="rect">
            <a:avLst/>
          </a:prstGeom>
          <a:noFill/>
          <a:ln/>
        </p:spPr>
        <p:txBody>
          <a:bodyPr wrap="square" lIns="0" tIns="0" rIns="0" bIns="0" rtlCol="0" anchor="ctr"/>
          <a:lstStyle/>
          <a:p>
            <a:pPr indent="0" marL="0">
              <a:buNone/>
            </a:pPr>
            <a:r>
              <a:rPr lang="en-US" sz="1100" i="1" dirty="0">
                <a:solidFill>
                  <a:srgbClr val="C8C8D8"/>
                </a:solidFill>
                <a:latin typeface="Arial" pitchFamily="34" charset="0"/>
                <a:ea typeface="Arial" pitchFamily="34" charset="-122"/>
                <a:cs typeface="Arial" pitchFamily="34" charset="-120"/>
              </a:rPr>
              <a:t>— Andrew Ng, Sequoia AI Ascent. The workflow architecture matters more than the prompt.</a:t>
            </a:r>
            <a:endParaRPr lang="en-US" sz="1100" dirty="0"/>
          </a:p>
        </p:txBody>
      </p:sp>
      <p:sp>
        <p:nvSpPr>
          <p:cNvPr id="9" name="Shape 7"/>
          <p:cNvSpPr/>
          <p:nvPr/>
        </p:nvSpPr>
        <p:spPr>
          <a:xfrm>
            <a:off x="457200" y="1783080"/>
            <a:ext cx="4023360" cy="26060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783080"/>
            <a:ext cx="4023360" cy="54864"/>
          </a:xfrm>
          <a:prstGeom prst="rect">
            <a:avLst/>
          </a:prstGeom>
          <a:solidFill>
            <a:srgbClr val="4A9FFF"/>
          </a:solidFill>
          <a:ln/>
        </p:spPr>
      </p:sp>
      <p:sp>
        <p:nvSpPr>
          <p:cNvPr id="11" name="Text 9"/>
          <p:cNvSpPr/>
          <p:nvPr/>
        </p:nvSpPr>
        <p:spPr>
          <a:xfrm>
            <a:off x="594360" y="1874520"/>
            <a:ext cx="2286000" cy="320040"/>
          </a:xfrm>
          <a:prstGeom prst="rect">
            <a:avLst/>
          </a:prstGeom>
          <a:noFill/>
          <a:ln/>
        </p:spPr>
        <p:txBody>
          <a:bodyPr wrap="square" lIns="0" tIns="0" rIns="0" bIns="0" rtlCol="0" anchor="ctr"/>
          <a:lstStyle/>
          <a:p>
            <a:pPr indent="0" marL="0">
              <a:buNone/>
            </a:pPr>
            <a:r>
              <a:rPr lang="en-US" sz="1600" b="1" dirty="0">
                <a:solidFill>
                  <a:srgbClr val="4A9FFF"/>
                </a:solidFill>
                <a:latin typeface="Arial" pitchFamily="34" charset="0"/>
                <a:ea typeface="Arial" pitchFamily="34" charset="-122"/>
                <a:cs typeface="Arial" pitchFamily="34" charset="-120"/>
              </a:rPr>
              <a:t>Chat mode</a:t>
            </a:r>
            <a:endParaRPr lang="en-US" sz="1600" dirty="0"/>
          </a:p>
        </p:txBody>
      </p:sp>
      <p:sp>
        <p:nvSpPr>
          <p:cNvPr id="12" name="Text 10"/>
          <p:cNvSpPr/>
          <p:nvPr/>
        </p:nvSpPr>
        <p:spPr>
          <a:xfrm>
            <a:off x="594360" y="2148840"/>
            <a:ext cx="3657600" cy="182880"/>
          </a:xfrm>
          <a:prstGeom prst="rect">
            <a:avLst/>
          </a:prstGeom>
          <a:noFill/>
          <a:ln/>
        </p:spPr>
        <p:txBody>
          <a:bodyPr wrap="square" lIns="0" tIns="0" rIns="0" bIns="0" rtlCol="0" anchor="ctr"/>
          <a:lstStyle/>
          <a:p>
            <a:pPr indent="0" marL="0">
              <a:buNone/>
            </a:pPr>
            <a:r>
              <a:rPr lang="en-US" sz="1000" i="1" dirty="0">
                <a:solidFill>
                  <a:srgbClr val="9B9BB0"/>
                </a:solidFill>
                <a:latin typeface="Arial" pitchFamily="34" charset="0"/>
                <a:ea typeface="Arial" pitchFamily="34" charset="-122"/>
                <a:cs typeface="Arial" pitchFamily="34" charset="-120"/>
              </a:rPr>
              <a:t>You type, AI responds</a:t>
            </a:r>
            <a:endParaRPr lang="en-US" sz="1000" dirty="0"/>
          </a:p>
        </p:txBody>
      </p:sp>
      <p:sp>
        <p:nvSpPr>
          <p:cNvPr id="13" name="Text 11"/>
          <p:cNvSpPr/>
          <p:nvPr/>
        </p:nvSpPr>
        <p:spPr>
          <a:xfrm>
            <a:off x="594360" y="2423160"/>
            <a:ext cx="3657600" cy="1280160"/>
          </a:xfrm>
          <a:prstGeom prst="rect">
            <a:avLst/>
          </a:prstGeom>
          <a:noFill/>
          <a:ln/>
        </p:spPr>
        <p:txBody>
          <a:bodyPr wrap="square" lIns="0" tIns="0" rIns="0" bIns="0" rtlCol="0" anchor="ctr"/>
          <a:lstStyle/>
          <a:p>
            <a:pPr indent="0" marL="0">
              <a:buNone/>
            </a:pPr>
            <a:r>
              <a:rPr lang="en-US" sz="1050" dirty="0">
                <a:solidFill>
                  <a:srgbClr val="C8C8D8"/>
                </a:solidFill>
                <a:latin typeface="Arial" pitchFamily="34" charset="0"/>
                <a:ea typeface="Arial" pitchFamily="34" charset="-122"/>
                <a:cs typeface="Arial" pitchFamily="34" charset="-120"/>
              </a:rPr>
              <a:t>You write the prompt each time</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You iterate manually</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You manage context yourself</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One task at a time</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Good for: quick questions, drafting,</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exploration, brainstorming</a:t>
            </a:r>
            <a:endParaRPr lang="en-US" sz="1050" dirty="0"/>
          </a:p>
        </p:txBody>
      </p:sp>
      <p:sp>
        <p:nvSpPr>
          <p:cNvPr id="14" name="Shape 12"/>
          <p:cNvSpPr/>
          <p:nvPr/>
        </p:nvSpPr>
        <p:spPr>
          <a:xfrm>
            <a:off x="594360" y="3840480"/>
            <a:ext cx="3657600" cy="365760"/>
          </a:xfrm>
          <a:prstGeom prst="rect">
            <a:avLst/>
          </a:prstGeom>
          <a:solidFill>
            <a:srgbClr val="0D0D1A"/>
          </a:solidFill>
          <a:ln/>
        </p:spPr>
      </p:sp>
      <p:sp>
        <p:nvSpPr>
          <p:cNvPr id="15" name="Text 13"/>
          <p:cNvSpPr/>
          <p:nvPr/>
        </p:nvSpPr>
        <p:spPr>
          <a:xfrm>
            <a:off x="685800" y="3858768"/>
            <a:ext cx="3474720" cy="320040"/>
          </a:xfrm>
          <a:prstGeom prst="rect">
            <a:avLst/>
          </a:prstGeom>
          <a:noFill/>
          <a:ln/>
        </p:spPr>
        <p:txBody>
          <a:bodyPr wrap="square" lIns="0" tIns="0" rIns="0" bIns="0" rtlCol="0" anchor="ctr"/>
          <a:lstStyle/>
          <a:p>
            <a:pPr indent="0" marL="0">
              <a:buNone/>
            </a:pPr>
            <a:r>
              <a:rPr lang="en-US" sz="1000" dirty="0">
                <a:solidFill>
                  <a:srgbClr val="4A9FFF"/>
                </a:solidFill>
                <a:latin typeface="Consolas" pitchFamily="34" charset="0"/>
                <a:ea typeface="Consolas" pitchFamily="34" charset="-122"/>
                <a:cs typeface="Consolas" pitchFamily="34" charset="-120"/>
              </a:rPr>
              <a:t>Browser, mobile, quick tasks</a:t>
            </a:r>
            <a:endParaRPr lang="en-US" sz="1000" dirty="0"/>
          </a:p>
        </p:txBody>
      </p:sp>
      <p:sp>
        <p:nvSpPr>
          <p:cNvPr id="16" name="Shape 14"/>
          <p:cNvSpPr/>
          <p:nvPr/>
        </p:nvSpPr>
        <p:spPr>
          <a:xfrm>
            <a:off x="4754880" y="1783080"/>
            <a:ext cx="4023360" cy="26060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7" name="Shape 15"/>
          <p:cNvSpPr/>
          <p:nvPr/>
        </p:nvSpPr>
        <p:spPr>
          <a:xfrm>
            <a:off x="4754880" y="1783080"/>
            <a:ext cx="4023360" cy="54864"/>
          </a:xfrm>
          <a:prstGeom prst="rect">
            <a:avLst/>
          </a:prstGeom>
          <a:solidFill>
            <a:srgbClr val="00D4AA"/>
          </a:solidFill>
          <a:ln/>
        </p:spPr>
      </p:sp>
      <p:sp>
        <p:nvSpPr>
          <p:cNvPr id="18" name="Text 16"/>
          <p:cNvSpPr/>
          <p:nvPr/>
        </p:nvSpPr>
        <p:spPr>
          <a:xfrm>
            <a:off x="4892040" y="1874520"/>
            <a:ext cx="2286000" cy="320040"/>
          </a:xfrm>
          <a:prstGeom prst="rect">
            <a:avLst/>
          </a:prstGeom>
          <a:noFill/>
          <a:ln/>
        </p:spPr>
        <p:txBody>
          <a:bodyPr wrap="square" lIns="0" tIns="0" rIns="0" bIns="0" rtlCol="0" anchor="ctr"/>
          <a:lstStyle/>
          <a:p>
            <a:pPr indent="0" marL="0">
              <a:buNone/>
            </a:pPr>
            <a:r>
              <a:rPr lang="en-US" sz="1600" b="1" dirty="0">
                <a:solidFill>
                  <a:srgbClr val="00D4AA"/>
                </a:solidFill>
                <a:latin typeface="Arial" pitchFamily="34" charset="0"/>
                <a:ea typeface="Arial" pitchFamily="34" charset="-122"/>
                <a:cs typeface="Arial" pitchFamily="34" charset="-120"/>
              </a:rPr>
              <a:t>Agent mode</a:t>
            </a:r>
            <a:endParaRPr lang="en-US" sz="1600" dirty="0"/>
          </a:p>
        </p:txBody>
      </p:sp>
      <p:sp>
        <p:nvSpPr>
          <p:cNvPr id="19" name="Text 17"/>
          <p:cNvSpPr/>
          <p:nvPr/>
        </p:nvSpPr>
        <p:spPr>
          <a:xfrm>
            <a:off x="4892040" y="2148840"/>
            <a:ext cx="3657600" cy="182880"/>
          </a:xfrm>
          <a:prstGeom prst="rect">
            <a:avLst/>
          </a:prstGeom>
          <a:noFill/>
          <a:ln/>
        </p:spPr>
        <p:txBody>
          <a:bodyPr wrap="square" lIns="0" tIns="0" rIns="0" bIns="0" rtlCol="0" anchor="ctr"/>
          <a:lstStyle/>
          <a:p>
            <a:pPr indent="0" marL="0">
              <a:buNone/>
            </a:pPr>
            <a:r>
              <a:rPr lang="en-US" sz="1000" i="1" dirty="0">
                <a:solidFill>
                  <a:srgbClr val="9B9BB0"/>
                </a:solidFill>
                <a:latin typeface="Arial" pitchFamily="34" charset="0"/>
                <a:ea typeface="Arial" pitchFamily="34" charset="-122"/>
                <a:cs typeface="Arial" pitchFamily="34" charset="-120"/>
              </a:rPr>
              <a:t>You instruct, AI executes</a:t>
            </a:r>
            <a:endParaRPr lang="en-US" sz="1000" dirty="0"/>
          </a:p>
        </p:txBody>
      </p:sp>
      <p:sp>
        <p:nvSpPr>
          <p:cNvPr id="20" name="Text 18"/>
          <p:cNvSpPr/>
          <p:nvPr/>
        </p:nvSpPr>
        <p:spPr>
          <a:xfrm>
            <a:off x="4892040" y="2423160"/>
            <a:ext cx="3657600" cy="1280160"/>
          </a:xfrm>
          <a:prstGeom prst="rect">
            <a:avLst/>
          </a:prstGeom>
          <a:noFill/>
          <a:ln/>
        </p:spPr>
        <p:txBody>
          <a:bodyPr wrap="square" lIns="0" tIns="0" rIns="0" bIns="0" rtlCol="0" anchor="ctr"/>
          <a:lstStyle/>
          <a:p>
            <a:pPr indent="0" marL="0">
              <a:buNone/>
            </a:pPr>
            <a:r>
              <a:rPr lang="en-US" sz="1050" dirty="0">
                <a:solidFill>
                  <a:srgbClr val="C8C8D8"/>
                </a:solidFill>
                <a:latin typeface="Arial" pitchFamily="34" charset="0"/>
                <a:ea typeface="Arial" pitchFamily="34" charset="-122"/>
                <a:cs typeface="Arial" pitchFamily="34" charset="-120"/>
              </a:rPr>
              <a:t>Instructions run autonomously</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Agent self-corrects in a loop</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Context managed by the system</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Multi-step, multi-file workflows</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Good for: coding, refactoring,</a:t>
            </a:r>
            <a:endParaRPr lang="en-US" sz="1050" dirty="0"/>
          </a:p>
          <a:p>
            <a:pPr indent="0" marL="0">
              <a:buNone/>
            </a:pPr>
            <a:r>
              <a:rPr lang="en-US" sz="1050" dirty="0">
                <a:solidFill>
                  <a:srgbClr val="C8C8D8"/>
                </a:solidFill>
                <a:latin typeface="Arial" pitchFamily="34" charset="0"/>
                <a:ea typeface="Arial" pitchFamily="34" charset="-122"/>
                <a:cs typeface="Arial" pitchFamily="34" charset="-120"/>
              </a:rPr>
              <a:t>research, complex implementation</a:t>
            </a:r>
            <a:endParaRPr lang="en-US" sz="1050" dirty="0"/>
          </a:p>
        </p:txBody>
      </p:sp>
      <p:sp>
        <p:nvSpPr>
          <p:cNvPr id="21" name="Shape 19"/>
          <p:cNvSpPr/>
          <p:nvPr/>
        </p:nvSpPr>
        <p:spPr>
          <a:xfrm>
            <a:off x="4892040" y="3840480"/>
            <a:ext cx="3657600" cy="365760"/>
          </a:xfrm>
          <a:prstGeom prst="rect">
            <a:avLst/>
          </a:prstGeom>
          <a:solidFill>
            <a:srgbClr val="0D0D1A"/>
          </a:solidFill>
          <a:ln/>
        </p:spPr>
      </p:sp>
      <p:sp>
        <p:nvSpPr>
          <p:cNvPr id="22" name="Text 20"/>
          <p:cNvSpPr/>
          <p:nvPr/>
        </p:nvSpPr>
        <p:spPr>
          <a:xfrm>
            <a:off x="4983480" y="3858768"/>
            <a:ext cx="3474720" cy="320040"/>
          </a:xfrm>
          <a:prstGeom prst="rect">
            <a:avLst/>
          </a:prstGeom>
          <a:noFill/>
          <a:ln/>
        </p:spPr>
        <p:txBody>
          <a:bodyPr wrap="square" lIns="0" tIns="0" rIns="0" bIns="0" rtlCol="0" anchor="ctr"/>
          <a:lstStyle/>
          <a:p>
            <a:pPr indent="0" marL="0">
              <a:buNone/>
            </a:pPr>
            <a:r>
              <a:rPr lang="en-US" sz="1000" dirty="0">
                <a:solidFill>
                  <a:srgbClr val="00D4AA"/>
                </a:solidFill>
                <a:latin typeface="Consolas" pitchFamily="34" charset="0"/>
                <a:ea typeface="Consolas" pitchFamily="34" charset="-122"/>
                <a:cs typeface="Consolas" pitchFamily="34" charset="-120"/>
              </a:rPr>
              <a:t>Claude Code, Copilot, Codex, Cursor</a:t>
            </a:r>
            <a:endParaRPr lang="en-US" sz="1000" dirty="0"/>
          </a:p>
        </p:txBody>
      </p:sp>
      <p:sp>
        <p:nvSpPr>
          <p:cNvPr id="23" name="Text 21"/>
          <p:cNvSpPr/>
          <p:nvPr/>
        </p:nvSpPr>
        <p:spPr>
          <a:xfrm>
            <a:off x="457200" y="4663440"/>
            <a:ext cx="8229600" cy="36576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The 80/20 principles apply to BOTH. But with agents, you write instructions once — and they execute thousands of times.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Instructing agents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Where your prompting skills live in 2026</a:t>
            </a:r>
            <a:endParaRPr lang="en-US" sz="1100" dirty="0"/>
          </a:p>
        </p:txBody>
      </p:sp>
      <p:sp>
        <p:nvSpPr>
          <p:cNvPr id="5" name="Shape 3"/>
          <p:cNvSpPr/>
          <p:nvPr/>
        </p:nvSpPr>
        <p:spPr>
          <a:xfrm>
            <a:off x="457200" y="1051560"/>
            <a:ext cx="8229600" cy="411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411480"/>
          </a:xfrm>
          <a:prstGeom prst="rect">
            <a:avLst/>
          </a:prstGeom>
          <a:solidFill>
            <a:srgbClr val="00D4AA"/>
          </a:solidFill>
          <a:ln/>
        </p:spPr>
      </p:sp>
      <p:sp>
        <p:nvSpPr>
          <p:cNvPr id="7" name="Text 5"/>
          <p:cNvSpPr/>
          <p:nvPr/>
        </p:nvSpPr>
        <p:spPr>
          <a:xfrm>
            <a:off x="731520" y="1069848"/>
            <a:ext cx="76809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"prompt" is now a set of configuration files that shape agent behavior permanently.</a:t>
            </a:r>
            <a:endParaRPr lang="en-US" sz="1300" dirty="0"/>
          </a:p>
        </p:txBody>
      </p:sp>
      <p:sp>
        <p:nvSpPr>
          <p:cNvPr id="8" name="Shape 6"/>
          <p:cNvSpPr/>
          <p:nvPr/>
        </p:nvSpPr>
        <p:spPr>
          <a:xfrm>
            <a:off x="457200" y="1645920"/>
            <a:ext cx="2651760" cy="1234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9" name="Shape 7"/>
          <p:cNvSpPr/>
          <p:nvPr/>
        </p:nvSpPr>
        <p:spPr>
          <a:xfrm>
            <a:off x="457200" y="1645920"/>
            <a:ext cx="2651760" cy="45720"/>
          </a:xfrm>
          <a:prstGeom prst="rect">
            <a:avLst/>
          </a:prstGeom>
          <a:solidFill>
            <a:srgbClr val="E91E8C"/>
          </a:solidFill>
          <a:ln/>
        </p:spPr>
      </p:sp>
      <p:sp>
        <p:nvSpPr>
          <p:cNvPr id="10" name="Text 8"/>
          <p:cNvSpPr/>
          <p:nvPr/>
        </p:nvSpPr>
        <p:spPr>
          <a:xfrm>
            <a:off x="548640" y="1719072"/>
            <a:ext cx="2468880" cy="201168"/>
          </a:xfrm>
          <a:prstGeom prst="rect">
            <a:avLst/>
          </a:prstGeom>
          <a:noFill/>
          <a:ln/>
        </p:spPr>
        <p:txBody>
          <a:bodyPr wrap="square" lIns="0" tIns="0" rIns="0" bIns="0" rtlCol="0" anchor="ctr"/>
          <a:lstStyle/>
          <a:p>
            <a:pPr indent="0" marL="0">
              <a:buNone/>
            </a:pPr>
            <a:r>
              <a:rPr lang="en-US" sz="1050" b="1" dirty="0">
                <a:solidFill>
                  <a:srgbClr val="E91E8C"/>
                </a:solidFill>
                <a:latin typeface="Consolas" pitchFamily="34" charset="0"/>
                <a:ea typeface="Consolas" pitchFamily="34" charset="-122"/>
                <a:cs typeface="Consolas" pitchFamily="34" charset="-120"/>
              </a:rPr>
              <a:t>CLAUDE.md</a:t>
            </a:r>
            <a:endParaRPr lang="en-US" sz="1050" dirty="0"/>
          </a:p>
        </p:txBody>
      </p:sp>
      <p:sp>
        <p:nvSpPr>
          <p:cNvPr id="11" name="Text 9"/>
          <p:cNvSpPr/>
          <p:nvPr/>
        </p:nvSpPr>
        <p:spPr>
          <a:xfrm>
            <a:off x="548640" y="1901952"/>
            <a:ext cx="2468880" cy="137160"/>
          </a:xfrm>
          <a:prstGeom prst="rect">
            <a:avLst/>
          </a:prstGeom>
          <a:noFill/>
          <a:ln/>
        </p:spPr>
        <p:txBody>
          <a:bodyPr wrap="square" lIns="0" tIns="0" rIns="0" bIns="0" rtlCol="0" anchor="ctr"/>
          <a:lstStyle/>
          <a:p>
            <a:pPr indent="0" marL="0">
              <a:buNone/>
            </a:pPr>
            <a:r>
              <a:rPr lang="en-US" sz="800" i="1" dirty="0">
                <a:solidFill>
                  <a:srgbClr val="9B9BB0"/>
                </a:solidFill>
                <a:latin typeface="Arial" pitchFamily="34" charset="0"/>
                <a:ea typeface="Arial" pitchFamily="34" charset="-122"/>
                <a:cs typeface="Arial" pitchFamily="34" charset="-120"/>
              </a:rPr>
              <a:t>Claude Code</a:t>
            </a:r>
            <a:endParaRPr lang="en-US" sz="800" dirty="0"/>
          </a:p>
        </p:txBody>
      </p:sp>
      <p:sp>
        <p:nvSpPr>
          <p:cNvPr id="12" name="Shape 10"/>
          <p:cNvSpPr/>
          <p:nvPr/>
        </p:nvSpPr>
        <p:spPr>
          <a:xfrm>
            <a:off x="548640" y="2084832"/>
            <a:ext cx="2423160" cy="685800"/>
          </a:xfrm>
          <a:prstGeom prst="rect">
            <a:avLst/>
          </a:prstGeom>
          <a:solidFill>
            <a:srgbClr val="0D0D1A"/>
          </a:solidFill>
          <a:ln/>
        </p:spPr>
      </p:sp>
      <p:sp>
        <p:nvSpPr>
          <p:cNvPr id="13" name="Text 11"/>
          <p:cNvSpPr/>
          <p:nvPr/>
        </p:nvSpPr>
        <p:spPr>
          <a:xfrm>
            <a:off x="621792" y="2103120"/>
            <a:ext cx="2286000" cy="640080"/>
          </a:xfrm>
          <a:prstGeom prst="rect">
            <a:avLst/>
          </a:prstGeom>
          <a:noFill/>
          <a:ln/>
        </p:spPr>
        <p:txBody>
          <a:bodyPr wrap="square" lIns="0" tIns="0" rIns="0" bIns="0" rtlCol="0" anchor="ctr"/>
          <a:lstStyle/>
          <a:p>
            <a:pPr indent="0" marL="0">
              <a:buNone/>
            </a:pPr>
            <a:r>
              <a:rPr lang="en-US" sz="750" dirty="0">
                <a:solidFill>
                  <a:srgbClr val="E91E8C"/>
                </a:solidFill>
                <a:latin typeface="Consolas" pitchFamily="34" charset="0"/>
                <a:ea typeface="Consolas" pitchFamily="34" charset="-122"/>
                <a:cs typeface="Consolas" pitchFamily="34" charset="-120"/>
              </a:rPr>
              <a:t># CLAUDE.md</a:t>
            </a:r>
            <a:endParaRPr lang="en-US" sz="750" dirty="0"/>
          </a:p>
          <a:p>
            <a:pPr indent="0" marL="0">
              <a:buNone/>
            </a:pPr>
            <a:r>
              <a:rPr lang="en-US" sz="750" dirty="0">
                <a:solidFill>
                  <a:srgbClr val="E91E8C"/>
                </a:solidFill>
                <a:latin typeface="Consolas" pitchFamily="34" charset="0"/>
                <a:ea typeface="Consolas" pitchFamily="34" charset="-122"/>
                <a:cs typeface="Consolas" pitchFamily="34" charset="-120"/>
              </a:rPr>
              <a:t>Use TypeScript strict mode.</a:t>
            </a:r>
            <a:endParaRPr lang="en-US" sz="750" dirty="0"/>
          </a:p>
          <a:p>
            <a:pPr indent="0" marL="0">
              <a:buNone/>
            </a:pPr>
            <a:r>
              <a:rPr lang="en-US" sz="750" dirty="0">
                <a:solidFill>
                  <a:srgbClr val="E91E8C"/>
                </a:solidFill>
                <a:latin typeface="Consolas" pitchFamily="34" charset="0"/>
                <a:ea typeface="Consolas" pitchFamily="34" charset="-122"/>
                <a:cs typeface="Consolas" pitchFamily="34" charset="-120"/>
              </a:rPr>
              <a:t>Run tests before committing.</a:t>
            </a:r>
            <a:endParaRPr lang="en-US" sz="750" dirty="0"/>
          </a:p>
        </p:txBody>
      </p:sp>
      <p:sp>
        <p:nvSpPr>
          <p:cNvPr id="14" name="Shape 12"/>
          <p:cNvSpPr/>
          <p:nvPr/>
        </p:nvSpPr>
        <p:spPr>
          <a:xfrm>
            <a:off x="3246120" y="1645920"/>
            <a:ext cx="2651760" cy="1234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5" name="Shape 13"/>
          <p:cNvSpPr/>
          <p:nvPr/>
        </p:nvSpPr>
        <p:spPr>
          <a:xfrm>
            <a:off x="3246120" y="1645920"/>
            <a:ext cx="2651760" cy="45720"/>
          </a:xfrm>
          <a:prstGeom prst="rect">
            <a:avLst/>
          </a:prstGeom>
          <a:solidFill>
            <a:srgbClr val="E91E8C"/>
          </a:solidFill>
          <a:ln/>
        </p:spPr>
      </p:sp>
      <p:sp>
        <p:nvSpPr>
          <p:cNvPr id="16" name="Text 14"/>
          <p:cNvSpPr/>
          <p:nvPr/>
        </p:nvSpPr>
        <p:spPr>
          <a:xfrm>
            <a:off x="3337560" y="1719072"/>
            <a:ext cx="2468880" cy="201168"/>
          </a:xfrm>
          <a:prstGeom prst="rect">
            <a:avLst/>
          </a:prstGeom>
          <a:noFill/>
          <a:ln/>
        </p:spPr>
        <p:txBody>
          <a:bodyPr wrap="square" lIns="0" tIns="0" rIns="0" bIns="0" rtlCol="0" anchor="ctr"/>
          <a:lstStyle/>
          <a:p>
            <a:pPr indent="0" marL="0">
              <a:buNone/>
            </a:pPr>
            <a:r>
              <a:rPr lang="en-US" sz="1050" b="1" dirty="0">
                <a:solidFill>
                  <a:srgbClr val="E91E8C"/>
                </a:solidFill>
                <a:latin typeface="Consolas" pitchFamily="34" charset="0"/>
                <a:ea typeface="Consolas" pitchFamily="34" charset="-122"/>
                <a:cs typeface="Consolas" pitchFamily="34" charset="-120"/>
              </a:rPr>
              <a:t>agent.md</a:t>
            </a:r>
            <a:endParaRPr lang="en-US" sz="1050" dirty="0"/>
          </a:p>
        </p:txBody>
      </p:sp>
      <p:sp>
        <p:nvSpPr>
          <p:cNvPr id="17" name="Text 15"/>
          <p:cNvSpPr/>
          <p:nvPr/>
        </p:nvSpPr>
        <p:spPr>
          <a:xfrm>
            <a:off x="3337560" y="1901952"/>
            <a:ext cx="2468880" cy="137160"/>
          </a:xfrm>
          <a:prstGeom prst="rect">
            <a:avLst/>
          </a:prstGeom>
          <a:noFill/>
          <a:ln/>
        </p:spPr>
        <p:txBody>
          <a:bodyPr wrap="square" lIns="0" tIns="0" rIns="0" bIns="0" rtlCol="0" anchor="ctr"/>
          <a:lstStyle/>
          <a:p>
            <a:pPr indent="0" marL="0">
              <a:buNone/>
            </a:pPr>
            <a:r>
              <a:rPr lang="en-US" sz="800" i="1" dirty="0">
                <a:solidFill>
                  <a:srgbClr val="9B9BB0"/>
                </a:solidFill>
                <a:latin typeface="Arial" pitchFamily="34" charset="0"/>
                <a:ea typeface="Arial" pitchFamily="34" charset="-122"/>
                <a:cs typeface="Arial" pitchFamily="34" charset="-120"/>
              </a:rPr>
              <a:t>Claude Code sub-agents</a:t>
            </a:r>
            <a:endParaRPr lang="en-US" sz="800" dirty="0"/>
          </a:p>
        </p:txBody>
      </p:sp>
      <p:sp>
        <p:nvSpPr>
          <p:cNvPr id="18" name="Shape 16"/>
          <p:cNvSpPr/>
          <p:nvPr/>
        </p:nvSpPr>
        <p:spPr>
          <a:xfrm>
            <a:off x="3337560" y="2084832"/>
            <a:ext cx="2423160" cy="685800"/>
          </a:xfrm>
          <a:prstGeom prst="rect">
            <a:avLst/>
          </a:prstGeom>
          <a:solidFill>
            <a:srgbClr val="0D0D1A"/>
          </a:solidFill>
          <a:ln/>
        </p:spPr>
      </p:sp>
      <p:sp>
        <p:nvSpPr>
          <p:cNvPr id="19" name="Text 17"/>
          <p:cNvSpPr/>
          <p:nvPr/>
        </p:nvSpPr>
        <p:spPr>
          <a:xfrm>
            <a:off x="3410712" y="2103120"/>
            <a:ext cx="2286000" cy="640080"/>
          </a:xfrm>
          <a:prstGeom prst="rect">
            <a:avLst/>
          </a:prstGeom>
          <a:noFill/>
          <a:ln/>
        </p:spPr>
        <p:txBody>
          <a:bodyPr wrap="square" lIns="0" tIns="0" rIns="0" bIns="0" rtlCol="0" anchor="ctr"/>
          <a:lstStyle/>
          <a:p>
            <a:pPr indent="0" marL="0">
              <a:buNone/>
            </a:pPr>
            <a:r>
              <a:rPr lang="en-US" sz="750" dirty="0">
                <a:solidFill>
                  <a:srgbClr val="E91E8C"/>
                </a:solidFill>
                <a:latin typeface="Consolas" pitchFamily="34" charset="0"/>
                <a:ea typeface="Consolas" pitchFamily="34" charset="-122"/>
                <a:cs typeface="Consolas" pitchFamily="34" charset="-120"/>
              </a:rPr>
              <a:t># agent.md</a:t>
            </a:r>
            <a:endParaRPr lang="en-US" sz="750" dirty="0"/>
          </a:p>
          <a:p>
            <a:pPr indent="0" marL="0">
              <a:buNone/>
            </a:pPr>
            <a:r>
              <a:rPr lang="en-US" sz="750" dirty="0">
                <a:solidFill>
                  <a:srgbClr val="E91E8C"/>
                </a:solidFill>
                <a:latin typeface="Consolas" pitchFamily="34" charset="0"/>
                <a:ea typeface="Consolas" pitchFamily="34" charset="-122"/>
                <a:cs typeface="Consolas" pitchFamily="34" charset="-120"/>
              </a:rPr>
              <a:t>You are a security reviewer.</a:t>
            </a:r>
            <a:endParaRPr lang="en-US" sz="750" dirty="0"/>
          </a:p>
          <a:p>
            <a:pPr indent="0" marL="0">
              <a:buNone/>
            </a:pPr>
            <a:r>
              <a:rPr lang="en-US" sz="750" dirty="0">
                <a:solidFill>
                  <a:srgbClr val="E91E8C"/>
                </a:solidFill>
                <a:latin typeface="Consolas" pitchFamily="34" charset="0"/>
                <a:ea typeface="Consolas" pitchFamily="34" charset="-122"/>
                <a:cs typeface="Consolas" pitchFamily="34" charset="-120"/>
              </a:rPr>
              <a:t>Focus: auth, injection, secrets.</a:t>
            </a:r>
            <a:endParaRPr lang="en-US" sz="750" dirty="0"/>
          </a:p>
        </p:txBody>
      </p:sp>
      <p:sp>
        <p:nvSpPr>
          <p:cNvPr id="20" name="Shape 18"/>
          <p:cNvSpPr/>
          <p:nvPr/>
        </p:nvSpPr>
        <p:spPr>
          <a:xfrm>
            <a:off x="6035040" y="1645920"/>
            <a:ext cx="2651760" cy="1234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1" name="Shape 19"/>
          <p:cNvSpPr/>
          <p:nvPr/>
        </p:nvSpPr>
        <p:spPr>
          <a:xfrm>
            <a:off x="6035040" y="1645920"/>
            <a:ext cx="2651760" cy="45720"/>
          </a:xfrm>
          <a:prstGeom prst="rect">
            <a:avLst/>
          </a:prstGeom>
          <a:solidFill>
            <a:srgbClr val="4A9FFF"/>
          </a:solidFill>
          <a:ln/>
        </p:spPr>
      </p:sp>
      <p:sp>
        <p:nvSpPr>
          <p:cNvPr id="22" name="Text 20"/>
          <p:cNvSpPr/>
          <p:nvPr/>
        </p:nvSpPr>
        <p:spPr>
          <a:xfrm>
            <a:off x="6126480" y="1719072"/>
            <a:ext cx="2468880" cy="201168"/>
          </a:xfrm>
          <a:prstGeom prst="rect">
            <a:avLst/>
          </a:prstGeom>
          <a:noFill/>
          <a:ln/>
        </p:spPr>
        <p:txBody>
          <a:bodyPr wrap="square" lIns="0" tIns="0" rIns="0" bIns="0" rtlCol="0" anchor="ctr"/>
          <a:lstStyle/>
          <a:p>
            <a:pPr indent="0" marL="0">
              <a:buNone/>
            </a:pPr>
            <a:r>
              <a:rPr lang="en-US" sz="1050" b="1" dirty="0">
                <a:solidFill>
                  <a:srgbClr val="4A9FFF"/>
                </a:solidFill>
                <a:latin typeface="Consolas" pitchFamily="34" charset="0"/>
                <a:ea typeface="Consolas" pitchFamily="34" charset="-122"/>
                <a:cs typeface="Consolas" pitchFamily="34" charset="-120"/>
              </a:rPr>
              <a:t>copilot-instructions.md</a:t>
            </a:r>
            <a:endParaRPr lang="en-US" sz="1050" dirty="0"/>
          </a:p>
        </p:txBody>
      </p:sp>
      <p:sp>
        <p:nvSpPr>
          <p:cNvPr id="23" name="Text 21"/>
          <p:cNvSpPr/>
          <p:nvPr/>
        </p:nvSpPr>
        <p:spPr>
          <a:xfrm>
            <a:off x="6126480" y="1901952"/>
            <a:ext cx="2468880" cy="137160"/>
          </a:xfrm>
          <a:prstGeom prst="rect">
            <a:avLst/>
          </a:prstGeom>
          <a:noFill/>
          <a:ln/>
        </p:spPr>
        <p:txBody>
          <a:bodyPr wrap="square" lIns="0" tIns="0" rIns="0" bIns="0" rtlCol="0" anchor="ctr"/>
          <a:lstStyle/>
          <a:p>
            <a:pPr indent="0" marL="0">
              <a:buNone/>
            </a:pPr>
            <a:r>
              <a:rPr lang="en-US" sz="800" i="1" dirty="0">
                <a:solidFill>
                  <a:srgbClr val="9B9BB0"/>
                </a:solidFill>
                <a:latin typeface="Arial" pitchFamily="34" charset="0"/>
                <a:ea typeface="Arial" pitchFamily="34" charset="-122"/>
                <a:cs typeface="Arial" pitchFamily="34" charset="-120"/>
              </a:rPr>
              <a:t>GitHub Copilot</a:t>
            </a:r>
            <a:endParaRPr lang="en-US" sz="800" dirty="0"/>
          </a:p>
        </p:txBody>
      </p:sp>
      <p:sp>
        <p:nvSpPr>
          <p:cNvPr id="24" name="Shape 22"/>
          <p:cNvSpPr/>
          <p:nvPr/>
        </p:nvSpPr>
        <p:spPr>
          <a:xfrm>
            <a:off x="6126480" y="2084832"/>
            <a:ext cx="2423160" cy="685800"/>
          </a:xfrm>
          <a:prstGeom prst="rect">
            <a:avLst/>
          </a:prstGeom>
          <a:solidFill>
            <a:srgbClr val="0D0D1A"/>
          </a:solidFill>
          <a:ln/>
        </p:spPr>
      </p:sp>
      <p:sp>
        <p:nvSpPr>
          <p:cNvPr id="25" name="Text 23"/>
          <p:cNvSpPr/>
          <p:nvPr/>
        </p:nvSpPr>
        <p:spPr>
          <a:xfrm>
            <a:off x="6199632" y="2103120"/>
            <a:ext cx="2286000" cy="640080"/>
          </a:xfrm>
          <a:prstGeom prst="rect">
            <a:avLst/>
          </a:prstGeom>
          <a:noFill/>
          <a:ln/>
        </p:spPr>
        <p:txBody>
          <a:bodyPr wrap="square" lIns="0" tIns="0" rIns="0" bIns="0" rtlCol="0" anchor="ctr"/>
          <a:lstStyle/>
          <a:p>
            <a:pPr indent="0" marL="0">
              <a:buNone/>
            </a:pPr>
            <a:r>
              <a:rPr lang="en-US" sz="750" dirty="0">
                <a:solidFill>
                  <a:srgbClr val="4A9FFF"/>
                </a:solidFill>
                <a:latin typeface="Consolas" pitchFamily="34" charset="0"/>
                <a:ea typeface="Consolas" pitchFamily="34" charset="-122"/>
                <a:cs typeface="Consolas" pitchFamily="34" charset="-120"/>
              </a:rPr>
              <a:t># .github/copilot-instructions.md</a:t>
            </a:r>
            <a:endParaRPr lang="en-US" sz="750" dirty="0"/>
          </a:p>
          <a:p>
            <a:pPr indent="0" marL="0">
              <a:buNone/>
            </a:pPr>
            <a:r>
              <a:rPr lang="en-US" sz="750" dirty="0">
                <a:solidFill>
                  <a:srgbClr val="4A9FFF"/>
                </a:solidFill>
                <a:latin typeface="Consolas" pitchFamily="34" charset="0"/>
                <a:ea typeface="Consolas" pitchFamily="34" charset="-122"/>
                <a:cs typeface="Consolas" pitchFamily="34" charset="-120"/>
              </a:rPr>
              <a:t>We use Bicep, not Terraform.</a:t>
            </a:r>
            <a:endParaRPr lang="en-US" sz="750" dirty="0"/>
          </a:p>
          <a:p>
            <a:pPr indent="0" marL="0">
              <a:buNone/>
            </a:pPr>
            <a:r>
              <a:rPr lang="en-US" sz="750" dirty="0">
                <a:solidFill>
                  <a:srgbClr val="4A9FFF"/>
                </a:solidFill>
                <a:latin typeface="Consolas" pitchFamily="34" charset="0"/>
                <a:ea typeface="Consolas" pitchFamily="34" charset="-122"/>
                <a:cs typeface="Consolas" pitchFamily="34" charset="-120"/>
              </a:rPr>
              <a:t>Prefer async/await.</a:t>
            </a:r>
            <a:endParaRPr lang="en-US" sz="750" dirty="0"/>
          </a:p>
        </p:txBody>
      </p:sp>
      <p:sp>
        <p:nvSpPr>
          <p:cNvPr id="26" name="Shape 24"/>
          <p:cNvSpPr/>
          <p:nvPr/>
        </p:nvSpPr>
        <p:spPr>
          <a:xfrm>
            <a:off x="457200" y="3063240"/>
            <a:ext cx="3977640" cy="1234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7" name="Shape 25"/>
          <p:cNvSpPr/>
          <p:nvPr/>
        </p:nvSpPr>
        <p:spPr>
          <a:xfrm>
            <a:off x="457200" y="3063240"/>
            <a:ext cx="3977640" cy="45720"/>
          </a:xfrm>
          <a:prstGeom prst="rect">
            <a:avLst/>
          </a:prstGeom>
          <a:solidFill>
            <a:srgbClr val="00D4AA"/>
          </a:solidFill>
          <a:ln/>
        </p:spPr>
      </p:sp>
      <p:sp>
        <p:nvSpPr>
          <p:cNvPr id="28" name="Text 26"/>
          <p:cNvSpPr/>
          <p:nvPr/>
        </p:nvSpPr>
        <p:spPr>
          <a:xfrm>
            <a:off x="548640" y="3136392"/>
            <a:ext cx="3794760" cy="201168"/>
          </a:xfrm>
          <a:prstGeom prst="rect">
            <a:avLst/>
          </a:prstGeom>
          <a:noFill/>
          <a:ln/>
        </p:spPr>
        <p:txBody>
          <a:bodyPr wrap="square" lIns="0" tIns="0" rIns="0" bIns="0" rtlCol="0" anchor="ctr"/>
          <a:lstStyle/>
          <a:p>
            <a:pPr indent="0" marL="0">
              <a:buNone/>
            </a:pPr>
            <a:r>
              <a:rPr lang="en-US" sz="1050" b="1" dirty="0">
                <a:solidFill>
                  <a:srgbClr val="00D4AA"/>
                </a:solidFill>
                <a:latin typeface="Consolas" pitchFamily="34" charset="0"/>
                <a:ea typeface="Consolas" pitchFamily="34" charset="-122"/>
                <a:cs typeface="Consolas" pitchFamily="34" charset="-120"/>
              </a:rPr>
              <a:t>Skills (SKILL.md)</a:t>
            </a:r>
            <a:endParaRPr lang="en-US" sz="1050" dirty="0"/>
          </a:p>
        </p:txBody>
      </p:sp>
      <p:sp>
        <p:nvSpPr>
          <p:cNvPr id="29" name="Text 27"/>
          <p:cNvSpPr/>
          <p:nvPr/>
        </p:nvSpPr>
        <p:spPr>
          <a:xfrm>
            <a:off x="548640" y="3319272"/>
            <a:ext cx="3794760" cy="137160"/>
          </a:xfrm>
          <a:prstGeom prst="rect">
            <a:avLst/>
          </a:prstGeom>
          <a:noFill/>
          <a:ln/>
        </p:spPr>
        <p:txBody>
          <a:bodyPr wrap="square" lIns="0" tIns="0" rIns="0" bIns="0" rtlCol="0" anchor="ctr"/>
          <a:lstStyle/>
          <a:p>
            <a:pPr indent="0" marL="0">
              <a:buNone/>
            </a:pPr>
            <a:r>
              <a:rPr lang="en-US" sz="800" i="1" dirty="0">
                <a:solidFill>
                  <a:srgbClr val="9B9BB0"/>
                </a:solidFill>
                <a:latin typeface="Arial" pitchFamily="34" charset="0"/>
                <a:ea typeface="Arial" pitchFamily="34" charset="-122"/>
                <a:cs typeface="Arial" pitchFamily="34" charset="-120"/>
              </a:rPr>
              <a:t>Claude Code skills</a:t>
            </a:r>
            <a:endParaRPr lang="en-US" sz="800" dirty="0"/>
          </a:p>
        </p:txBody>
      </p:sp>
      <p:sp>
        <p:nvSpPr>
          <p:cNvPr id="30" name="Shape 28"/>
          <p:cNvSpPr/>
          <p:nvPr/>
        </p:nvSpPr>
        <p:spPr>
          <a:xfrm>
            <a:off x="548640" y="3502152"/>
            <a:ext cx="3749040" cy="685800"/>
          </a:xfrm>
          <a:prstGeom prst="rect">
            <a:avLst/>
          </a:prstGeom>
          <a:solidFill>
            <a:srgbClr val="0D0D1A"/>
          </a:solidFill>
          <a:ln/>
        </p:spPr>
      </p:sp>
      <p:sp>
        <p:nvSpPr>
          <p:cNvPr id="31" name="Text 29"/>
          <p:cNvSpPr/>
          <p:nvPr/>
        </p:nvSpPr>
        <p:spPr>
          <a:xfrm>
            <a:off x="621792" y="3520440"/>
            <a:ext cx="3611880" cy="640080"/>
          </a:xfrm>
          <a:prstGeom prst="rect">
            <a:avLst/>
          </a:prstGeom>
          <a:noFill/>
          <a:ln/>
        </p:spPr>
        <p:txBody>
          <a:bodyPr wrap="square" lIns="0" tIns="0" rIns="0" bIns="0" rtlCol="0" anchor="ctr"/>
          <a:lstStyle/>
          <a:p>
            <a:pPr indent="0" marL="0">
              <a:buNone/>
            </a:pPr>
            <a:r>
              <a:rPr lang="en-US" sz="750" dirty="0">
                <a:solidFill>
                  <a:srgbClr val="00D4AA"/>
                </a:solidFill>
                <a:latin typeface="Consolas" pitchFamily="34" charset="0"/>
                <a:ea typeface="Consolas" pitchFamily="34" charset="-122"/>
                <a:cs typeface="Consolas" pitchFamily="34" charset="-120"/>
              </a:rPr>
              <a:t># /skills/deploy/SKILL.md</a:t>
            </a:r>
            <a:endParaRPr lang="en-US" sz="750" dirty="0"/>
          </a:p>
          <a:p>
            <a:pPr indent="0" marL="0">
              <a:buNone/>
            </a:pPr>
            <a:r>
              <a:rPr lang="en-US" sz="750" dirty="0">
                <a:solidFill>
                  <a:srgbClr val="00D4AA"/>
                </a:solidFill>
                <a:latin typeface="Consolas" pitchFamily="34" charset="0"/>
                <a:ea typeface="Consolas" pitchFamily="34" charset="-122"/>
                <a:cs typeface="Consolas" pitchFamily="34" charset="-120"/>
              </a:rPr>
              <a:t>Use Bicep. Target: Azure.</a:t>
            </a:r>
            <a:endParaRPr lang="en-US" sz="750" dirty="0"/>
          </a:p>
          <a:p>
            <a:pPr indent="0" marL="0">
              <a:buNone/>
            </a:pPr>
            <a:r>
              <a:rPr lang="en-US" sz="750" dirty="0">
                <a:solidFill>
                  <a:srgbClr val="00D4AA"/>
                </a:solidFill>
                <a:latin typeface="Consolas" pitchFamily="34" charset="0"/>
                <a:ea typeface="Consolas" pitchFamily="34" charset="-122"/>
                <a:cs typeface="Consolas" pitchFamily="34" charset="-120"/>
              </a:rPr>
              <a:t>Naming: rg-{app}-{env}.</a:t>
            </a:r>
            <a:endParaRPr lang="en-US" sz="750" dirty="0"/>
          </a:p>
        </p:txBody>
      </p:sp>
      <p:sp>
        <p:nvSpPr>
          <p:cNvPr id="32" name="Shape 30"/>
          <p:cNvSpPr/>
          <p:nvPr/>
        </p:nvSpPr>
        <p:spPr>
          <a:xfrm>
            <a:off x="4617720" y="3063240"/>
            <a:ext cx="3977640" cy="12344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3" name="Shape 31"/>
          <p:cNvSpPr/>
          <p:nvPr/>
        </p:nvSpPr>
        <p:spPr>
          <a:xfrm>
            <a:off x="4617720" y="3063240"/>
            <a:ext cx="3977640" cy="45720"/>
          </a:xfrm>
          <a:prstGeom prst="rect">
            <a:avLst/>
          </a:prstGeom>
          <a:solidFill>
            <a:srgbClr val="00D4AA"/>
          </a:solidFill>
          <a:ln/>
        </p:spPr>
      </p:sp>
      <p:sp>
        <p:nvSpPr>
          <p:cNvPr id="34" name="Text 32"/>
          <p:cNvSpPr/>
          <p:nvPr/>
        </p:nvSpPr>
        <p:spPr>
          <a:xfrm>
            <a:off x="4709160" y="3136392"/>
            <a:ext cx="3794760" cy="201168"/>
          </a:xfrm>
          <a:prstGeom prst="rect">
            <a:avLst/>
          </a:prstGeom>
          <a:noFill/>
          <a:ln/>
        </p:spPr>
        <p:txBody>
          <a:bodyPr wrap="square" lIns="0" tIns="0" rIns="0" bIns="0" rtlCol="0" anchor="ctr"/>
          <a:lstStyle/>
          <a:p>
            <a:pPr indent="0" marL="0">
              <a:buNone/>
            </a:pPr>
            <a:r>
              <a:rPr lang="en-US" sz="1050" b="1" dirty="0">
                <a:solidFill>
                  <a:srgbClr val="00D4AA"/>
                </a:solidFill>
                <a:latin typeface="Consolas" pitchFamily="34" charset="0"/>
                <a:ea typeface="Consolas" pitchFamily="34" charset="-122"/>
                <a:cs typeface="Consolas" pitchFamily="34" charset="-120"/>
              </a:rPr>
              <a:t>System prompts</a:t>
            </a:r>
            <a:endParaRPr lang="en-US" sz="1050" dirty="0"/>
          </a:p>
        </p:txBody>
      </p:sp>
      <p:sp>
        <p:nvSpPr>
          <p:cNvPr id="35" name="Text 33"/>
          <p:cNvSpPr/>
          <p:nvPr/>
        </p:nvSpPr>
        <p:spPr>
          <a:xfrm>
            <a:off x="4709160" y="3319272"/>
            <a:ext cx="3794760" cy="137160"/>
          </a:xfrm>
          <a:prstGeom prst="rect">
            <a:avLst/>
          </a:prstGeom>
          <a:noFill/>
          <a:ln/>
        </p:spPr>
        <p:txBody>
          <a:bodyPr wrap="square" lIns="0" tIns="0" rIns="0" bIns="0" rtlCol="0" anchor="ctr"/>
          <a:lstStyle/>
          <a:p>
            <a:pPr indent="0" marL="0">
              <a:buNone/>
            </a:pPr>
            <a:r>
              <a:rPr lang="en-US" sz="800" i="1" dirty="0">
                <a:solidFill>
                  <a:srgbClr val="9B9BB0"/>
                </a:solidFill>
                <a:latin typeface="Arial" pitchFamily="34" charset="0"/>
                <a:ea typeface="Arial" pitchFamily="34" charset="-122"/>
                <a:cs typeface="Arial" pitchFamily="34" charset="-120"/>
              </a:rPr>
              <a:t>Custom agents / APIs</a:t>
            </a:r>
            <a:endParaRPr lang="en-US" sz="800" dirty="0"/>
          </a:p>
        </p:txBody>
      </p:sp>
      <p:sp>
        <p:nvSpPr>
          <p:cNvPr id="36" name="Shape 34"/>
          <p:cNvSpPr/>
          <p:nvPr/>
        </p:nvSpPr>
        <p:spPr>
          <a:xfrm>
            <a:off x="4709160" y="3502152"/>
            <a:ext cx="3749040" cy="685800"/>
          </a:xfrm>
          <a:prstGeom prst="rect">
            <a:avLst/>
          </a:prstGeom>
          <a:solidFill>
            <a:srgbClr val="0D0D1A"/>
          </a:solidFill>
          <a:ln/>
        </p:spPr>
      </p:sp>
      <p:sp>
        <p:nvSpPr>
          <p:cNvPr id="37" name="Text 35"/>
          <p:cNvSpPr/>
          <p:nvPr/>
        </p:nvSpPr>
        <p:spPr>
          <a:xfrm>
            <a:off x="4782312" y="3520440"/>
            <a:ext cx="3611880" cy="640080"/>
          </a:xfrm>
          <a:prstGeom prst="rect">
            <a:avLst/>
          </a:prstGeom>
          <a:noFill/>
          <a:ln/>
        </p:spPr>
        <p:txBody>
          <a:bodyPr wrap="square" lIns="0" tIns="0" rIns="0" bIns="0" rtlCol="0" anchor="ctr"/>
          <a:lstStyle/>
          <a:p>
            <a:pPr indent="0" marL="0">
              <a:buNone/>
            </a:pPr>
            <a:r>
              <a:rPr lang="en-US" sz="750" dirty="0">
                <a:solidFill>
                  <a:srgbClr val="00D4AA"/>
                </a:solidFill>
                <a:latin typeface="Consolas" pitchFamily="34" charset="0"/>
                <a:ea typeface="Consolas" pitchFamily="34" charset="-122"/>
                <a:cs typeface="Consolas" pitchFamily="34" charset="-120"/>
              </a:rPr>
              <a:t>You are a code review agent.</a:t>
            </a:r>
            <a:endParaRPr lang="en-US" sz="750" dirty="0"/>
          </a:p>
          <a:p>
            <a:pPr indent="0" marL="0">
              <a:buNone/>
            </a:pPr>
            <a:r>
              <a:rPr lang="en-US" sz="750" dirty="0">
                <a:solidFill>
                  <a:srgbClr val="00D4AA"/>
                </a:solidFill>
                <a:latin typeface="Consolas" pitchFamily="34" charset="0"/>
                <a:ea typeface="Consolas" pitchFamily="34" charset="-122"/>
                <a:cs typeface="Consolas" pitchFamily="34" charset="-120"/>
              </a:rPr>
              <a:t>Flag: security, perf, style.</a:t>
            </a:r>
            <a:endParaRPr lang="en-US" sz="750" dirty="0"/>
          </a:p>
          <a:p>
            <a:pPr indent="0" marL="0">
              <a:buNone/>
            </a:pPr>
            <a:r>
              <a:rPr lang="en-US" sz="750" dirty="0">
                <a:solidFill>
                  <a:srgbClr val="00D4AA"/>
                </a:solidFill>
                <a:latin typeface="Consolas" pitchFamily="34" charset="0"/>
                <a:ea typeface="Consolas" pitchFamily="34" charset="-122"/>
                <a:cs typeface="Consolas" pitchFamily="34" charset="-120"/>
              </a:rPr>
              <a:t>Severity: critical/warning/info.</a:t>
            </a:r>
            <a:endParaRPr lang="en-US" sz="750" dirty="0"/>
          </a:p>
        </p:txBody>
      </p:sp>
      <p:sp>
        <p:nvSpPr>
          <p:cNvPr id="38" name="Shape 36"/>
          <p:cNvSpPr/>
          <p:nvPr/>
        </p:nvSpPr>
        <p:spPr>
          <a:xfrm>
            <a:off x="457200" y="4526280"/>
            <a:ext cx="8229600" cy="548640"/>
          </a:xfrm>
          <a:prstGeom prst="rect">
            <a:avLst/>
          </a:prstGeom>
          <a:solidFill>
            <a:srgbClr val="16162A"/>
          </a:solidFill>
          <a:ln/>
        </p:spPr>
      </p:sp>
      <p:sp>
        <p:nvSpPr>
          <p:cNvPr id="39" name="Shape 37"/>
          <p:cNvSpPr/>
          <p:nvPr/>
        </p:nvSpPr>
        <p:spPr>
          <a:xfrm>
            <a:off x="457200" y="4526280"/>
            <a:ext cx="54864" cy="548640"/>
          </a:xfrm>
          <a:prstGeom prst="rect">
            <a:avLst/>
          </a:prstGeom>
          <a:solidFill>
            <a:srgbClr val="E91E8C"/>
          </a:solidFill>
          <a:ln/>
        </p:spPr>
      </p:sp>
      <p:sp>
        <p:nvSpPr>
          <p:cNvPr id="40" name="Text 38"/>
          <p:cNvSpPr/>
          <p:nvPr/>
        </p:nvSpPr>
        <p:spPr>
          <a:xfrm>
            <a:off x="731520" y="4526280"/>
            <a:ext cx="5029200" cy="548640"/>
          </a:xfrm>
          <a:prstGeom prst="rect">
            <a:avLst/>
          </a:prstGeom>
          <a:noFill/>
          <a:ln/>
        </p:spPr>
        <p:txBody>
          <a:bodyPr wrap="square" lIns="0" tIns="0" rIns="0" bIns="0" rtlCol="0" anchor="ctr"/>
          <a:lstStyle/>
          <a:p>
            <a:pPr indent="0" marL="0">
              <a:buNone/>
            </a:pPr>
            <a:r>
              <a:rPr lang="en-US" sz="1000" b="1" dirty="0">
                <a:solidFill>
                  <a:srgbClr val="E91E8C"/>
                </a:solidFill>
                <a:latin typeface="Arial" pitchFamily="34" charset="0"/>
                <a:ea typeface="Arial" pitchFamily="34" charset="-122"/>
                <a:cs typeface="Arial" pitchFamily="34" charset="-120"/>
              </a:rPr>
              <a:t xml:space="preserve">Plus MCP (Model Context Protocol): </a:t>
            </a:r>
            <a:pPr indent="0" marL="0">
              <a:buNone/>
            </a:pPr>
            <a:r>
              <a:rPr lang="en-US" sz="1000" dirty="0">
                <a:solidFill>
                  <a:srgbClr val="C8C8D8"/>
                </a:solidFill>
                <a:latin typeface="Arial" pitchFamily="34" charset="0"/>
                <a:ea typeface="Arial" pitchFamily="34" charset="-122"/>
                <a:cs typeface="Arial" pitchFamily="34" charset="-120"/>
              </a:rPr>
              <a:t>a standard for connecting agents to external tools — databases, APIs, file systems. Your agents become more capable when you define what tools they can use and how.</a:t>
            </a:r>
            <a:endParaRPr lang="en-US" sz="1000" dirty="0"/>
          </a:p>
        </p:txBody>
      </p:sp>
      <p:sp>
        <p:nvSpPr>
          <p:cNvPr id="41" name="Text 39"/>
          <p:cNvSpPr/>
          <p:nvPr/>
        </p:nvSpPr>
        <p:spPr>
          <a:xfrm>
            <a:off x="5943600" y="4526280"/>
            <a:ext cx="2560320" cy="5486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xml:space="preserve">Same 80/20 skills, new surfaces. </a:t>
            </a:r>
            <a:pPr indent="0" marL="0">
              <a:buNone/>
            </a:pPr>
            <a:r>
              <a:rPr lang="en-US" sz="1000" dirty="0">
                <a:solidFill>
                  <a:srgbClr val="C8C8D8"/>
                </a:solidFill>
                <a:latin typeface="Arial" pitchFamily="34" charset="0"/>
                <a:ea typeface="Arial" pitchFamily="34" charset="-122"/>
                <a:cs typeface="Arial" pitchFamily="34" charset="-120"/>
              </a:rPr>
              <a:t>Be specific in files, not chatboxes.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Meta Prompting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Using LLMs to generate and improve your prompts</a:t>
            </a:r>
            <a:endParaRPr lang="en-US" sz="1100" dirty="0"/>
          </a:p>
        </p:txBody>
      </p:sp>
      <p:sp>
        <p:nvSpPr>
          <p:cNvPr id="5" name="Shape 3"/>
          <p:cNvSpPr/>
          <p:nvPr/>
        </p:nvSpPr>
        <p:spPr>
          <a:xfrm>
            <a:off x="457200" y="1051560"/>
            <a:ext cx="8229600" cy="77724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777240"/>
          </a:xfrm>
          <a:prstGeom prst="rect">
            <a:avLst/>
          </a:prstGeom>
          <a:solidFill>
            <a:srgbClr val="E91E8C"/>
          </a:solidFill>
          <a:ln/>
        </p:spPr>
      </p:sp>
      <p:sp>
        <p:nvSpPr>
          <p:cNvPr id="7" name="Text 5"/>
          <p:cNvSpPr/>
          <p:nvPr/>
        </p:nvSpPr>
        <p:spPr>
          <a:xfrm>
            <a:off x="731520" y="1115568"/>
            <a:ext cx="76809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Stop writing prompts from scratch.</a:t>
            </a:r>
            <a:endParaRPr lang="en-US" sz="1500" dirty="0"/>
          </a:p>
        </p:txBody>
      </p:sp>
      <p:sp>
        <p:nvSpPr>
          <p:cNvPr id="8" name="Text 6"/>
          <p:cNvSpPr/>
          <p:nvPr/>
        </p:nvSpPr>
        <p:spPr>
          <a:xfrm>
            <a:off x="731520" y="1417320"/>
            <a:ext cx="7680960" cy="32004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Use a stronger model to generate, refine, and optimize prompts for your target model. This is prompt engineering on autopilot.</a:t>
            </a:r>
            <a:endParaRPr lang="en-US" sz="1100" dirty="0"/>
          </a:p>
        </p:txBody>
      </p:sp>
      <p:sp>
        <p:nvSpPr>
          <p:cNvPr id="9" name="Shape 7"/>
          <p:cNvSpPr/>
          <p:nvPr/>
        </p:nvSpPr>
        <p:spPr>
          <a:xfrm>
            <a:off x="457200" y="2103120"/>
            <a:ext cx="25603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2103120"/>
            <a:ext cx="2560320" cy="54864"/>
          </a:xfrm>
          <a:prstGeom prst="rect">
            <a:avLst/>
          </a:prstGeom>
          <a:solidFill>
            <a:srgbClr val="E91E8C"/>
          </a:solidFill>
          <a:ln/>
        </p:spPr>
      </p:sp>
      <p:sp>
        <p:nvSpPr>
          <p:cNvPr id="11" name="Shape 9"/>
          <p:cNvSpPr/>
          <p:nvPr/>
        </p:nvSpPr>
        <p:spPr>
          <a:xfrm>
            <a:off x="594360" y="2286000"/>
            <a:ext cx="320040" cy="320040"/>
          </a:xfrm>
          <a:prstGeom prst="ellipse">
            <a:avLst/>
          </a:prstGeom>
          <a:solidFill>
            <a:srgbClr val="E91E8C"/>
          </a:solidFill>
          <a:ln/>
        </p:spPr>
      </p:sp>
      <p:sp>
        <p:nvSpPr>
          <p:cNvPr id="12" name="Text 10"/>
          <p:cNvSpPr/>
          <p:nvPr/>
        </p:nvSpPr>
        <p:spPr>
          <a:xfrm>
            <a:off x="59436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1</a:t>
            </a:r>
            <a:endParaRPr lang="en-US" sz="1400" dirty="0"/>
          </a:p>
        </p:txBody>
      </p:sp>
      <p:sp>
        <p:nvSpPr>
          <p:cNvPr id="13" name="Text 11"/>
          <p:cNvSpPr/>
          <p:nvPr/>
        </p:nvSpPr>
        <p:spPr>
          <a:xfrm>
            <a:off x="548640" y="2697480"/>
            <a:ext cx="2377440" cy="274320"/>
          </a:xfrm>
          <a:prstGeom prst="rect">
            <a:avLst/>
          </a:prstGeom>
          <a:noFill/>
          <a:ln/>
        </p:spPr>
        <p:txBody>
          <a:bodyPr wrap="square" lIns="0" tIns="0" rIns="0" bIns="0" rtlCol="0" anchor="ctr"/>
          <a:lstStyle/>
          <a:p>
            <a:pPr indent="0" marL="0">
              <a:buNone/>
            </a:pPr>
            <a:r>
              <a:rPr lang="en-US" sz="1200" b="1" dirty="0">
                <a:solidFill>
                  <a:srgbClr val="E91E8C"/>
                </a:solidFill>
                <a:latin typeface="Arial" pitchFamily="34" charset="0"/>
                <a:ea typeface="Arial" pitchFamily="34" charset="-122"/>
                <a:cs typeface="Arial" pitchFamily="34" charset="-120"/>
              </a:rPr>
              <a:t>Describe your task</a:t>
            </a:r>
            <a:endParaRPr lang="en-US" sz="1200" dirty="0"/>
          </a:p>
        </p:txBody>
      </p:sp>
      <p:sp>
        <p:nvSpPr>
          <p:cNvPr id="14" name="Text 12"/>
          <p:cNvSpPr/>
          <p:nvPr/>
        </p:nvSpPr>
        <p:spPr>
          <a:xfrm>
            <a:off x="548640" y="2999232"/>
            <a:ext cx="2377440" cy="4114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Tell the LLM what you want to achieve and for which audience</a:t>
            </a:r>
            <a:endParaRPr lang="en-US" sz="1000" dirty="0"/>
          </a:p>
        </p:txBody>
      </p:sp>
      <p:sp>
        <p:nvSpPr>
          <p:cNvPr id="15" name="Text 13"/>
          <p:cNvSpPr/>
          <p:nvPr/>
        </p:nvSpPr>
        <p:spPr>
          <a:xfrm>
            <a:off x="2971800" y="246888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3291840" y="2103120"/>
            <a:ext cx="25603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7" name="Shape 15"/>
          <p:cNvSpPr/>
          <p:nvPr/>
        </p:nvSpPr>
        <p:spPr>
          <a:xfrm>
            <a:off x="3291840" y="2103120"/>
            <a:ext cx="2560320" cy="54864"/>
          </a:xfrm>
          <a:prstGeom prst="rect">
            <a:avLst/>
          </a:prstGeom>
          <a:solidFill>
            <a:srgbClr val="4A9FFF"/>
          </a:solidFill>
          <a:ln/>
        </p:spPr>
      </p:sp>
      <p:sp>
        <p:nvSpPr>
          <p:cNvPr id="18" name="Shape 16"/>
          <p:cNvSpPr/>
          <p:nvPr/>
        </p:nvSpPr>
        <p:spPr>
          <a:xfrm>
            <a:off x="3429000" y="2286000"/>
            <a:ext cx="320040" cy="320040"/>
          </a:xfrm>
          <a:prstGeom prst="ellipse">
            <a:avLst/>
          </a:prstGeom>
          <a:solidFill>
            <a:srgbClr val="4A9FFF"/>
          </a:solidFill>
          <a:ln/>
        </p:spPr>
      </p:sp>
      <p:sp>
        <p:nvSpPr>
          <p:cNvPr id="19" name="Text 17"/>
          <p:cNvSpPr/>
          <p:nvPr/>
        </p:nvSpPr>
        <p:spPr>
          <a:xfrm>
            <a:off x="342900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2</a:t>
            </a:r>
            <a:endParaRPr lang="en-US" sz="1400" dirty="0"/>
          </a:p>
        </p:txBody>
      </p:sp>
      <p:sp>
        <p:nvSpPr>
          <p:cNvPr id="20" name="Text 18"/>
          <p:cNvSpPr/>
          <p:nvPr/>
        </p:nvSpPr>
        <p:spPr>
          <a:xfrm>
            <a:off x="3383280" y="2697480"/>
            <a:ext cx="2377440" cy="274320"/>
          </a:xfrm>
          <a:prstGeom prst="rect">
            <a:avLst/>
          </a:prstGeom>
          <a:noFill/>
          <a:ln/>
        </p:spPr>
        <p:txBody>
          <a:bodyPr wrap="square" lIns="0" tIns="0" rIns="0" bIns="0" rtlCol="0" anchor="ctr"/>
          <a:lstStyle/>
          <a:p>
            <a:pPr indent="0" marL="0">
              <a:buNone/>
            </a:pPr>
            <a:r>
              <a:rPr lang="en-US" sz="1200" b="1" dirty="0">
                <a:solidFill>
                  <a:srgbClr val="4A9FFF"/>
                </a:solidFill>
                <a:latin typeface="Arial" pitchFamily="34" charset="0"/>
                <a:ea typeface="Arial" pitchFamily="34" charset="-122"/>
                <a:cs typeface="Arial" pitchFamily="34" charset="-120"/>
              </a:rPr>
              <a:t>LLM generates prompt</a:t>
            </a:r>
            <a:endParaRPr lang="en-US" sz="1200" dirty="0"/>
          </a:p>
        </p:txBody>
      </p:sp>
      <p:sp>
        <p:nvSpPr>
          <p:cNvPr id="21" name="Text 19"/>
          <p:cNvSpPr/>
          <p:nvPr/>
        </p:nvSpPr>
        <p:spPr>
          <a:xfrm>
            <a:off x="3383280" y="2999232"/>
            <a:ext cx="2377440" cy="4114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It produces an optimized, structured prompt using best practices</a:t>
            </a:r>
            <a:endParaRPr lang="en-US" sz="1000" dirty="0"/>
          </a:p>
        </p:txBody>
      </p:sp>
      <p:sp>
        <p:nvSpPr>
          <p:cNvPr id="22" name="Text 20"/>
          <p:cNvSpPr/>
          <p:nvPr/>
        </p:nvSpPr>
        <p:spPr>
          <a:xfrm>
            <a:off x="5806440" y="2468880"/>
            <a:ext cx="365760" cy="45720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23" name="Shape 21"/>
          <p:cNvSpPr/>
          <p:nvPr/>
        </p:nvSpPr>
        <p:spPr>
          <a:xfrm>
            <a:off x="6126480" y="2103120"/>
            <a:ext cx="2560320" cy="13716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4" name="Shape 22"/>
          <p:cNvSpPr/>
          <p:nvPr/>
        </p:nvSpPr>
        <p:spPr>
          <a:xfrm>
            <a:off x="6126480" y="2103120"/>
            <a:ext cx="2560320" cy="54864"/>
          </a:xfrm>
          <a:prstGeom prst="rect">
            <a:avLst/>
          </a:prstGeom>
          <a:solidFill>
            <a:srgbClr val="00D4AA"/>
          </a:solidFill>
          <a:ln/>
        </p:spPr>
      </p:sp>
      <p:sp>
        <p:nvSpPr>
          <p:cNvPr id="25" name="Shape 23"/>
          <p:cNvSpPr/>
          <p:nvPr/>
        </p:nvSpPr>
        <p:spPr>
          <a:xfrm>
            <a:off x="6263640" y="2286000"/>
            <a:ext cx="320040" cy="320040"/>
          </a:xfrm>
          <a:prstGeom prst="ellipse">
            <a:avLst/>
          </a:prstGeom>
          <a:solidFill>
            <a:srgbClr val="00D4AA"/>
          </a:solidFill>
          <a:ln/>
        </p:spPr>
      </p:sp>
      <p:sp>
        <p:nvSpPr>
          <p:cNvPr id="26" name="Text 24"/>
          <p:cNvSpPr/>
          <p:nvPr/>
        </p:nvSpPr>
        <p:spPr>
          <a:xfrm>
            <a:off x="6263640" y="2286000"/>
            <a:ext cx="320040" cy="320040"/>
          </a:xfrm>
          <a:prstGeom prst="rect">
            <a:avLst/>
          </a:prstGeom>
          <a:noFill/>
          <a:ln/>
        </p:spPr>
        <p:txBody>
          <a:bodyPr wrap="square" lIns="0" tIns="0" rIns="0" bIns="0" rtlCol="0" anchor="ctr"/>
          <a:lstStyle/>
          <a:p>
            <a:pPr algn="ctr" indent="0" marL="0">
              <a:buNone/>
            </a:pPr>
            <a:r>
              <a:rPr lang="en-US" sz="1400" dirty="0">
                <a:solidFill>
                  <a:srgbClr val="0D0D0D"/>
                </a:solidFill>
                <a:latin typeface="Arial Black" pitchFamily="34" charset="0"/>
                <a:ea typeface="Arial Black" pitchFamily="34" charset="-122"/>
                <a:cs typeface="Arial Black" pitchFamily="34" charset="-120"/>
              </a:rPr>
              <a:t>3</a:t>
            </a:r>
            <a:endParaRPr lang="en-US" sz="1400" dirty="0"/>
          </a:p>
        </p:txBody>
      </p:sp>
      <p:sp>
        <p:nvSpPr>
          <p:cNvPr id="27" name="Text 25"/>
          <p:cNvSpPr/>
          <p:nvPr/>
        </p:nvSpPr>
        <p:spPr>
          <a:xfrm>
            <a:off x="6217920" y="2697480"/>
            <a:ext cx="2377440" cy="274320"/>
          </a:xfrm>
          <a:prstGeom prst="rect">
            <a:avLst/>
          </a:prstGeom>
          <a:noFill/>
          <a:ln/>
        </p:spPr>
        <p:txBody>
          <a:bodyPr wrap="square" lIns="0" tIns="0" rIns="0" bIns="0" rtlCol="0" anchor="ctr"/>
          <a:lstStyle/>
          <a:p>
            <a:pPr indent="0" marL="0">
              <a:buNone/>
            </a:pPr>
            <a:r>
              <a:rPr lang="en-US" sz="1200" b="1" dirty="0">
                <a:solidFill>
                  <a:srgbClr val="00D4AA"/>
                </a:solidFill>
                <a:latin typeface="Arial" pitchFamily="34" charset="0"/>
                <a:ea typeface="Arial" pitchFamily="34" charset="-122"/>
                <a:cs typeface="Arial" pitchFamily="34" charset="-120"/>
              </a:rPr>
              <a:t>Test &amp; iterate</a:t>
            </a:r>
            <a:endParaRPr lang="en-US" sz="1200" dirty="0"/>
          </a:p>
        </p:txBody>
      </p:sp>
      <p:sp>
        <p:nvSpPr>
          <p:cNvPr id="28" name="Text 26"/>
          <p:cNvSpPr/>
          <p:nvPr/>
        </p:nvSpPr>
        <p:spPr>
          <a:xfrm>
            <a:off x="6217920" y="2999232"/>
            <a:ext cx="2377440" cy="41148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Run the prompt, give feedback, let the LLM refine it further</a:t>
            </a:r>
            <a:endParaRPr lang="en-US" sz="1000" dirty="0"/>
          </a:p>
        </p:txBody>
      </p:sp>
      <p:sp>
        <p:nvSpPr>
          <p:cNvPr id="29" name="Shape 27"/>
          <p:cNvSpPr/>
          <p:nvPr/>
        </p:nvSpPr>
        <p:spPr>
          <a:xfrm>
            <a:off x="457200" y="3794760"/>
            <a:ext cx="8229600" cy="9601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30" name="Shape 28"/>
          <p:cNvSpPr/>
          <p:nvPr/>
        </p:nvSpPr>
        <p:spPr>
          <a:xfrm>
            <a:off x="457200" y="3794760"/>
            <a:ext cx="54864" cy="960120"/>
          </a:xfrm>
          <a:prstGeom prst="rect">
            <a:avLst/>
          </a:prstGeom>
          <a:solidFill>
            <a:srgbClr val="FF3DAB"/>
          </a:solidFill>
          <a:ln/>
        </p:spPr>
      </p:sp>
      <p:sp>
        <p:nvSpPr>
          <p:cNvPr id="31" name="Text 29"/>
          <p:cNvSpPr/>
          <p:nvPr/>
        </p:nvSpPr>
        <p:spPr>
          <a:xfrm>
            <a:off x="731520" y="3858768"/>
            <a:ext cx="7680960" cy="274320"/>
          </a:xfrm>
          <a:prstGeom prst="rect">
            <a:avLst/>
          </a:prstGeom>
          <a:noFill/>
          <a:ln/>
        </p:spPr>
        <p:txBody>
          <a:bodyPr wrap="square" lIns="0" tIns="0" rIns="0" bIns="0" rtlCol="0" anchor="ctr"/>
          <a:lstStyle/>
          <a:p>
            <a:pPr indent="0" marL="0">
              <a:buNone/>
            </a:pPr>
            <a:r>
              <a:rPr lang="en-US" sz="1300" b="1" dirty="0">
                <a:solidFill>
                  <a:srgbClr val="FF3DAB"/>
                </a:solidFill>
                <a:latin typeface="Arial" pitchFamily="34" charset="0"/>
                <a:ea typeface="Arial" pitchFamily="34" charset="-122"/>
                <a:cs typeface="Arial" pitchFamily="34" charset="-120"/>
              </a:rPr>
              <a:t>Available tools for meta prompting</a:t>
            </a:r>
            <a:endParaRPr lang="en-US" sz="1300" dirty="0"/>
          </a:p>
        </p:txBody>
      </p:sp>
      <p:sp>
        <p:nvSpPr>
          <p:cNvPr id="32" name="Text 30"/>
          <p:cNvSpPr/>
          <p:nvPr/>
        </p:nvSpPr>
        <p:spPr>
          <a:xfrm>
            <a:off x="731520" y="4160520"/>
            <a:ext cx="7680960" cy="5029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Anthropic Console prompt generator</a:t>
            </a:r>
            <a:pPr indent="0" marL="0">
              <a:buNone/>
            </a:pPr>
            <a:r>
              <a:rPr lang="en-US" sz="1100" dirty="0">
                <a:solidFill>
                  <a:srgbClr val="9B9BB0"/>
                </a:solidFill>
                <a:latin typeface="Arial" pitchFamily="34" charset="0"/>
                <a:ea typeface="Arial" pitchFamily="34" charset="-122"/>
                <a:cs typeface="Arial" pitchFamily="34" charset="-120"/>
              </a:rPr>
              <a:t xml:space="preserve">  •  </a:t>
            </a:r>
            <a:pPr indent="0" marL="0">
              <a:buNone/>
            </a:pPr>
            <a:r>
              <a:rPr lang="en-US" sz="1100" dirty="0">
                <a:solidFill>
                  <a:srgbClr val="C8C8D8"/>
                </a:solidFill>
                <a:latin typeface="Arial" pitchFamily="34" charset="0"/>
                <a:ea typeface="Arial" pitchFamily="34" charset="-122"/>
                <a:cs typeface="Arial" pitchFamily="34" charset="-120"/>
              </a:rPr>
              <a:t>OpenAI Playground system prompt builder</a:t>
            </a:r>
            <a:pPr indent="0" marL="0">
              <a:buNone/>
            </a:pPr>
            <a:r>
              <a:rPr lang="en-US" sz="1100" dirty="0">
                <a:solidFill>
                  <a:srgbClr val="9B9BB0"/>
                </a:solidFill>
                <a:latin typeface="Arial" pitchFamily="34" charset="0"/>
                <a:ea typeface="Arial" pitchFamily="34" charset="-122"/>
                <a:cs typeface="Arial" pitchFamily="34" charset="-120"/>
              </a:rPr>
              <a:t xml:space="preserve">  •  </a:t>
            </a:r>
            <a:pPr indent="0" marL="0">
              <a:buNone/>
            </a:pPr>
            <a:r>
              <a:rPr lang="en-US" sz="1100" dirty="0">
                <a:solidFill>
                  <a:srgbClr val="C8C8D8"/>
                </a:solidFill>
                <a:latin typeface="Arial" pitchFamily="34" charset="0"/>
                <a:ea typeface="Arial" pitchFamily="34" charset="-122"/>
                <a:cs typeface="Arial" pitchFamily="34" charset="-120"/>
              </a:rPr>
              <a:t>Or simply: ask Claude/GPT to write your prompt for you</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Self-Critique Prompting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Generate → Critique → Revise — in one conversation</a:t>
            </a:r>
            <a:endParaRPr lang="en-US" sz="1100" dirty="0"/>
          </a:p>
        </p:txBody>
      </p:sp>
      <p:sp>
        <p:nvSpPr>
          <p:cNvPr id="5" name="Shape 3"/>
          <p:cNvSpPr/>
          <p:nvPr/>
        </p:nvSpPr>
        <p:spPr>
          <a:xfrm>
            <a:off x="457200" y="1051560"/>
            <a:ext cx="8229600" cy="685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685800"/>
          </a:xfrm>
          <a:prstGeom prst="rect">
            <a:avLst/>
          </a:prstGeom>
          <a:solidFill>
            <a:srgbClr val="E91E8C"/>
          </a:solidFill>
          <a:ln/>
        </p:spPr>
      </p:sp>
      <p:sp>
        <p:nvSpPr>
          <p:cNvPr id="7" name="Text 5"/>
          <p:cNvSpPr/>
          <p:nvPr/>
        </p:nvSpPr>
        <p:spPr>
          <a:xfrm>
            <a:off x="731520" y="1097280"/>
            <a:ext cx="7680960" cy="2286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First drafts from AI are fine. Second drafts are better. Third drafts are great.</a:t>
            </a:r>
            <a:endParaRPr lang="en-US" sz="1500" dirty="0"/>
          </a:p>
        </p:txBody>
      </p:sp>
      <p:sp>
        <p:nvSpPr>
          <p:cNvPr id="8" name="Text 6"/>
          <p:cNvSpPr/>
          <p:nvPr/>
        </p:nvSpPr>
        <p:spPr>
          <a:xfrm>
            <a:off x="731520" y="1371600"/>
            <a:ext cx="768096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Instead of accepting the first output, ask the model to find flaws in its own work and rewrite. This single technique dramatically improves quality — no extra tools needed.</a:t>
            </a:r>
            <a:endParaRPr lang="en-US" sz="1100" dirty="0"/>
          </a:p>
        </p:txBody>
      </p:sp>
      <p:sp>
        <p:nvSpPr>
          <p:cNvPr id="9" name="Shape 7"/>
          <p:cNvSpPr/>
          <p:nvPr/>
        </p:nvSpPr>
        <p:spPr>
          <a:xfrm>
            <a:off x="457200" y="1965960"/>
            <a:ext cx="2560320" cy="14630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965960"/>
            <a:ext cx="2560320" cy="54864"/>
          </a:xfrm>
          <a:prstGeom prst="rect">
            <a:avLst/>
          </a:prstGeom>
          <a:solidFill>
            <a:srgbClr val="E91E8C"/>
          </a:solidFill>
          <a:ln/>
        </p:spPr>
      </p:sp>
      <p:sp>
        <p:nvSpPr>
          <p:cNvPr id="11" name="Shape 9"/>
          <p:cNvSpPr/>
          <p:nvPr/>
        </p:nvSpPr>
        <p:spPr>
          <a:xfrm>
            <a:off x="566928" y="2103120"/>
            <a:ext cx="320040" cy="320040"/>
          </a:xfrm>
          <a:prstGeom prst="ellipse">
            <a:avLst/>
          </a:prstGeom>
          <a:solidFill>
            <a:srgbClr val="E91E8C"/>
          </a:solidFill>
          <a:ln/>
        </p:spPr>
      </p:sp>
      <p:sp>
        <p:nvSpPr>
          <p:cNvPr id="12" name="Text 10"/>
          <p:cNvSpPr/>
          <p:nvPr/>
        </p:nvSpPr>
        <p:spPr>
          <a:xfrm>
            <a:off x="56692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960120" y="2121408"/>
            <a:ext cx="182880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Generate</a:t>
            </a:r>
            <a:endParaRPr lang="en-US" sz="1300" dirty="0"/>
          </a:p>
        </p:txBody>
      </p:sp>
      <p:sp>
        <p:nvSpPr>
          <p:cNvPr id="14" name="Shape 12"/>
          <p:cNvSpPr/>
          <p:nvPr/>
        </p:nvSpPr>
        <p:spPr>
          <a:xfrm>
            <a:off x="566928" y="2542032"/>
            <a:ext cx="2331720" cy="685800"/>
          </a:xfrm>
          <a:prstGeom prst="rect">
            <a:avLst/>
          </a:prstGeom>
          <a:solidFill>
            <a:srgbClr val="0D0D1A"/>
          </a:solidFill>
          <a:ln/>
        </p:spPr>
      </p:sp>
      <p:sp>
        <p:nvSpPr>
          <p:cNvPr id="15" name="Text 13"/>
          <p:cNvSpPr/>
          <p:nvPr/>
        </p:nvSpPr>
        <p:spPr>
          <a:xfrm>
            <a:off x="658368" y="2578608"/>
            <a:ext cx="2148840" cy="64008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Write a cold email for</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[product] targeting [persona].</a:t>
            </a:r>
            <a:endParaRPr lang="en-US" sz="950" dirty="0"/>
          </a:p>
        </p:txBody>
      </p:sp>
      <p:sp>
        <p:nvSpPr>
          <p:cNvPr id="16" name="Text 14"/>
          <p:cNvSpPr/>
          <p:nvPr/>
        </p:nvSpPr>
        <p:spPr>
          <a:xfrm>
            <a:off x="3063240" y="2468880"/>
            <a:ext cx="274320" cy="36576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3383280" y="1965960"/>
            <a:ext cx="2560320" cy="14630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8" name="Shape 16"/>
          <p:cNvSpPr/>
          <p:nvPr/>
        </p:nvSpPr>
        <p:spPr>
          <a:xfrm>
            <a:off x="3383280" y="1965960"/>
            <a:ext cx="2560320" cy="54864"/>
          </a:xfrm>
          <a:prstGeom prst="rect">
            <a:avLst/>
          </a:prstGeom>
          <a:solidFill>
            <a:srgbClr val="4A9FFF"/>
          </a:solidFill>
          <a:ln/>
        </p:spPr>
      </p:sp>
      <p:sp>
        <p:nvSpPr>
          <p:cNvPr id="19" name="Shape 17"/>
          <p:cNvSpPr/>
          <p:nvPr/>
        </p:nvSpPr>
        <p:spPr>
          <a:xfrm>
            <a:off x="3493008" y="2103120"/>
            <a:ext cx="320040" cy="320040"/>
          </a:xfrm>
          <a:prstGeom prst="ellipse">
            <a:avLst/>
          </a:prstGeom>
          <a:solidFill>
            <a:srgbClr val="4A9FFF"/>
          </a:solidFill>
          <a:ln/>
        </p:spPr>
      </p:sp>
      <p:sp>
        <p:nvSpPr>
          <p:cNvPr id="20" name="Text 18"/>
          <p:cNvSpPr/>
          <p:nvPr/>
        </p:nvSpPr>
        <p:spPr>
          <a:xfrm>
            <a:off x="349300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2</a:t>
            </a:r>
            <a:endParaRPr lang="en-US" sz="1400" dirty="0"/>
          </a:p>
        </p:txBody>
      </p:sp>
      <p:sp>
        <p:nvSpPr>
          <p:cNvPr id="21" name="Text 19"/>
          <p:cNvSpPr/>
          <p:nvPr/>
        </p:nvSpPr>
        <p:spPr>
          <a:xfrm>
            <a:off x="3886200" y="2121408"/>
            <a:ext cx="182880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Critique</a:t>
            </a:r>
            <a:endParaRPr lang="en-US" sz="1300" dirty="0"/>
          </a:p>
        </p:txBody>
      </p:sp>
      <p:sp>
        <p:nvSpPr>
          <p:cNvPr id="22" name="Shape 20"/>
          <p:cNvSpPr/>
          <p:nvPr/>
        </p:nvSpPr>
        <p:spPr>
          <a:xfrm>
            <a:off x="3493008" y="2542032"/>
            <a:ext cx="2331720" cy="685800"/>
          </a:xfrm>
          <a:prstGeom prst="rect">
            <a:avLst/>
          </a:prstGeom>
          <a:solidFill>
            <a:srgbClr val="0D0D1A"/>
          </a:solidFill>
          <a:ln/>
        </p:spPr>
      </p:sp>
      <p:sp>
        <p:nvSpPr>
          <p:cNvPr id="23" name="Text 21"/>
          <p:cNvSpPr/>
          <p:nvPr/>
        </p:nvSpPr>
        <p:spPr>
          <a:xfrm>
            <a:off x="3584448" y="2578608"/>
            <a:ext cx="2148840" cy="64008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Now critique your email.</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What's weak? What would make</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someone delete this?</a:t>
            </a:r>
            <a:endParaRPr lang="en-US" sz="950" dirty="0"/>
          </a:p>
        </p:txBody>
      </p:sp>
      <p:sp>
        <p:nvSpPr>
          <p:cNvPr id="24" name="Text 22"/>
          <p:cNvSpPr/>
          <p:nvPr/>
        </p:nvSpPr>
        <p:spPr>
          <a:xfrm>
            <a:off x="5989320" y="2468880"/>
            <a:ext cx="274320" cy="36576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6309360" y="1965960"/>
            <a:ext cx="2560320" cy="14630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6" name="Shape 24"/>
          <p:cNvSpPr/>
          <p:nvPr/>
        </p:nvSpPr>
        <p:spPr>
          <a:xfrm>
            <a:off x="6309360" y="1965960"/>
            <a:ext cx="2560320" cy="54864"/>
          </a:xfrm>
          <a:prstGeom prst="rect">
            <a:avLst/>
          </a:prstGeom>
          <a:solidFill>
            <a:srgbClr val="00D4AA"/>
          </a:solidFill>
          <a:ln/>
        </p:spPr>
      </p:sp>
      <p:sp>
        <p:nvSpPr>
          <p:cNvPr id="27" name="Shape 25"/>
          <p:cNvSpPr/>
          <p:nvPr/>
        </p:nvSpPr>
        <p:spPr>
          <a:xfrm>
            <a:off x="6419088" y="2103120"/>
            <a:ext cx="320040" cy="320040"/>
          </a:xfrm>
          <a:prstGeom prst="ellipse">
            <a:avLst/>
          </a:prstGeom>
          <a:solidFill>
            <a:srgbClr val="00D4AA"/>
          </a:solidFill>
          <a:ln/>
        </p:spPr>
      </p:sp>
      <p:sp>
        <p:nvSpPr>
          <p:cNvPr id="28" name="Text 26"/>
          <p:cNvSpPr/>
          <p:nvPr/>
        </p:nvSpPr>
        <p:spPr>
          <a:xfrm>
            <a:off x="641908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3</a:t>
            </a:r>
            <a:endParaRPr lang="en-US" sz="1400" dirty="0"/>
          </a:p>
        </p:txBody>
      </p:sp>
      <p:sp>
        <p:nvSpPr>
          <p:cNvPr id="29" name="Text 27"/>
          <p:cNvSpPr/>
          <p:nvPr/>
        </p:nvSpPr>
        <p:spPr>
          <a:xfrm>
            <a:off x="6812280" y="2121408"/>
            <a:ext cx="182880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Revise</a:t>
            </a:r>
            <a:endParaRPr lang="en-US" sz="1300" dirty="0"/>
          </a:p>
        </p:txBody>
      </p:sp>
      <p:sp>
        <p:nvSpPr>
          <p:cNvPr id="30" name="Shape 28"/>
          <p:cNvSpPr/>
          <p:nvPr/>
        </p:nvSpPr>
        <p:spPr>
          <a:xfrm>
            <a:off x="6419088" y="2542032"/>
            <a:ext cx="2331720" cy="685800"/>
          </a:xfrm>
          <a:prstGeom prst="rect">
            <a:avLst/>
          </a:prstGeom>
          <a:solidFill>
            <a:srgbClr val="0D0D1A"/>
          </a:solidFill>
          <a:ln/>
        </p:spPr>
      </p:sp>
      <p:sp>
        <p:nvSpPr>
          <p:cNvPr id="31" name="Text 29"/>
          <p:cNvSpPr/>
          <p:nvPr/>
        </p:nvSpPr>
        <p:spPr>
          <a:xfrm>
            <a:off x="6510528" y="2578608"/>
            <a:ext cx="2148840" cy="64008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Rewrite it based on your</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critique. Fix every issue</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you identified.</a:t>
            </a:r>
            <a:endParaRPr lang="en-US" sz="950" dirty="0"/>
          </a:p>
        </p:txBody>
      </p:sp>
      <p:sp>
        <p:nvSpPr>
          <p:cNvPr id="32" name="Shape 30"/>
          <p:cNvSpPr/>
          <p:nvPr/>
        </p:nvSpPr>
        <p:spPr>
          <a:xfrm>
            <a:off x="457200" y="3703320"/>
            <a:ext cx="3931920" cy="6400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3" name="Shape 31"/>
          <p:cNvSpPr/>
          <p:nvPr/>
        </p:nvSpPr>
        <p:spPr>
          <a:xfrm>
            <a:off x="457200" y="3703320"/>
            <a:ext cx="54864" cy="640080"/>
          </a:xfrm>
          <a:prstGeom prst="rect">
            <a:avLst/>
          </a:prstGeom>
          <a:solidFill>
            <a:srgbClr val="E91E8C"/>
          </a:solidFill>
          <a:ln/>
        </p:spPr>
      </p:sp>
      <p:sp>
        <p:nvSpPr>
          <p:cNvPr id="34" name="Text 32"/>
          <p:cNvSpPr/>
          <p:nvPr/>
        </p:nvSpPr>
        <p:spPr>
          <a:xfrm>
            <a:off x="640080" y="3730752"/>
            <a:ext cx="3566160" cy="201168"/>
          </a:xfrm>
          <a:prstGeom prst="rect">
            <a:avLst/>
          </a:prstGeom>
          <a:noFill/>
          <a:ln/>
        </p:spPr>
        <p:txBody>
          <a:bodyPr wrap="square" lIns="0" tIns="0" rIns="0" bIns="0" rtlCol="0" anchor="ctr"/>
          <a:lstStyle/>
          <a:p>
            <a:pPr indent="0" marL="0">
              <a:buNone/>
            </a:pPr>
            <a:r>
              <a:rPr lang="en-US" sz="1100" b="1" dirty="0">
                <a:solidFill>
                  <a:srgbClr val="E91E8C"/>
                </a:solidFill>
                <a:latin typeface="Arial" pitchFamily="34" charset="0"/>
                <a:ea typeface="Arial" pitchFamily="34" charset="-122"/>
                <a:cs typeface="Arial" pitchFamily="34" charset="-120"/>
              </a:rPr>
              <a:t>Power move</a:t>
            </a:r>
            <a:endParaRPr lang="en-US" sz="1100" dirty="0"/>
          </a:p>
        </p:txBody>
      </p:sp>
      <p:sp>
        <p:nvSpPr>
          <p:cNvPr id="35" name="Text 33"/>
          <p:cNvSpPr/>
          <p:nvPr/>
        </p:nvSpPr>
        <p:spPr>
          <a:xfrm>
            <a:off x="640080" y="3950208"/>
            <a:ext cx="3566160" cy="32004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"What's missing?" — forces the model to think about what it hasn't considered</a:t>
            </a:r>
            <a:endParaRPr lang="en-US" sz="1000" dirty="0"/>
          </a:p>
        </p:txBody>
      </p:sp>
      <p:sp>
        <p:nvSpPr>
          <p:cNvPr id="36" name="Shape 34"/>
          <p:cNvSpPr/>
          <p:nvPr/>
        </p:nvSpPr>
        <p:spPr>
          <a:xfrm>
            <a:off x="4754880" y="3703320"/>
            <a:ext cx="3931920" cy="6400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7" name="Shape 35"/>
          <p:cNvSpPr/>
          <p:nvPr/>
        </p:nvSpPr>
        <p:spPr>
          <a:xfrm>
            <a:off x="4754880" y="3703320"/>
            <a:ext cx="54864" cy="640080"/>
          </a:xfrm>
          <a:prstGeom prst="rect">
            <a:avLst/>
          </a:prstGeom>
          <a:solidFill>
            <a:srgbClr val="4A9FFF"/>
          </a:solidFill>
          <a:ln/>
        </p:spPr>
      </p:sp>
      <p:sp>
        <p:nvSpPr>
          <p:cNvPr id="38" name="Text 36"/>
          <p:cNvSpPr/>
          <p:nvPr/>
        </p:nvSpPr>
        <p:spPr>
          <a:xfrm>
            <a:off x="4937760" y="3730752"/>
            <a:ext cx="3566160" cy="201168"/>
          </a:xfrm>
          <a:prstGeom prst="rect">
            <a:avLst/>
          </a:prstGeom>
          <a:noFill/>
          <a:ln/>
        </p:spPr>
        <p:txBody>
          <a:bodyPr wrap="square" lIns="0" tIns="0" rIns="0" bIns="0" rtlCol="0" anchor="ctr"/>
          <a:lstStyle/>
          <a:p>
            <a:pPr indent="0" marL="0">
              <a:buNone/>
            </a:pPr>
            <a:r>
              <a:rPr lang="en-US" sz="1100" b="1" dirty="0">
                <a:solidFill>
                  <a:srgbClr val="4A9FFF"/>
                </a:solidFill>
                <a:latin typeface="Arial" pitchFamily="34" charset="0"/>
                <a:ea typeface="Arial" pitchFamily="34" charset="-122"/>
                <a:cs typeface="Arial" pitchFamily="34" charset="-120"/>
              </a:rPr>
              <a:t>Cross-model critique</a:t>
            </a:r>
            <a:endParaRPr lang="en-US" sz="1100" dirty="0"/>
          </a:p>
        </p:txBody>
      </p:sp>
      <p:sp>
        <p:nvSpPr>
          <p:cNvPr id="39" name="Text 37"/>
          <p:cNvSpPr/>
          <p:nvPr/>
        </p:nvSpPr>
        <p:spPr>
          <a:xfrm>
            <a:off x="4937760" y="3950208"/>
            <a:ext cx="3566160" cy="32004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Give output from Claude to GPT for critique, then back. Different blind spots = better result</a:t>
            </a:r>
            <a:endParaRPr lang="en-US" sz="1000" dirty="0"/>
          </a:p>
        </p:txBody>
      </p:sp>
      <p:sp>
        <p:nvSpPr>
          <p:cNvPr id="40" name="Text 38"/>
          <p:cNvSpPr/>
          <p:nvPr/>
        </p:nvSpPr>
        <p:spPr>
          <a:xfrm>
            <a:off x="457200" y="4526280"/>
            <a:ext cx="8229600" cy="27432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This works because LLMs are better critics than creators — they can spot issues they wouldn't have avoided.</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Text Style Unbundling</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Extract style features, then apply them to new content</a:t>
            </a:r>
            <a:endParaRPr lang="en-US" sz="1100" dirty="0"/>
          </a:p>
        </p:txBody>
      </p:sp>
      <p:sp>
        <p:nvSpPr>
          <p:cNvPr id="5" name="Shape 3"/>
          <p:cNvSpPr/>
          <p:nvPr/>
        </p:nvSpPr>
        <p:spPr>
          <a:xfrm>
            <a:off x="457200" y="1051560"/>
            <a:ext cx="8229600" cy="6858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685800"/>
          </a:xfrm>
          <a:prstGeom prst="rect">
            <a:avLst/>
          </a:prstGeom>
          <a:solidFill>
            <a:srgbClr val="4A9FFF"/>
          </a:solidFill>
          <a:ln/>
        </p:spPr>
      </p:sp>
      <p:sp>
        <p:nvSpPr>
          <p:cNvPr id="7" name="Text 5"/>
          <p:cNvSpPr/>
          <p:nvPr/>
        </p:nvSpPr>
        <p:spPr>
          <a:xfrm>
            <a:off x="731520" y="1097280"/>
            <a:ext cx="7680960" cy="2286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Don't describe the style you want — extract it from examples.</a:t>
            </a:r>
            <a:endParaRPr lang="en-US" sz="1500" dirty="0"/>
          </a:p>
        </p:txBody>
      </p:sp>
      <p:sp>
        <p:nvSpPr>
          <p:cNvPr id="8" name="Text 6"/>
          <p:cNvSpPr/>
          <p:nvPr/>
        </p:nvSpPr>
        <p:spPr>
          <a:xfrm>
            <a:off x="731520" y="1371600"/>
            <a:ext cx="7680960" cy="27432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Give the model a sample of writing. Ask it to identify the style features: tone, sentence length, vocabulary level, structure. Then use those extracted features to generate new content in the same style.</a:t>
            </a:r>
            <a:endParaRPr lang="en-US" sz="1100" dirty="0"/>
          </a:p>
        </p:txBody>
      </p:sp>
      <p:sp>
        <p:nvSpPr>
          <p:cNvPr id="9" name="Shape 7"/>
          <p:cNvSpPr/>
          <p:nvPr/>
        </p:nvSpPr>
        <p:spPr>
          <a:xfrm>
            <a:off x="457200" y="1965960"/>
            <a:ext cx="2560320" cy="16459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965960"/>
            <a:ext cx="2560320" cy="54864"/>
          </a:xfrm>
          <a:prstGeom prst="rect">
            <a:avLst/>
          </a:prstGeom>
          <a:solidFill>
            <a:srgbClr val="E91E8C"/>
          </a:solidFill>
          <a:ln/>
        </p:spPr>
      </p:sp>
      <p:sp>
        <p:nvSpPr>
          <p:cNvPr id="11" name="Shape 9"/>
          <p:cNvSpPr/>
          <p:nvPr/>
        </p:nvSpPr>
        <p:spPr>
          <a:xfrm>
            <a:off x="566928" y="2103120"/>
            <a:ext cx="320040" cy="320040"/>
          </a:xfrm>
          <a:prstGeom prst="ellipse">
            <a:avLst/>
          </a:prstGeom>
          <a:solidFill>
            <a:srgbClr val="E91E8C"/>
          </a:solidFill>
          <a:ln/>
        </p:spPr>
      </p:sp>
      <p:sp>
        <p:nvSpPr>
          <p:cNvPr id="12" name="Text 10"/>
          <p:cNvSpPr/>
          <p:nvPr/>
        </p:nvSpPr>
        <p:spPr>
          <a:xfrm>
            <a:off x="56692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960120" y="2121408"/>
            <a:ext cx="182880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Provide sample</a:t>
            </a:r>
            <a:endParaRPr lang="en-US" sz="1300" dirty="0"/>
          </a:p>
        </p:txBody>
      </p:sp>
      <p:sp>
        <p:nvSpPr>
          <p:cNvPr id="14" name="Shape 12"/>
          <p:cNvSpPr/>
          <p:nvPr/>
        </p:nvSpPr>
        <p:spPr>
          <a:xfrm>
            <a:off x="566928" y="2542032"/>
            <a:ext cx="2331720" cy="868680"/>
          </a:xfrm>
          <a:prstGeom prst="rect">
            <a:avLst/>
          </a:prstGeom>
          <a:solidFill>
            <a:srgbClr val="0D0D1A"/>
          </a:solidFill>
          <a:ln/>
        </p:spPr>
      </p:sp>
      <p:sp>
        <p:nvSpPr>
          <p:cNvPr id="15" name="Text 13"/>
          <p:cNvSpPr/>
          <p:nvPr/>
        </p:nvSpPr>
        <p:spPr>
          <a:xfrm>
            <a:off x="658368" y="2578608"/>
            <a:ext cx="2148840" cy="82296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[Paste your best blog post,</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email, or brand copy]</a:t>
            </a:r>
            <a:endParaRPr lang="en-US" sz="950" dirty="0"/>
          </a:p>
        </p:txBody>
      </p:sp>
      <p:sp>
        <p:nvSpPr>
          <p:cNvPr id="16" name="Text 14"/>
          <p:cNvSpPr/>
          <p:nvPr/>
        </p:nvSpPr>
        <p:spPr>
          <a:xfrm>
            <a:off x="3063240" y="2560320"/>
            <a:ext cx="274320" cy="36576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3383280" y="1965960"/>
            <a:ext cx="2560320" cy="16459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8" name="Shape 16"/>
          <p:cNvSpPr/>
          <p:nvPr/>
        </p:nvSpPr>
        <p:spPr>
          <a:xfrm>
            <a:off x="3383280" y="1965960"/>
            <a:ext cx="2560320" cy="54864"/>
          </a:xfrm>
          <a:prstGeom prst="rect">
            <a:avLst/>
          </a:prstGeom>
          <a:solidFill>
            <a:srgbClr val="4A9FFF"/>
          </a:solidFill>
          <a:ln/>
        </p:spPr>
      </p:sp>
      <p:sp>
        <p:nvSpPr>
          <p:cNvPr id="19" name="Shape 17"/>
          <p:cNvSpPr/>
          <p:nvPr/>
        </p:nvSpPr>
        <p:spPr>
          <a:xfrm>
            <a:off x="3493008" y="2103120"/>
            <a:ext cx="320040" cy="320040"/>
          </a:xfrm>
          <a:prstGeom prst="ellipse">
            <a:avLst/>
          </a:prstGeom>
          <a:solidFill>
            <a:srgbClr val="4A9FFF"/>
          </a:solidFill>
          <a:ln/>
        </p:spPr>
      </p:sp>
      <p:sp>
        <p:nvSpPr>
          <p:cNvPr id="20" name="Text 18"/>
          <p:cNvSpPr/>
          <p:nvPr/>
        </p:nvSpPr>
        <p:spPr>
          <a:xfrm>
            <a:off x="349300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2</a:t>
            </a:r>
            <a:endParaRPr lang="en-US" sz="1400" dirty="0"/>
          </a:p>
        </p:txBody>
      </p:sp>
      <p:sp>
        <p:nvSpPr>
          <p:cNvPr id="21" name="Text 19"/>
          <p:cNvSpPr/>
          <p:nvPr/>
        </p:nvSpPr>
        <p:spPr>
          <a:xfrm>
            <a:off x="3886200" y="2121408"/>
            <a:ext cx="182880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Extract features</a:t>
            </a:r>
            <a:endParaRPr lang="en-US" sz="1300" dirty="0"/>
          </a:p>
        </p:txBody>
      </p:sp>
      <p:sp>
        <p:nvSpPr>
          <p:cNvPr id="22" name="Shape 20"/>
          <p:cNvSpPr/>
          <p:nvPr/>
        </p:nvSpPr>
        <p:spPr>
          <a:xfrm>
            <a:off x="3493008" y="2542032"/>
            <a:ext cx="2331720" cy="868680"/>
          </a:xfrm>
          <a:prstGeom prst="rect">
            <a:avLst/>
          </a:prstGeom>
          <a:solidFill>
            <a:srgbClr val="0D0D1A"/>
          </a:solidFill>
          <a:ln/>
        </p:spPr>
      </p:sp>
      <p:sp>
        <p:nvSpPr>
          <p:cNvPr id="23" name="Text 21"/>
          <p:cNvSpPr/>
          <p:nvPr/>
        </p:nvSpPr>
        <p:spPr>
          <a:xfrm>
            <a:off x="3584448" y="2578608"/>
            <a:ext cx="2148840" cy="82296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"Analyze this text. Identify:</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tone, sentence structure,</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vocabulary level, rhetorical</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devices, and formatting."</a:t>
            </a:r>
            <a:endParaRPr lang="en-US" sz="950" dirty="0"/>
          </a:p>
        </p:txBody>
      </p:sp>
      <p:sp>
        <p:nvSpPr>
          <p:cNvPr id="24" name="Text 22"/>
          <p:cNvSpPr/>
          <p:nvPr/>
        </p:nvSpPr>
        <p:spPr>
          <a:xfrm>
            <a:off x="5989320" y="2560320"/>
            <a:ext cx="274320" cy="365760"/>
          </a:xfrm>
          <a:prstGeom prst="rect">
            <a:avLst/>
          </a:prstGeom>
          <a:noFill/>
          <a:ln/>
        </p:spPr>
        <p:txBody>
          <a:bodyPr wrap="square" lIns="0" tIns="0" rIns="0" bIns="0" rtlCol="0" anchor="ctr"/>
          <a:lstStyle/>
          <a:p>
            <a:pPr algn="ctr" indent="0" marL="0">
              <a:buNone/>
            </a:pPr>
            <a:r>
              <a:rPr lang="en-US" sz="1800" dirty="0">
                <a:solidFill>
                  <a:srgbClr val="9B9BB0"/>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6309360" y="1965960"/>
            <a:ext cx="2560320" cy="164592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6" name="Shape 24"/>
          <p:cNvSpPr/>
          <p:nvPr/>
        </p:nvSpPr>
        <p:spPr>
          <a:xfrm>
            <a:off x="6309360" y="1965960"/>
            <a:ext cx="2560320" cy="54864"/>
          </a:xfrm>
          <a:prstGeom prst="rect">
            <a:avLst/>
          </a:prstGeom>
          <a:solidFill>
            <a:srgbClr val="00D4AA"/>
          </a:solidFill>
          <a:ln/>
        </p:spPr>
      </p:sp>
      <p:sp>
        <p:nvSpPr>
          <p:cNvPr id="27" name="Shape 25"/>
          <p:cNvSpPr/>
          <p:nvPr/>
        </p:nvSpPr>
        <p:spPr>
          <a:xfrm>
            <a:off x="6419088" y="2103120"/>
            <a:ext cx="320040" cy="320040"/>
          </a:xfrm>
          <a:prstGeom prst="ellipse">
            <a:avLst/>
          </a:prstGeom>
          <a:solidFill>
            <a:srgbClr val="00D4AA"/>
          </a:solidFill>
          <a:ln/>
        </p:spPr>
      </p:sp>
      <p:sp>
        <p:nvSpPr>
          <p:cNvPr id="28" name="Text 26"/>
          <p:cNvSpPr/>
          <p:nvPr/>
        </p:nvSpPr>
        <p:spPr>
          <a:xfrm>
            <a:off x="6419088" y="2103120"/>
            <a:ext cx="320040" cy="320040"/>
          </a:xfrm>
          <a:prstGeom prst="rect">
            <a:avLst/>
          </a:prstGeom>
          <a:noFill/>
          <a:ln/>
        </p:spPr>
        <p:txBody>
          <a:bodyPr wrap="square" lIns="0" tIns="0" rIns="0" bIns="0" rtlCol="0" anchor="ctr"/>
          <a:lstStyle/>
          <a:p>
            <a:pPr algn="ctr" indent="0" marL="0">
              <a:buNone/>
            </a:pPr>
            <a:r>
              <a:rPr lang="en-US" sz="1400" b="1" dirty="0">
                <a:solidFill>
                  <a:srgbClr val="0D0D0D"/>
                </a:solidFill>
                <a:latin typeface="Arial" pitchFamily="34" charset="0"/>
                <a:ea typeface="Arial" pitchFamily="34" charset="-122"/>
                <a:cs typeface="Arial" pitchFamily="34" charset="-120"/>
              </a:rPr>
              <a:t>3</a:t>
            </a:r>
            <a:endParaRPr lang="en-US" sz="1400" dirty="0"/>
          </a:p>
        </p:txBody>
      </p:sp>
      <p:sp>
        <p:nvSpPr>
          <p:cNvPr id="29" name="Text 27"/>
          <p:cNvSpPr/>
          <p:nvPr/>
        </p:nvSpPr>
        <p:spPr>
          <a:xfrm>
            <a:off x="6812280" y="2121408"/>
            <a:ext cx="182880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Generate in style</a:t>
            </a:r>
            <a:endParaRPr lang="en-US" sz="1300" dirty="0"/>
          </a:p>
        </p:txBody>
      </p:sp>
      <p:sp>
        <p:nvSpPr>
          <p:cNvPr id="30" name="Shape 28"/>
          <p:cNvSpPr/>
          <p:nvPr/>
        </p:nvSpPr>
        <p:spPr>
          <a:xfrm>
            <a:off x="6419088" y="2542032"/>
            <a:ext cx="2331720" cy="868680"/>
          </a:xfrm>
          <a:prstGeom prst="rect">
            <a:avLst/>
          </a:prstGeom>
          <a:solidFill>
            <a:srgbClr val="0D0D1A"/>
          </a:solidFill>
          <a:ln/>
        </p:spPr>
      </p:sp>
      <p:sp>
        <p:nvSpPr>
          <p:cNvPr id="31" name="Text 29"/>
          <p:cNvSpPr/>
          <p:nvPr/>
        </p:nvSpPr>
        <p:spPr>
          <a:xfrm>
            <a:off x="6510528" y="2578608"/>
            <a:ext cx="2148840" cy="82296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"Write a new [text] using</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EXACTLY these style features:</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[paste extracted features]"</a:t>
            </a:r>
            <a:endParaRPr lang="en-US" sz="950" dirty="0"/>
          </a:p>
        </p:txBody>
      </p:sp>
      <p:sp>
        <p:nvSpPr>
          <p:cNvPr id="32" name="Shape 30"/>
          <p:cNvSpPr/>
          <p:nvPr/>
        </p:nvSpPr>
        <p:spPr>
          <a:xfrm>
            <a:off x="457200" y="3886200"/>
            <a:ext cx="3931920" cy="5486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3" name="Shape 31"/>
          <p:cNvSpPr/>
          <p:nvPr/>
        </p:nvSpPr>
        <p:spPr>
          <a:xfrm>
            <a:off x="457200" y="3886200"/>
            <a:ext cx="54864" cy="548640"/>
          </a:xfrm>
          <a:prstGeom prst="rect">
            <a:avLst/>
          </a:prstGeom>
          <a:solidFill>
            <a:srgbClr val="E91E8C"/>
          </a:solidFill>
          <a:ln/>
        </p:spPr>
      </p:sp>
      <p:sp>
        <p:nvSpPr>
          <p:cNvPr id="34" name="Text 32"/>
          <p:cNvSpPr/>
          <p:nvPr/>
        </p:nvSpPr>
        <p:spPr>
          <a:xfrm>
            <a:off x="640080" y="3913632"/>
            <a:ext cx="3566160" cy="201168"/>
          </a:xfrm>
          <a:prstGeom prst="rect">
            <a:avLst/>
          </a:prstGeom>
          <a:noFill/>
          <a:ln/>
        </p:spPr>
        <p:txBody>
          <a:bodyPr wrap="square" lIns="0" tIns="0" rIns="0" bIns="0" rtlCol="0" anchor="ctr"/>
          <a:lstStyle/>
          <a:p>
            <a:pPr indent="0" marL="0">
              <a:buNone/>
            </a:pPr>
            <a:r>
              <a:rPr lang="en-US" sz="1100" b="1" dirty="0">
                <a:solidFill>
                  <a:srgbClr val="E91E8C"/>
                </a:solidFill>
                <a:latin typeface="Arial" pitchFamily="34" charset="0"/>
                <a:ea typeface="Arial" pitchFamily="34" charset="-122"/>
                <a:cs typeface="Arial" pitchFamily="34" charset="-120"/>
              </a:rPr>
              <a:t>Brand consistency</a:t>
            </a:r>
            <a:endParaRPr lang="en-US" sz="1100" dirty="0"/>
          </a:p>
        </p:txBody>
      </p:sp>
      <p:sp>
        <p:nvSpPr>
          <p:cNvPr id="35" name="Text 33"/>
          <p:cNvSpPr/>
          <p:nvPr/>
        </p:nvSpPr>
        <p:spPr>
          <a:xfrm>
            <a:off x="640080" y="4133088"/>
            <a:ext cx="3566160" cy="22860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Extract your brand voice from existing copy, apply to all new content</a:t>
            </a:r>
            <a:endParaRPr lang="en-US" sz="1000" dirty="0"/>
          </a:p>
        </p:txBody>
      </p:sp>
      <p:sp>
        <p:nvSpPr>
          <p:cNvPr id="36" name="Shape 34"/>
          <p:cNvSpPr/>
          <p:nvPr/>
        </p:nvSpPr>
        <p:spPr>
          <a:xfrm>
            <a:off x="4754880" y="3886200"/>
            <a:ext cx="3931920" cy="54864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7" name="Shape 35"/>
          <p:cNvSpPr/>
          <p:nvPr/>
        </p:nvSpPr>
        <p:spPr>
          <a:xfrm>
            <a:off x="4754880" y="3886200"/>
            <a:ext cx="54864" cy="548640"/>
          </a:xfrm>
          <a:prstGeom prst="rect">
            <a:avLst/>
          </a:prstGeom>
          <a:solidFill>
            <a:srgbClr val="4A9FFF"/>
          </a:solidFill>
          <a:ln/>
        </p:spPr>
      </p:sp>
      <p:sp>
        <p:nvSpPr>
          <p:cNvPr id="38" name="Text 36"/>
          <p:cNvSpPr/>
          <p:nvPr/>
        </p:nvSpPr>
        <p:spPr>
          <a:xfrm>
            <a:off x="4937760" y="3913632"/>
            <a:ext cx="3566160" cy="201168"/>
          </a:xfrm>
          <a:prstGeom prst="rect">
            <a:avLst/>
          </a:prstGeom>
          <a:noFill/>
          <a:ln/>
        </p:spPr>
        <p:txBody>
          <a:bodyPr wrap="square" lIns="0" tIns="0" rIns="0" bIns="0" rtlCol="0" anchor="ctr"/>
          <a:lstStyle/>
          <a:p>
            <a:pPr indent="0" marL="0">
              <a:buNone/>
            </a:pPr>
            <a:r>
              <a:rPr lang="en-US" sz="1100" b="1" dirty="0">
                <a:solidFill>
                  <a:srgbClr val="4A9FFF"/>
                </a:solidFill>
                <a:latin typeface="Arial" pitchFamily="34" charset="0"/>
                <a:ea typeface="Arial" pitchFamily="34" charset="-122"/>
                <a:cs typeface="Arial" pitchFamily="34" charset="-120"/>
              </a:rPr>
              <a:t>Ghostwriting</a:t>
            </a:r>
            <a:endParaRPr lang="en-US" sz="1100" dirty="0"/>
          </a:p>
        </p:txBody>
      </p:sp>
      <p:sp>
        <p:nvSpPr>
          <p:cNvPr id="39" name="Text 37"/>
          <p:cNvSpPr/>
          <p:nvPr/>
        </p:nvSpPr>
        <p:spPr>
          <a:xfrm>
            <a:off x="4937760" y="4133088"/>
            <a:ext cx="3566160" cy="22860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Match someone's writing style from samples — emails, blogs, reports</a:t>
            </a:r>
            <a:endParaRPr lang="en-US" sz="1000" dirty="0"/>
          </a:p>
        </p:txBody>
      </p:sp>
      <p:sp>
        <p:nvSpPr>
          <p:cNvPr id="40" name="Text 38"/>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This is advanced few-shot: instead of showing examples, you extract the RULES from examples and apply them explicitly.</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Model settings &amp; behavior</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Temperature, RLHF effects, and how to work with them</a:t>
            </a:r>
            <a:endParaRPr lang="en-US" sz="1100" dirty="0"/>
          </a:p>
        </p:txBody>
      </p:sp>
      <p:sp>
        <p:nvSpPr>
          <p:cNvPr id="5" name="Text 3"/>
          <p:cNvSpPr/>
          <p:nvPr/>
        </p:nvSpPr>
        <p:spPr>
          <a:xfrm>
            <a:off x="457200" y="1051560"/>
            <a:ext cx="822960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Temperature: the creativity dial</a:t>
            </a:r>
            <a:endParaRPr lang="en-US" sz="1300" dirty="0"/>
          </a:p>
        </p:txBody>
      </p:sp>
      <p:sp>
        <p:nvSpPr>
          <p:cNvPr id="6" name="Shape 4"/>
          <p:cNvSpPr/>
          <p:nvPr/>
        </p:nvSpPr>
        <p:spPr>
          <a:xfrm>
            <a:off x="457200" y="1371600"/>
            <a:ext cx="2560320" cy="8229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7" name="Shape 5"/>
          <p:cNvSpPr/>
          <p:nvPr/>
        </p:nvSpPr>
        <p:spPr>
          <a:xfrm>
            <a:off x="457200" y="1371600"/>
            <a:ext cx="2560320" cy="45720"/>
          </a:xfrm>
          <a:prstGeom prst="rect">
            <a:avLst/>
          </a:prstGeom>
          <a:solidFill>
            <a:srgbClr val="4A9FFF"/>
          </a:solidFill>
          <a:ln/>
        </p:spPr>
      </p:sp>
      <p:sp>
        <p:nvSpPr>
          <p:cNvPr id="8" name="Text 6"/>
          <p:cNvSpPr/>
          <p:nvPr/>
        </p:nvSpPr>
        <p:spPr>
          <a:xfrm>
            <a:off x="566928" y="1435608"/>
            <a:ext cx="2331720" cy="274320"/>
          </a:xfrm>
          <a:prstGeom prst="rect">
            <a:avLst/>
          </a:prstGeom>
          <a:noFill/>
          <a:ln/>
        </p:spPr>
        <p:txBody>
          <a:bodyPr wrap="square" lIns="0" tIns="0" rIns="0" bIns="0" rtlCol="0" anchor="ctr"/>
          <a:lstStyle/>
          <a:p>
            <a:pPr indent="0" marL="0">
              <a:buNone/>
            </a:pPr>
            <a:r>
              <a:rPr lang="en-US" sz="1200" b="1" dirty="0">
                <a:solidFill>
                  <a:srgbClr val="4A9FFF"/>
                </a:solidFill>
                <a:latin typeface="Consolas" pitchFamily="34" charset="0"/>
                <a:ea typeface="Consolas" pitchFamily="34" charset="-122"/>
                <a:cs typeface="Consolas" pitchFamily="34" charset="-120"/>
              </a:rPr>
              <a:t>temp = 0.1  Deterministic</a:t>
            </a:r>
            <a:endParaRPr lang="en-US" sz="1200" dirty="0"/>
          </a:p>
        </p:txBody>
      </p:sp>
      <p:sp>
        <p:nvSpPr>
          <p:cNvPr id="9" name="Text 7"/>
          <p:cNvSpPr/>
          <p:nvPr/>
        </p:nvSpPr>
        <p:spPr>
          <a:xfrm>
            <a:off x="566928" y="1719072"/>
            <a:ext cx="2331720" cy="22860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Facts, code, data extraction</a:t>
            </a:r>
            <a:endParaRPr lang="en-US" sz="1000" dirty="0"/>
          </a:p>
        </p:txBody>
      </p:sp>
      <p:sp>
        <p:nvSpPr>
          <p:cNvPr id="10" name="Shape 8"/>
          <p:cNvSpPr/>
          <p:nvPr/>
        </p:nvSpPr>
        <p:spPr>
          <a:xfrm>
            <a:off x="3291840" y="1371600"/>
            <a:ext cx="2560320" cy="8229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1" name="Shape 9"/>
          <p:cNvSpPr/>
          <p:nvPr/>
        </p:nvSpPr>
        <p:spPr>
          <a:xfrm>
            <a:off x="3291840" y="1371600"/>
            <a:ext cx="2560320" cy="45720"/>
          </a:xfrm>
          <a:prstGeom prst="rect">
            <a:avLst/>
          </a:prstGeom>
          <a:solidFill>
            <a:srgbClr val="00D4AA"/>
          </a:solidFill>
          <a:ln/>
        </p:spPr>
      </p:sp>
      <p:sp>
        <p:nvSpPr>
          <p:cNvPr id="12" name="Text 10"/>
          <p:cNvSpPr/>
          <p:nvPr/>
        </p:nvSpPr>
        <p:spPr>
          <a:xfrm>
            <a:off x="3401568" y="1435608"/>
            <a:ext cx="2331720" cy="274320"/>
          </a:xfrm>
          <a:prstGeom prst="rect">
            <a:avLst/>
          </a:prstGeom>
          <a:noFill/>
          <a:ln/>
        </p:spPr>
        <p:txBody>
          <a:bodyPr wrap="square" lIns="0" tIns="0" rIns="0" bIns="0" rtlCol="0" anchor="ctr"/>
          <a:lstStyle/>
          <a:p>
            <a:pPr indent="0" marL="0">
              <a:buNone/>
            </a:pPr>
            <a:r>
              <a:rPr lang="en-US" sz="1200" b="1" dirty="0">
                <a:solidFill>
                  <a:srgbClr val="00D4AA"/>
                </a:solidFill>
                <a:latin typeface="Consolas" pitchFamily="34" charset="0"/>
                <a:ea typeface="Consolas" pitchFamily="34" charset="-122"/>
                <a:cs typeface="Consolas" pitchFamily="34" charset="-120"/>
              </a:rPr>
              <a:t>temp = 0.5  Professional</a:t>
            </a:r>
            <a:endParaRPr lang="en-US" sz="1200" dirty="0"/>
          </a:p>
        </p:txBody>
      </p:sp>
      <p:sp>
        <p:nvSpPr>
          <p:cNvPr id="13" name="Text 11"/>
          <p:cNvSpPr/>
          <p:nvPr/>
        </p:nvSpPr>
        <p:spPr>
          <a:xfrm>
            <a:off x="3401568" y="1719072"/>
            <a:ext cx="2331720" cy="22860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Emails, reports, analysis</a:t>
            </a:r>
            <a:endParaRPr lang="en-US" sz="1000" dirty="0"/>
          </a:p>
        </p:txBody>
      </p:sp>
      <p:sp>
        <p:nvSpPr>
          <p:cNvPr id="14" name="Shape 12"/>
          <p:cNvSpPr/>
          <p:nvPr/>
        </p:nvSpPr>
        <p:spPr>
          <a:xfrm>
            <a:off x="6126480" y="1371600"/>
            <a:ext cx="2560320" cy="82296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5" name="Shape 13"/>
          <p:cNvSpPr/>
          <p:nvPr/>
        </p:nvSpPr>
        <p:spPr>
          <a:xfrm>
            <a:off x="6126480" y="1371600"/>
            <a:ext cx="2560320" cy="45720"/>
          </a:xfrm>
          <a:prstGeom prst="rect">
            <a:avLst/>
          </a:prstGeom>
          <a:solidFill>
            <a:srgbClr val="E91E8C"/>
          </a:solidFill>
          <a:ln/>
        </p:spPr>
      </p:sp>
      <p:sp>
        <p:nvSpPr>
          <p:cNvPr id="16" name="Text 14"/>
          <p:cNvSpPr/>
          <p:nvPr/>
        </p:nvSpPr>
        <p:spPr>
          <a:xfrm>
            <a:off x="6236208" y="1435608"/>
            <a:ext cx="2331720" cy="274320"/>
          </a:xfrm>
          <a:prstGeom prst="rect">
            <a:avLst/>
          </a:prstGeom>
          <a:noFill/>
          <a:ln/>
        </p:spPr>
        <p:txBody>
          <a:bodyPr wrap="square" lIns="0" tIns="0" rIns="0" bIns="0" rtlCol="0" anchor="ctr"/>
          <a:lstStyle/>
          <a:p>
            <a:pPr indent="0" marL="0">
              <a:buNone/>
            </a:pPr>
            <a:r>
              <a:rPr lang="en-US" sz="1200" b="1" dirty="0">
                <a:solidFill>
                  <a:srgbClr val="E91E8C"/>
                </a:solidFill>
                <a:latin typeface="Consolas" pitchFamily="34" charset="0"/>
                <a:ea typeface="Consolas" pitchFamily="34" charset="-122"/>
                <a:cs typeface="Consolas" pitchFamily="34" charset="-120"/>
              </a:rPr>
              <a:t>temp = 0.9  Creative</a:t>
            </a:r>
            <a:endParaRPr lang="en-US" sz="1200" dirty="0"/>
          </a:p>
        </p:txBody>
      </p:sp>
      <p:sp>
        <p:nvSpPr>
          <p:cNvPr id="17" name="Text 15"/>
          <p:cNvSpPr/>
          <p:nvPr/>
        </p:nvSpPr>
        <p:spPr>
          <a:xfrm>
            <a:off x="6236208" y="1719072"/>
            <a:ext cx="2331720" cy="22860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Brainstorming, fiction, copy</a:t>
            </a:r>
            <a:endParaRPr lang="en-US" sz="1000" dirty="0"/>
          </a:p>
        </p:txBody>
      </p:sp>
      <p:sp>
        <p:nvSpPr>
          <p:cNvPr id="18" name="Text 16"/>
          <p:cNvSpPr/>
          <p:nvPr/>
        </p:nvSpPr>
        <p:spPr>
          <a:xfrm>
            <a:off x="457200" y="2286000"/>
            <a:ext cx="8229600" cy="182880"/>
          </a:xfrm>
          <a:prstGeom prst="rect">
            <a:avLst/>
          </a:prstGeom>
          <a:noFill/>
          <a:ln/>
        </p:spPr>
        <p:txBody>
          <a:bodyPr wrap="square" lIns="0" tIns="0" rIns="0" bIns="0" rtlCol="0" anchor="ctr"/>
          <a:lstStyle/>
          <a:p>
            <a:pPr indent="0" marL="0">
              <a:buNone/>
            </a:pPr>
            <a:r>
              <a:rPr lang="en-US" sz="1000" i="1" dirty="0">
                <a:solidFill>
                  <a:srgbClr val="9B9BB0"/>
                </a:solidFill>
                <a:latin typeface="Arial" pitchFamily="34" charset="0"/>
                <a:ea typeface="Arial" pitchFamily="34" charset="-122"/>
                <a:cs typeface="Arial" pitchFamily="34" charset="-120"/>
              </a:rPr>
              <a:t>When in doubt: start at 0.3-0.5 and adjust.</a:t>
            </a:r>
            <a:endParaRPr lang="en-US" sz="1000" dirty="0"/>
          </a:p>
        </p:txBody>
      </p:sp>
      <p:sp>
        <p:nvSpPr>
          <p:cNvPr id="19" name="Text 17"/>
          <p:cNvSpPr/>
          <p:nvPr/>
        </p:nvSpPr>
        <p:spPr>
          <a:xfrm>
            <a:off x="457200" y="2651760"/>
            <a:ext cx="822960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The Alignment Tax: why models hedge (and how to fix it)</a:t>
            </a:r>
            <a:endParaRPr lang="en-US" sz="1300" dirty="0"/>
          </a:p>
        </p:txBody>
      </p:sp>
      <p:sp>
        <p:nvSpPr>
          <p:cNvPr id="20" name="Shape 18"/>
          <p:cNvSpPr/>
          <p:nvPr/>
        </p:nvSpPr>
        <p:spPr>
          <a:xfrm>
            <a:off x="457200" y="3017520"/>
            <a:ext cx="8229600" cy="13258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21" name="Shape 19"/>
          <p:cNvSpPr/>
          <p:nvPr/>
        </p:nvSpPr>
        <p:spPr>
          <a:xfrm>
            <a:off x="457200" y="3017520"/>
            <a:ext cx="54864" cy="1325880"/>
          </a:xfrm>
          <a:prstGeom prst="rect">
            <a:avLst/>
          </a:prstGeom>
          <a:solidFill>
            <a:srgbClr val="E91E8C"/>
          </a:solidFill>
          <a:ln/>
        </p:spPr>
      </p:sp>
      <p:sp>
        <p:nvSpPr>
          <p:cNvPr id="22" name="Text 20"/>
          <p:cNvSpPr/>
          <p:nvPr/>
        </p:nvSpPr>
        <p:spPr>
          <a:xfrm>
            <a:off x="731520" y="3063240"/>
            <a:ext cx="768096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RLHF made models helpful — but also verbose, hedging, and overly cautious.</a:t>
            </a:r>
            <a:endParaRPr lang="en-US" sz="1100" dirty="0"/>
          </a:p>
        </p:txBody>
      </p:sp>
      <p:sp>
        <p:nvSpPr>
          <p:cNvPr id="23" name="Text 21"/>
          <p:cNvSpPr/>
          <p:nvPr/>
        </p:nvSpPr>
        <p:spPr>
          <a:xfrm>
            <a:off x="731520" y="3291840"/>
            <a:ext cx="7680960" cy="182880"/>
          </a:xfrm>
          <a:prstGeom prst="rect">
            <a:avLst/>
          </a:prstGeom>
          <a:noFill/>
          <a:ln/>
        </p:spPr>
        <p:txBody>
          <a:bodyPr wrap="square" lIns="0" tIns="0" rIns="0" bIns="0" rtlCol="0" anchor="ctr"/>
          <a:lstStyle/>
          <a:p>
            <a:pPr indent="0" marL="0">
              <a:buNone/>
            </a:pPr>
            <a:r>
              <a:rPr lang="en-US" sz="1000" dirty="0">
                <a:solidFill>
                  <a:srgbClr val="C8C8D8"/>
                </a:solidFill>
                <a:latin typeface="Arial" pitchFamily="34" charset="0"/>
                <a:ea typeface="Arial" pitchFamily="34" charset="-122"/>
                <a:cs typeface="Arial" pitchFamily="34" charset="-120"/>
              </a:rPr>
              <a:t>Modern models (Claude 3.5+, GPT-4o+) are much better. But when you see unnecessary disclaimers or bloated responses:</a:t>
            </a:r>
            <a:endParaRPr lang="en-US" sz="1000" dirty="0"/>
          </a:p>
        </p:txBody>
      </p:sp>
      <p:sp>
        <p:nvSpPr>
          <p:cNvPr id="24" name="Shape 22"/>
          <p:cNvSpPr/>
          <p:nvPr/>
        </p:nvSpPr>
        <p:spPr>
          <a:xfrm>
            <a:off x="731520" y="3566160"/>
            <a:ext cx="3657600" cy="640080"/>
          </a:xfrm>
          <a:prstGeom prst="rect">
            <a:avLst/>
          </a:prstGeom>
          <a:solidFill>
            <a:srgbClr val="0D0D1A"/>
          </a:solidFill>
          <a:ln/>
        </p:spPr>
      </p:sp>
      <p:sp>
        <p:nvSpPr>
          <p:cNvPr id="25" name="Text 23"/>
          <p:cNvSpPr/>
          <p:nvPr/>
        </p:nvSpPr>
        <p:spPr>
          <a:xfrm>
            <a:off x="822960" y="3584448"/>
            <a:ext cx="3474720" cy="594360"/>
          </a:xfrm>
          <a:prstGeom prst="rect">
            <a:avLst/>
          </a:prstGeom>
          <a:noFill/>
          <a:ln/>
        </p:spPr>
        <p:txBody>
          <a:bodyPr wrap="square" lIns="0" tIns="0" rIns="0" bIns="0" rtlCol="0" anchor="ctr"/>
          <a:lstStyle/>
          <a:p>
            <a:pPr indent="0" marL="0">
              <a:buNone/>
            </a:pPr>
            <a:r>
              <a:rPr lang="en-US" sz="850" dirty="0">
                <a:solidFill>
                  <a:srgbClr val="9B9BB0"/>
                </a:solidFill>
                <a:latin typeface="Consolas" pitchFamily="34" charset="0"/>
                <a:ea typeface="Consolas" pitchFamily="34" charset="-122"/>
                <a:cs typeface="Consolas" pitchFamily="34" charset="-120"/>
              </a:rPr>
              <a:t>✗  "What's the capital of France?"</a:t>
            </a:r>
            <a:endParaRPr lang="en-US" sz="850" dirty="0"/>
          </a:p>
          <a:p>
            <a:pPr indent="0" marL="0">
              <a:buNone/>
            </a:pPr>
            <a:r>
              <a:rPr lang="en-US" sz="850" dirty="0">
                <a:solidFill>
                  <a:srgbClr val="9B9BB0"/>
                </a:solidFill>
                <a:latin typeface="Consolas" pitchFamily="34" charset="0"/>
                <a:ea typeface="Consolas" pitchFamily="34" charset="-122"/>
                <a:cs typeface="Consolas" pitchFamily="34" charset="-120"/>
              </a:rPr>
              <a:t>→ "Great question! The capital of France</a:t>
            </a:r>
            <a:endParaRPr lang="en-US" sz="850" dirty="0"/>
          </a:p>
          <a:p>
            <a:pPr indent="0" marL="0">
              <a:buNone/>
            </a:pPr>
            <a:r>
              <a:rPr lang="en-US" sz="850" dirty="0">
                <a:solidFill>
                  <a:srgbClr val="9B9BB0"/>
                </a:solidFill>
                <a:latin typeface="Consolas" pitchFamily="34" charset="0"/>
                <a:ea typeface="Consolas" pitchFamily="34" charset="-122"/>
                <a:cs typeface="Consolas" pitchFamily="34" charset="-120"/>
              </a:rPr>
              <a:t xml:space="preserve">    is Paris. I hope that helps!"</a:t>
            </a:r>
            <a:endParaRPr lang="en-US" sz="850" dirty="0"/>
          </a:p>
        </p:txBody>
      </p:sp>
      <p:sp>
        <p:nvSpPr>
          <p:cNvPr id="26" name="Shape 24"/>
          <p:cNvSpPr/>
          <p:nvPr/>
        </p:nvSpPr>
        <p:spPr>
          <a:xfrm>
            <a:off x="4754880" y="3566160"/>
            <a:ext cx="3657600" cy="640080"/>
          </a:xfrm>
          <a:prstGeom prst="rect">
            <a:avLst/>
          </a:prstGeom>
          <a:solidFill>
            <a:srgbClr val="0D0D1A"/>
          </a:solidFill>
          <a:ln/>
        </p:spPr>
      </p:sp>
      <p:sp>
        <p:nvSpPr>
          <p:cNvPr id="27" name="Text 25"/>
          <p:cNvSpPr/>
          <p:nvPr/>
        </p:nvSpPr>
        <p:spPr>
          <a:xfrm>
            <a:off x="4846320" y="3584448"/>
            <a:ext cx="3474720" cy="594360"/>
          </a:xfrm>
          <a:prstGeom prst="rect">
            <a:avLst/>
          </a:prstGeom>
          <a:noFill/>
          <a:ln/>
        </p:spPr>
        <p:txBody>
          <a:bodyPr wrap="square" lIns="0" tIns="0" rIns="0" bIns="0" rtlCol="0" anchor="ctr"/>
          <a:lstStyle/>
          <a:p>
            <a:pPr indent="0" marL="0">
              <a:buNone/>
            </a:pPr>
            <a:r>
              <a:rPr lang="en-US" sz="850" dirty="0">
                <a:solidFill>
                  <a:srgbClr val="00D4AA"/>
                </a:solidFill>
                <a:latin typeface="Consolas" pitchFamily="34" charset="0"/>
                <a:ea typeface="Consolas" pitchFamily="34" charset="-122"/>
                <a:cs typeface="Consolas" pitchFamily="34" charset="-120"/>
              </a:rPr>
              <a:t>✓  Add: "Be concise. No disclaimers.</a:t>
            </a:r>
            <a:endParaRPr lang="en-US" sz="850" dirty="0"/>
          </a:p>
          <a:p>
            <a:pPr indent="0" marL="0">
              <a:buNone/>
            </a:pPr>
            <a:r>
              <a:rPr lang="en-US" sz="850" dirty="0">
                <a:solidFill>
                  <a:srgbClr val="00D4AA"/>
                </a:solidFill>
                <a:latin typeface="Consolas" pitchFamily="34" charset="0"/>
                <a:ea typeface="Consolas" pitchFamily="34" charset="-122"/>
                <a:cs typeface="Consolas" pitchFamily="34" charset="-120"/>
              </a:rPr>
              <a:t xml:space="preserve">    Direct answers only."</a:t>
            </a:r>
            <a:endParaRPr lang="en-US" sz="850" dirty="0"/>
          </a:p>
          <a:p>
            <a:pPr indent="0" marL="0">
              <a:buNone/>
            </a:pPr>
            <a:r>
              <a:rPr lang="en-US" sz="850" dirty="0">
                <a:solidFill>
                  <a:srgbClr val="00D4AA"/>
                </a:solidFill>
                <a:latin typeface="Consolas" pitchFamily="34" charset="0"/>
                <a:ea typeface="Consolas" pitchFamily="34" charset="-122"/>
                <a:cs typeface="Consolas" pitchFamily="34" charset="-120"/>
              </a:rPr>
              <a:t>→ "Paris."</a:t>
            </a:r>
            <a:endParaRPr lang="en-US" sz="850" dirty="0"/>
          </a:p>
        </p:txBody>
      </p:sp>
      <p:sp>
        <p:nvSpPr>
          <p:cNvPr id="28" name="Text 26"/>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Awareness of the alignment tax helps you debug why output feels "off" — and fix it with explicit instructions.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Which technique when?</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Not all techniques are equal — here's what to reach for first</a:t>
            </a:r>
            <a:endParaRPr lang="en-US" sz="1100" dirty="0"/>
          </a:p>
        </p:txBody>
      </p:sp>
      <p:sp>
        <p:nvSpPr>
          <p:cNvPr id="5" name="Text 3"/>
          <p:cNvSpPr/>
          <p:nvPr/>
        </p:nvSpPr>
        <p:spPr>
          <a:xfrm>
            <a:off x="457200" y="1005840"/>
            <a:ext cx="8229600" cy="228600"/>
          </a:xfrm>
          <a:prstGeom prst="rect">
            <a:avLst/>
          </a:prstGeom>
          <a:noFill/>
          <a:ln/>
        </p:spPr>
        <p:txBody>
          <a:bodyPr wrap="square" lIns="0" tIns="0" rIns="0" bIns="0" rtlCol="0" anchor="ctr"/>
          <a:lstStyle/>
          <a:p>
            <a:pPr indent="0" marL="0">
              <a:buNone/>
            </a:pPr>
            <a:r>
              <a:rPr lang="en-US" sz="900" b="1" dirty="0">
                <a:solidFill>
                  <a:srgbClr val="E91E8C"/>
                </a:solidFill>
                <a:latin typeface="Arial" pitchFamily="34" charset="0"/>
                <a:ea typeface="Arial" pitchFamily="34" charset="-122"/>
                <a:cs typeface="Arial" pitchFamily="34" charset="-120"/>
              </a:rPr>
              <a:t>DAILY USE — start here</a:t>
            </a:r>
            <a:endParaRPr lang="en-US" sz="900" dirty="0"/>
          </a:p>
        </p:txBody>
      </p:sp>
      <p:sp>
        <p:nvSpPr>
          <p:cNvPr id="6" name="Shape 4"/>
          <p:cNvSpPr/>
          <p:nvPr/>
        </p:nvSpPr>
        <p:spPr>
          <a:xfrm>
            <a:off x="457200" y="1207008"/>
            <a:ext cx="8229600" cy="9144"/>
          </a:xfrm>
          <a:prstGeom prst="rect">
            <a:avLst/>
          </a:prstGeom>
          <a:solidFill>
            <a:srgbClr val="E91E8C">
              <a:alpha val="40000"/>
            </a:srgbClr>
          </a:solidFill>
          <a:ln/>
        </p:spPr>
      </p:sp>
      <p:sp>
        <p:nvSpPr>
          <p:cNvPr id="7" name="Text 5"/>
          <p:cNvSpPr/>
          <p:nvPr/>
        </p:nvSpPr>
        <p:spPr>
          <a:xfrm>
            <a:off x="457200" y="2514600"/>
            <a:ext cx="8229600" cy="228600"/>
          </a:xfrm>
          <a:prstGeom prst="rect">
            <a:avLst/>
          </a:prstGeom>
          <a:noFill/>
          <a:ln/>
        </p:spPr>
        <p:txBody>
          <a:bodyPr wrap="square" lIns="0" tIns="0" rIns="0" bIns="0" rtlCol="0" anchor="ctr"/>
          <a:lstStyle/>
          <a:p>
            <a:pPr indent="0" marL="0">
              <a:buNone/>
            </a:pPr>
            <a:r>
              <a:rPr lang="en-US" sz="900" b="1" dirty="0">
                <a:solidFill>
                  <a:srgbClr val="4A9FFF"/>
                </a:solidFill>
                <a:latin typeface="Arial" pitchFamily="34" charset="0"/>
                <a:ea typeface="Arial" pitchFamily="34" charset="-122"/>
                <a:cs typeface="Arial" pitchFamily="34" charset="-120"/>
              </a:rPr>
              <a:t>SITUATIONAL — when the basics aren't enough</a:t>
            </a:r>
            <a:endParaRPr lang="en-US" sz="900" dirty="0"/>
          </a:p>
        </p:txBody>
      </p:sp>
      <p:sp>
        <p:nvSpPr>
          <p:cNvPr id="8" name="Shape 6"/>
          <p:cNvSpPr/>
          <p:nvPr/>
        </p:nvSpPr>
        <p:spPr>
          <a:xfrm>
            <a:off x="457200" y="2715768"/>
            <a:ext cx="8229600" cy="9144"/>
          </a:xfrm>
          <a:prstGeom prst="rect">
            <a:avLst/>
          </a:prstGeom>
          <a:solidFill>
            <a:srgbClr val="4A9FFF">
              <a:alpha val="40000"/>
            </a:srgbClr>
          </a:solidFill>
          <a:ln/>
        </p:spPr>
      </p:sp>
      <p:sp>
        <p:nvSpPr>
          <p:cNvPr id="9" name="Text 7"/>
          <p:cNvSpPr/>
          <p:nvPr/>
        </p:nvSpPr>
        <p:spPr>
          <a:xfrm>
            <a:off x="457200" y="3794760"/>
            <a:ext cx="8229600" cy="228600"/>
          </a:xfrm>
          <a:prstGeom prst="rect">
            <a:avLst/>
          </a:prstGeom>
          <a:noFill/>
          <a:ln/>
        </p:spPr>
        <p:txBody>
          <a:bodyPr wrap="square" lIns="0" tIns="0" rIns="0" bIns="0" rtlCol="0" anchor="ctr"/>
          <a:lstStyle/>
          <a:p>
            <a:pPr indent="0" marL="0">
              <a:buNone/>
            </a:pPr>
            <a:r>
              <a:rPr lang="en-US" sz="900" b="1" dirty="0">
                <a:solidFill>
                  <a:srgbClr val="00D4AA"/>
                </a:solidFill>
                <a:latin typeface="Arial" pitchFamily="34" charset="0"/>
                <a:ea typeface="Arial" pitchFamily="34" charset="-122"/>
                <a:cs typeface="Arial" pitchFamily="34" charset="-120"/>
              </a:rPr>
              <a:t>PRODUCT-GRADE — building AI features</a:t>
            </a:r>
            <a:endParaRPr lang="en-US" sz="900" dirty="0"/>
          </a:p>
        </p:txBody>
      </p:sp>
      <p:sp>
        <p:nvSpPr>
          <p:cNvPr id="10" name="Shape 8"/>
          <p:cNvSpPr/>
          <p:nvPr/>
        </p:nvSpPr>
        <p:spPr>
          <a:xfrm>
            <a:off x="457200" y="3995928"/>
            <a:ext cx="8229600" cy="9144"/>
          </a:xfrm>
          <a:prstGeom prst="rect">
            <a:avLst/>
          </a:prstGeom>
          <a:solidFill>
            <a:srgbClr val="00D4AA">
              <a:alpha val="40000"/>
            </a:srgbClr>
          </a:solidFill>
          <a:ln/>
        </p:spPr>
      </p:sp>
      <p:sp>
        <p:nvSpPr>
          <p:cNvPr id="11" name="Shape 9"/>
          <p:cNvSpPr/>
          <p:nvPr/>
        </p:nvSpPr>
        <p:spPr>
          <a:xfrm>
            <a:off x="457200" y="1280160"/>
            <a:ext cx="4023360" cy="4572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2" name="Shape 10"/>
          <p:cNvSpPr/>
          <p:nvPr/>
        </p:nvSpPr>
        <p:spPr>
          <a:xfrm>
            <a:off x="457200" y="1280160"/>
            <a:ext cx="45720" cy="457200"/>
          </a:xfrm>
          <a:prstGeom prst="rect">
            <a:avLst/>
          </a:prstGeom>
          <a:solidFill>
            <a:srgbClr val="E91E8C"/>
          </a:solidFill>
          <a:ln/>
        </p:spPr>
      </p:sp>
      <p:sp>
        <p:nvSpPr>
          <p:cNvPr id="13" name="Text 11"/>
          <p:cNvSpPr/>
          <p:nvPr/>
        </p:nvSpPr>
        <p:spPr>
          <a:xfrm>
            <a:off x="594360" y="1298448"/>
            <a:ext cx="1920240" cy="42062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Output is vague or off-target</a:t>
            </a:r>
            <a:endParaRPr lang="en-US" sz="1000" dirty="0"/>
          </a:p>
        </p:txBody>
      </p:sp>
      <p:sp>
        <p:nvSpPr>
          <p:cNvPr id="14" name="Text 12"/>
          <p:cNvSpPr/>
          <p:nvPr/>
        </p:nvSpPr>
        <p:spPr>
          <a:xfrm>
            <a:off x="2514600" y="1298448"/>
            <a:ext cx="1828800" cy="420624"/>
          </a:xfrm>
          <a:prstGeom prst="rect">
            <a:avLst/>
          </a:prstGeom>
          <a:noFill/>
          <a:ln/>
        </p:spPr>
        <p:txBody>
          <a:bodyPr wrap="square" lIns="0" tIns="0" rIns="0" bIns="0" rtlCol="0" anchor="ctr"/>
          <a:lstStyle/>
          <a:p>
            <a:pPr indent="0" marL="0">
              <a:buNone/>
            </a:pPr>
            <a:r>
              <a:rPr lang="en-US" sz="950" b="1" dirty="0">
                <a:solidFill>
                  <a:srgbClr val="E91E8C"/>
                </a:solidFill>
                <a:latin typeface="Arial" pitchFamily="34" charset="0"/>
                <a:ea typeface="Arial" pitchFamily="34" charset="-122"/>
                <a:cs typeface="Arial" pitchFamily="34" charset="-120"/>
              </a:rPr>
              <a:t xml:space="preserve">→ </a:t>
            </a:r>
            <a:pPr indent="0" marL="0">
              <a:buNone/>
            </a:pPr>
            <a:r>
              <a:rPr lang="en-US" sz="950" dirty="0">
                <a:solidFill>
                  <a:srgbClr val="C8C8D8"/>
                </a:solidFill>
                <a:latin typeface="Arial" pitchFamily="34" charset="0"/>
                <a:ea typeface="Arial" pitchFamily="34" charset="-122"/>
                <a:cs typeface="Arial" pitchFamily="34" charset="-120"/>
              </a:rPr>
              <a:t>Be specific + format constraints</a:t>
            </a:r>
            <a:endParaRPr lang="en-US" sz="950" dirty="0"/>
          </a:p>
        </p:txBody>
      </p:sp>
      <p:sp>
        <p:nvSpPr>
          <p:cNvPr id="15" name="Shape 13"/>
          <p:cNvSpPr/>
          <p:nvPr/>
        </p:nvSpPr>
        <p:spPr>
          <a:xfrm>
            <a:off x="4709160" y="1280160"/>
            <a:ext cx="4023360" cy="4572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16" name="Shape 14"/>
          <p:cNvSpPr/>
          <p:nvPr/>
        </p:nvSpPr>
        <p:spPr>
          <a:xfrm>
            <a:off x="4709160" y="1280160"/>
            <a:ext cx="45720" cy="457200"/>
          </a:xfrm>
          <a:prstGeom prst="rect">
            <a:avLst/>
          </a:prstGeom>
          <a:solidFill>
            <a:srgbClr val="E91E8C"/>
          </a:solidFill>
          <a:ln/>
        </p:spPr>
      </p:sp>
      <p:sp>
        <p:nvSpPr>
          <p:cNvPr id="17" name="Text 15"/>
          <p:cNvSpPr/>
          <p:nvPr/>
        </p:nvSpPr>
        <p:spPr>
          <a:xfrm>
            <a:off x="4846320" y="1298448"/>
            <a:ext cx="1920240" cy="42062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Need consistent results</a:t>
            </a:r>
            <a:endParaRPr lang="en-US" sz="1000" dirty="0"/>
          </a:p>
        </p:txBody>
      </p:sp>
      <p:sp>
        <p:nvSpPr>
          <p:cNvPr id="18" name="Text 16"/>
          <p:cNvSpPr/>
          <p:nvPr/>
        </p:nvSpPr>
        <p:spPr>
          <a:xfrm>
            <a:off x="6766560" y="1298448"/>
            <a:ext cx="1828800" cy="420624"/>
          </a:xfrm>
          <a:prstGeom prst="rect">
            <a:avLst/>
          </a:prstGeom>
          <a:noFill/>
          <a:ln/>
        </p:spPr>
        <p:txBody>
          <a:bodyPr wrap="square" lIns="0" tIns="0" rIns="0" bIns="0" rtlCol="0" anchor="ctr"/>
          <a:lstStyle/>
          <a:p>
            <a:pPr indent="0" marL="0">
              <a:buNone/>
            </a:pPr>
            <a:r>
              <a:rPr lang="en-US" sz="950" b="1" dirty="0">
                <a:solidFill>
                  <a:srgbClr val="E91E8C"/>
                </a:solidFill>
                <a:latin typeface="Arial" pitchFamily="34" charset="0"/>
                <a:ea typeface="Arial" pitchFamily="34" charset="-122"/>
                <a:cs typeface="Arial" pitchFamily="34" charset="-120"/>
              </a:rPr>
              <a:t xml:space="preserve">→ </a:t>
            </a:r>
            <a:pPr indent="0" marL="0">
              <a:buNone/>
            </a:pPr>
            <a:r>
              <a:rPr lang="en-US" sz="950" dirty="0">
                <a:solidFill>
                  <a:srgbClr val="C8C8D8"/>
                </a:solidFill>
                <a:latin typeface="Arial" pitchFamily="34" charset="0"/>
                <a:ea typeface="Arial" pitchFamily="34" charset="-122"/>
                <a:cs typeface="Arial" pitchFamily="34" charset="-120"/>
              </a:rPr>
              <a:t>Few-shot examples</a:t>
            </a:r>
            <a:endParaRPr lang="en-US" sz="950" dirty="0"/>
          </a:p>
        </p:txBody>
      </p:sp>
      <p:sp>
        <p:nvSpPr>
          <p:cNvPr id="19" name="Shape 17"/>
          <p:cNvSpPr/>
          <p:nvPr/>
        </p:nvSpPr>
        <p:spPr>
          <a:xfrm>
            <a:off x="457200" y="1828800"/>
            <a:ext cx="4023360" cy="4572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0" name="Shape 18"/>
          <p:cNvSpPr/>
          <p:nvPr/>
        </p:nvSpPr>
        <p:spPr>
          <a:xfrm>
            <a:off x="457200" y="1828800"/>
            <a:ext cx="45720" cy="457200"/>
          </a:xfrm>
          <a:prstGeom prst="rect">
            <a:avLst/>
          </a:prstGeom>
          <a:solidFill>
            <a:srgbClr val="E91E8C"/>
          </a:solidFill>
          <a:ln/>
        </p:spPr>
      </p:sp>
      <p:sp>
        <p:nvSpPr>
          <p:cNvPr id="21" name="Text 19"/>
          <p:cNvSpPr/>
          <p:nvPr/>
        </p:nvSpPr>
        <p:spPr>
          <a:xfrm>
            <a:off x="594360" y="1847088"/>
            <a:ext cx="1920240" cy="42062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First draft not good enough</a:t>
            </a:r>
            <a:endParaRPr lang="en-US" sz="1000" dirty="0"/>
          </a:p>
        </p:txBody>
      </p:sp>
      <p:sp>
        <p:nvSpPr>
          <p:cNvPr id="22" name="Text 20"/>
          <p:cNvSpPr/>
          <p:nvPr/>
        </p:nvSpPr>
        <p:spPr>
          <a:xfrm>
            <a:off x="2514600" y="1847088"/>
            <a:ext cx="1828800" cy="420624"/>
          </a:xfrm>
          <a:prstGeom prst="rect">
            <a:avLst/>
          </a:prstGeom>
          <a:noFill/>
          <a:ln/>
        </p:spPr>
        <p:txBody>
          <a:bodyPr wrap="square" lIns="0" tIns="0" rIns="0" bIns="0" rtlCol="0" anchor="ctr"/>
          <a:lstStyle/>
          <a:p>
            <a:pPr indent="0" marL="0">
              <a:buNone/>
            </a:pPr>
            <a:r>
              <a:rPr lang="en-US" sz="950" b="1" dirty="0">
                <a:solidFill>
                  <a:srgbClr val="E91E8C"/>
                </a:solidFill>
                <a:latin typeface="Arial" pitchFamily="34" charset="0"/>
                <a:ea typeface="Arial" pitchFamily="34" charset="-122"/>
                <a:cs typeface="Arial" pitchFamily="34" charset="-120"/>
              </a:rPr>
              <a:t xml:space="preserve">→ </a:t>
            </a:r>
            <a:pPr indent="0" marL="0">
              <a:buNone/>
            </a:pPr>
            <a:r>
              <a:rPr lang="en-US" sz="950" dirty="0">
                <a:solidFill>
                  <a:srgbClr val="C8C8D8"/>
                </a:solidFill>
                <a:latin typeface="Arial" pitchFamily="34" charset="0"/>
                <a:ea typeface="Arial" pitchFamily="34" charset="-122"/>
                <a:cs typeface="Arial" pitchFamily="34" charset="-120"/>
              </a:rPr>
              <a:t>Self-Critique: "Now critique this"</a:t>
            </a:r>
            <a:endParaRPr lang="en-US" sz="950" dirty="0"/>
          </a:p>
        </p:txBody>
      </p:sp>
      <p:sp>
        <p:nvSpPr>
          <p:cNvPr id="23" name="Shape 21"/>
          <p:cNvSpPr/>
          <p:nvPr/>
        </p:nvSpPr>
        <p:spPr>
          <a:xfrm>
            <a:off x="4709160" y="1828800"/>
            <a:ext cx="4023360" cy="45720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4" name="Shape 22"/>
          <p:cNvSpPr/>
          <p:nvPr/>
        </p:nvSpPr>
        <p:spPr>
          <a:xfrm>
            <a:off x="4709160" y="1828800"/>
            <a:ext cx="45720" cy="457200"/>
          </a:xfrm>
          <a:prstGeom prst="rect">
            <a:avLst/>
          </a:prstGeom>
          <a:solidFill>
            <a:srgbClr val="E91E8C"/>
          </a:solidFill>
          <a:ln/>
        </p:spPr>
      </p:sp>
      <p:sp>
        <p:nvSpPr>
          <p:cNvPr id="25" name="Text 23"/>
          <p:cNvSpPr/>
          <p:nvPr/>
        </p:nvSpPr>
        <p:spPr>
          <a:xfrm>
            <a:off x="4846320" y="1847088"/>
            <a:ext cx="1920240" cy="42062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Don't know how to prompt it</a:t>
            </a:r>
            <a:endParaRPr lang="en-US" sz="1000" dirty="0"/>
          </a:p>
        </p:txBody>
      </p:sp>
      <p:sp>
        <p:nvSpPr>
          <p:cNvPr id="26" name="Text 24"/>
          <p:cNvSpPr/>
          <p:nvPr/>
        </p:nvSpPr>
        <p:spPr>
          <a:xfrm>
            <a:off x="6766560" y="1847088"/>
            <a:ext cx="1828800" cy="420624"/>
          </a:xfrm>
          <a:prstGeom prst="rect">
            <a:avLst/>
          </a:prstGeom>
          <a:noFill/>
          <a:ln/>
        </p:spPr>
        <p:txBody>
          <a:bodyPr wrap="square" lIns="0" tIns="0" rIns="0" bIns="0" rtlCol="0" anchor="ctr"/>
          <a:lstStyle/>
          <a:p>
            <a:pPr indent="0" marL="0">
              <a:buNone/>
            </a:pPr>
            <a:r>
              <a:rPr lang="en-US" sz="950" b="1" dirty="0">
                <a:solidFill>
                  <a:srgbClr val="E91E8C"/>
                </a:solidFill>
                <a:latin typeface="Arial" pitchFamily="34" charset="0"/>
                <a:ea typeface="Arial" pitchFamily="34" charset="-122"/>
                <a:cs typeface="Arial" pitchFamily="34" charset="-120"/>
              </a:rPr>
              <a:t xml:space="preserve">→ </a:t>
            </a:r>
            <a:pPr indent="0" marL="0">
              <a:buNone/>
            </a:pPr>
            <a:r>
              <a:rPr lang="en-US" sz="950" dirty="0">
                <a:solidFill>
                  <a:srgbClr val="C8C8D8"/>
                </a:solidFill>
                <a:latin typeface="Arial" pitchFamily="34" charset="0"/>
                <a:ea typeface="Arial" pitchFamily="34" charset="-122"/>
                <a:cs typeface="Arial" pitchFamily="34" charset="-120"/>
              </a:rPr>
              <a:t>Meta Prompting: ask the AI to help</a:t>
            </a:r>
            <a:endParaRPr lang="en-US" sz="950" dirty="0"/>
          </a:p>
        </p:txBody>
      </p:sp>
      <p:sp>
        <p:nvSpPr>
          <p:cNvPr id="27" name="Shape 25"/>
          <p:cNvSpPr/>
          <p:nvPr/>
        </p:nvSpPr>
        <p:spPr>
          <a:xfrm>
            <a:off x="457200" y="277063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28" name="Shape 26"/>
          <p:cNvSpPr/>
          <p:nvPr/>
        </p:nvSpPr>
        <p:spPr>
          <a:xfrm>
            <a:off x="457200" y="2770632"/>
            <a:ext cx="45720" cy="411480"/>
          </a:xfrm>
          <a:prstGeom prst="rect">
            <a:avLst/>
          </a:prstGeom>
          <a:solidFill>
            <a:srgbClr val="4A9FFF"/>
          </a:solidFill>
          <a:ln/>
        </p:spPr>
      </p:sp>
      <p:sp>
        <p:nvSpPr>
          <p:cNvPr id="29" name="Text 27"/>
          <p:cNvSpPr/>
          <p:nvPr/>
        </p:nvSpPr>
        <p:spPr>
          <a:xfrm>
            <a:off x="594360" y="278892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Complex multi-step task</a:t>
            </a:r>
            <a:endParaRPr lang="en-US" sz="950" dirty="0"/>
          </a:p>
        </p:txBody>
      </p:sp>
      <p:sp>
        <p:nvSpPr>
          <p:cNvPr id="30" name="Text 28"/>
          <p:cNvSpPr/>
          <p:nvPr/>
        </p:nvSpPr>
        <p:spPr>
          <a:xfrm>
            <a:off x="2514600" y="2788920"/>
            <a:ext cx="1828800" cy="374904"/>
          </a:xfrm>
          <a:prstGeom prst="rect">
            <a:avLst/>
          </a:prstGeom>
          <a:noFill/>
          <a:ln/>
        </p:spPr>
        <p:txBody>
          <a:bodyPr wrap="square" lIns="0" tIns="0" rIns="0" bIns="0" rtlCol="0" anchor="ctr"/>
          <a:lstStyle/>
          <a:p>
            <a:pPr indent="0" marL="0">
              <a:buNone/>
            </a:pPr>
            <a:r>
              <a:rPr lang="en-US" sz="900" b="1" dirty="0">
                <a:solidFill>
                  <a:srgbClr val="4A9FFF"/>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Prompt Chaining</a:t>
            </a:r>
            <a:endParaRPr lang="en-US" sz="900" dirty="0"/>
          </a:p>
        </p:txBody>
      </p:sp>
      <p:sp>
        <p:nvSpPr>
          <p:cNvPr id="31" name="Shape 29"/>
          <p:cNvSpPr/>
          <p:nvPr/>
        </p:nvSpPr>
        <p:spPr>
          <a:xfrm>
            <a:off x="4709160" y="277063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2" name="Shape 30"/>
          <p:cNvSpPr/>
          <p:nvPr/>
        </p:nvSpPr>
        <p:spPr>
          <a:xfrm>
            <a:off x="4709160" y="2770632"/>
            <a:ext cx="45720" cy="411480"/>
          </a:xfrm>
          <a:prstGeom prst="rect">
            <a:avLst/>
          </a:prstGeom>
          <a:solidFill>
            <a:srgbClr val="4A9FFF"/>
          </a:solidFill>
          <a:ln/>
        </p:spPr>
      </p:sp>
      <p:sp>
        <p:nvSpPr>
          <p:cNvPr id="33" name="Text 31"/>
          <p:cNvSpPr/>
          <p:nvPr/>
        </p:nvSpPr>
        <p:spPr>
          <a:xfrm>
            <a:off x="4846320" y="278892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Need domain expertise primed</a:t>
            </a:r>
            <a:endParaRPr lang="en-US" sz="950" dirty="0"/>
          </a:p>
        </p:txBody>
      </p:sp>
      <p:sp>
        <p:nvSpPr>
          <p:cNvPr id="34" name="Text 32"/>
          <p:cNvSpPr/>
          <p:nvPr/>
        </p:nvSpPr>
        <p:spPr>
          <a:xfrm>
            <a:off x="6766560" y="2788920"/>
            <a:ext cx="1828800" cy="374904"/>
          </a:xfrm>
          <a:prstGeom prst="rect">
            <a:avLst/>
          </a:prstGeom>
          <a:noFill/>
          <a:ln/>
        </p:spPr>
        <p:txBody>
          <a:bodyPr wrap="square" lIns="0" tIns="0" rIns="0" bIns="0" rtlCol="0" anchor="ctr"/>
          <a:lstStyle/>
          <a:p>
            <a:pPr indent="0" marL="0">
              <a:buNone/>
            </a:pPr>
            <a:r>
              <a:rPr lang="en-US" sz="900" b="1" dirty="0">
                <a:solidFill>
                  <a:srgbClr val="4A9FFF"/>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Prewarming first, then ask</a:t>
            </a:r>
            <a:endParaRPr lang="en-US" sz="900" dirty="0"/>
          </a:p>
        </p:txBody>
      </p:sp>
      <p:sp>
        <p:nvSpPr>
          <p:cNvPr id="35" name="Shape 33"/>
          <p:cNvSpPr/>
          <p:nvPr/>
        </p:nvSpPr>
        <p:spPr>
          <a:xfrm>
            <a:off x="457200" y="322783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36" name="Shape 34"/>
          <p:cNvSpPr/>
          <p:nvPr/>
        </p:nvSpPr>
        <p:spPr>
          <a:xfrm>
            <a:off x="457200" y="3227832"/>
            <a:ext cx="45720" cy="411480"/>
          </a:xfrm>
          <a:prstGeom prst="rect">
            <a:avLst/>
          </a:prstGeom>
          <a:solidFill>
            <a:srgbClr val="4A9FFF"/>
          </a:solidFill>
          <a:ln/>
        </p:spPr>
      </p:sp>
      <p:sp>
        <p:nvSpPr>
          <p:cNvPr id="37" name="Text 35"/>
          <p:cNvSpPr/>
          <p:nvPr/>
        </p:nvSpPr>
        <p:spPr>
          <a:xfrm>
            <a:off x="594360" y="324612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Need to match a voice/style</a:t>
            </a:r>
            <a:endParaRPr lang="en-US" sz="950" dirty="0"/>
          </a:p>
        </p:txBody>
      </p:sp>
      <p:sp>
        <p:nvSpPr>
          <p:cNvPr id="38" name="Text 36"/>
          <p:cNvSpPr/>
          <p:nvPr/>
        </p:nvSpPr>
        <p:spPr>
          <a:xfrm>
            <a:off x="2514600" y="3246120"/>
            <a:ext cx="1828800" cy="374904"/>
          </a:xfrm>
          <a:prstGeom prst="rect">
            <a:avLst/>
          </a:prstGeom>
          <a:noFill/>
          <a:ln/>
        </p:spPr>
        <p:txBody>
          <a:bodyPr wrap="square" lIns="0" tIns="0" rIns="0" bIns="0" rtlCol="0" anchor="ctr"/>
          <a:lstStyle/>
          <a:p>
            <a:pPr indent="0" marL="0">
              <a:buNone/>
            </a:pPr>
            <a:r>
              <a:rPr lang="en-US" sz="900" b="1" dirty="0">
                <a:solidFill>
                  <a:srgbClr val="4A9FFF"/>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Text Style Unbundling</a:t>
            </a:r>
            <a:endParaRPr lang="en-US" sz="900" dirty="0"/>
          </a:p>
        </p:txBody>
      </p:sp>
      <p:sp>
        <p:nvSpPr>
          <p:cNvPr id="39" name="Shape 37"/>
          <p:cNvSpPr/>
          <p:nvPr/>
        </p:nvSpPr>
        <p:spPr>
          <a:xfrm>
            <a:off x="4709160" y="322783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40" name="Shape 38"/>
          <p:cNvSpPr/>
          <p:nvPr/>
        </p:nvSpPr>
        <p:spPr>
          <a:xfrm>
            <a:off x="4709160" y="3227832"/>
            <a:ext cx="45720" cy="411480"/>
          </a:xfrm>
          <a:prstGeom prst="rect">
            <a:avLst/>
          </a:prstGeom>
          <a:solidFill>
            <a:srgbClr val="4A9FFF"/>
          </a:solidFill>
          <a:ln/>
        </p:spPr>
      </p:sp>
      <p:sp>
        <p:nvSpPr>
          <p:cNvPr id="41" name="Text 39"/>
          <p:cNvSpPr/>
          <p:nvPr/>
        </p:nvSpPr>
        <p:spPr>
          <a:xfrm>
            <a:off x="4846320" y="324612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High-stakes, can't be wrong</a:t>
            </a:r>
            <a:endParaRPr lang="en-US" sz="950" dirty="0"/>
          </a:p>
        </p:txBody>
      </p:sp>
      <p:sp>
        <p:nvSpPr>
          <p:cNvPr id="42" name="Text 40"/>
          <p:cNvSpPr/>
          <p:nvPr/>
        </p:nvSpPr>
        <p:spPr>
          <a:xfrm>
            <a:off x="6766560" y="3246120"/>
            <a:ext cx="1828800" cy="374904"/>
          </a:xfrm>
          <a:prstGeom prst="rect">
            <a:avLst/>
          </a:prstGeom>
          <a:noFill/>
          <a:ln/>
        </p:spPr>
        <p:txBody>
          <a:bodyPr wrap="square" lIns="0" tIns="0" rIns="0" bIns="0" rtlCol="0" anchor="ctr"/>
          <a:lstStyle/>
          <a:p>
            <a:pPr indent="0" marL="0">
              <a:buNone/>
            </a:pPr>
            <a:r>
              <a:rPr lang="en-US" sz="900" b="1" dirty="0">
                <a:solidFill>
                  <a:srgbClr val="4A9FFF"/>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CoT + Self-Consistency</a:t>
            </a:r>
            <a:endParaRPr lang="en-US" sz="900" dirty="0"/>
          </a:p>
        </p:txBody>
      </p:sp>
      <p:sp>
        <p:nvSpPr>
          <p:cNvPr id="43" name="Shape 41"/>
          <p:cNvSpPr/>
          <p:nvPr/>
        </p:nvSpPr>
        <p:spPr>
          <a:xfrm>
            <a:off x="457200" y="405079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44" name="Shape 42"/>
          <p:cNvSpPr/>
          <p:nvPr/>
        </p:nvSpPr>
        <p:spPr>
          <a:xfrm>
            <a:off x="457200" y="4050792"/>
            <a:ext cx="45720" cy="411480"/>
          </a:xfrm>
          <a:prstGeom prst="rect">
            <a:avLst/>
          </a:prstGeom>
          <a:solidFill>
            <a:srgbClr val="00D4AA"/>
          </a:solidFill>
          <a:ln/>
        </p:spPr>
      </p:sp>
      <p:sp>
        <p:nvSpPr>
          <p:cNvPr id="45" name="Text 43"/>
          <p:cNvSpPr/>
          <p:nvPr/>
        </p:nvSpPr>
        <p:spPr>
          <a:xfrm>
            <a:off x="594360" y="406908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Building an AI feature/product</a:t>
            </a:r>
            <a:endParaRPr lang="en-US" sz="950" dirty="0"/>
          </a:p>
        </p:txBody>
      </p:sp>
      <p:sp>
        <p:nvSpPr>
          <p:cNvPr id="46" name="Text 44"/>
          <p:cNvSpPr/>
          <p:nvPr/>
        </p:nvSpPr>
        <p:spPr>
          <a:xfrm>
            <a:off x="2514600" y="4069080"/>
            <a:ext cx="1828800" cy="374904"/>
          </a:xfrm>
          <a:prstGeom prst="rect">
            <a:avLst/>
          </a:prstGeom>
          <a:noFill/>
          <a:ln/>
        </p:spPr>
        <p:txBody>
          <a:bodyPr wrap="square" lIns="0" tIns="0" rIns="0" bIns="0" rtlCol="0" anchor="ctr"/>
          <a:lstStyle/>
          <a:p>
            <a:pPr indent="0" marL="0">
              <a:buNone/>
            </a:pPr>
            <a:r>
              <a:rPr lang="en-US" sz="900" b="1" dirty="0">
                <a:solidFill>
                  <a:srgbClr val="00D4AA"/>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Context Engineering + System Prompts</a:t>
            </a:r>
            <a:endParaRPr lang="en-US" sz="900" dirty="0"/>
          </a:p>
        </p:txBody>
      </p:sp>
      <p:sp>
        <p:nvSpPr>
          <p:cNvPr id="47" name="Shape 45"/>
          <p:cNvSpPr/>
          <p:nvPr/>
        </p:nvSpPr>
        <p:spPr>
          <a:xfrm>
            <a:off x="4709160" y="4050792"/>
            <a:ext cx="4023360" cy="411480"/>
          </a:xfrm>
          <a:prstGeom prst="rect">
            <a:avLst/>
          </a:prstGeom>
          <a:solidFill>
            <a:srgbClr val="16162A"/>
          </a:solidFill>
          <a:ln/>
          <a:effectLst>
            <a:outerShdw sx="100000" sy="100000" kx="0" ky="0" algn="bl" rotWithShape="0" blurRad="101600" dist="38100" dir="8100000">
              <a:srgbClr val="000000">
                <a:alpha val="40000"/>
              </a:srgbClr>
            </a:outerShdw>
          </a:effectLst>
        </p:spPr>
      </p:sp>
      <p:sp>
        <p:nvSpPr>
          <p:cNvPr id="48" name="Shape 46"/>
          <p:cNvSpPr/>
          <p:nvPr/>
        </p:nvSpPr>
        <p:spPr>
          <a:xfrm>
            <a:off x="4709160" y="4050792"/>
            <a:ext cx="45720" cy="411480"/>
          </a:xfrm>
          <a:prstGeom prst="rect">
            <a:avLst/>
          </a:prstGeom>
          <a:solidFill>
            <a:srgbClr val="00D4AA"/>
          </a:solidFill>
          <a:ln/>
        </p:spPr>
      </p:sp>
      <p:sp>
        <p:nvSpPr>
          <p:cNvPr id="49" name="Text 47"/>
          <p:cNvSpPr/>
          <p:nvPr/>
        </p:nvSpPr>
        <p:spPr>
          <a:xfrm>
            <a:off x="4846320" y="4069080"/>
            <a:ext cx="1920240" cy="374904"/>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Need to measure quality at scale</a:t>
            </a:r>
            <a:endParaRPr lang="en-US" sz="950" dirty="0"/>
          </a:p>
        </p:txBody>
      </p:sp>
      <p:sp>
        <p:nvSpPr>
          <p:cNvPr id="50" name="Text 48"/>
          <p:cNvSpPr/>
          <p:nvPr/>
        </p:nvSpPr>
        <p:spPr>
          <a:xfrm>
            <a:off x="6766560" y="4069080"/>
            <a:ext cx="1828800" cy="374904"/>
          </a:xfrm>
          <a:prstGeom prst="rect">
            <a:avLst/>
          </a:prstGeom>
          <a:noFill/>
          <a:ln/>
        </p:spPr>
        <p:txBody>
          <a:bodyPr wrap="square" lIns="0" tIns="0" rIns="0" bIns="0" rtlCol="0" anchor="ctr"/>
          <a:lstStyle/>
          <a:p>
            <a:pPr indent="0" marL="0">
              <a:buNone/>
            </a:pPr>
            <a:r>
              <a:rPr lang="en-US" sz="900" b="1" dirty="0">
                <a:solidFill>
                  <a:srgbClr val="00D4AA"/>
                </a:solidFill>
                <a:latin typeface="Arial" pitchFamily="34" charset="0"/>
                <a:ea typeface="Arial" pitchFamily="34" charset="-122"/>
                <a:cs typeface="Arial" pitchFamily="34" charset="-120"/>
              </a:rPr>
              <a:t xml:space="preserve">→ </a:t>
            </a:r>
            <a:pPr indent="0" marL="0">
              <a:buNone/>
            </a:pPr>
            <a:r>
              <a:rPr lang="en-US" sz="900" dirty="0">
                <a:solidFill>
                  <a:srgbClr val="C8C8D8"/>
                </a:solidFill>
                <a:latin typeface="Arial" pitchFamily="34" charset="0"/>
                <a:ea typeface="Arial" pitchFamily="34" charset="-122"/>
                <a:cs typeface="Arial" pitchFamily="34" charset="-120"/>
              </a:rPr>
              <a:t>SOMA framework + automated eval</a:t>
            </a:r>
            <a:endParaRPr lang="en-US" sz="900" dirty="0"/>
          </a:p>
        </p:txBody>
      </p:sp>
      <p:sp>
        <p:nvSpPr>
          <p:cNvPr id="51" name="Text 49"/>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1200" b="1" i="1" dirty="0">
                <a:solidFill>
                  <a:srgbClr val="E91E8C"/>
                </a:solidFill>
                <a:latin typeface="Arial" pitchFamily="34" charset="0"/>
                <a:ea typeface="Arial" pitchFamily="34" charset="-122"/>
                <a:cs typeface="Arial" pitchFamily="34" charset="-120"/>
              </a:rPr>
              <a:t>Start at the top. Move down ONLY when the simpler approach isn't enough.</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2743200" y="914400"/>
            <a:ext cx="5486400" cy="5486400"/>
          </a:xfrm>
          <a:prstGeom prst="ellipse">
            <a:avLst/>
          </a:prstGeom>
          <a:solidFill>
            <a:srgbClr val="FF3DAB">
              <a:alpha val="8000"/>
            </a:srgbClr>
          </a:solidFill>
          <a:ln/>
        </p:spPr>
      </p:sp>
      <p:sp>
        <p:nvSpPr>
          <p:cNvPr id="3" name="Shape 1"/>
          <p:cNvSpPr/>
          <p:nvPr/>
        </p:nvSpPr>
        <p:spPr>
          <a:xfrm>
            <a:off x="4572000" y="-1828800"/>
            <a:ext cx="4572000" cy="4572000"/>
          </a:xfrm>
          <a:prstGeom prst="ellipse">
            <a:avLst/>
          </a:prstGeom>
          <a:solidFill>
            <a:srgbClr val="4A9FFF">
              <a:alpha val="7000"/>
            </a:srgbClr>
          </a:solidFill>
          <a:ln/>
        </p:spPr>
      </p:sp>
      <p:sp>
        <p:nvSpPr>
          <p:cNvPr id="4" name="Shape 2"/>
          <p:cNvSpPr/>
          <p:nvPr/>
        </p:nvSpPr>
        <p:spPr>
          <a:xfrm>
            <a:off x="731520" y="1645920"/>
            <a:ext cx="731520" cy="54864"/>
          </a:xfrm>
          <a:prstGeom prst="rect">
            <a:avLst/>
          </a:prstGeom>
          <a:solidFill>
            <a:srgbClr val="E91E8C"/>
          </a:solidFill>
          <a:ln/>
        </p:spPr>
      </p:sp>
      <p:sp>
        <p:nvSpPr>
          <p:cNvPr id="5" name="Text 3"/>
          <p:cNvSpPr/>
          <p:nvPr/>
        </p:nvSpPr>
        <p:spPr>
          <a:xfrm>
            <a:off x="731520" y="1828800"/>
            <a:ext cx="7315200" cy="640080"/>
          </a:xfrm>
          <a:prstGeom prst="rect">
            <a:avLst/>
          </a:prstGeom>
          <a:noFill/>
          <a:ln/>
        </p:spPr>
        <p:txBody>
          <a:bodyPr wrap="square" lIns="0" tIns="0" rIns="0" bIns="0" rtlCol="0" anchor="ctr"/>
          <a:lstStyle/>
          <a:p>
            <a:pPr indent="0" marL="0">
              <a:buNone/>
            </a:pPr>
            <a:r>
              <a:rPr lang="en-US" sz="1800" spc="600" kern="0" dirty="0">
                <a:solidFill>
                  <a:srgbClr val="E91E8C"/>
                </a:solidFill>
                <a:latin typeface="Arial" pitchFamily="34" charset="0"/>
                <a:ea typeface="Arial" pitchFamily="34" charset="-122"/>
                <a:cs typeface="Arial" pitchFamily="34" charset="-120"/>
              </a:rPr>
              <a:t>Part 4</a:t>
            </a:r>
            <a:endParaRPr lang="en-US" sz="1800" dirty="0"/>
          </a:p>
        </p:txBody>
      </p:sp>
      <p:sp>
        <p:nvSpPr>
          <p:cNvPr id="6" name="Text 4"/>
          <p:cNvSpPr/>
          <p:nvPr/>
        </p:nvSpPr>
        <p:spPr>
          <a:xfrm>
            <a:off x="731520" y="2377440"/>
            <a:ext cx="7315200" cy="1371600"/>
          </a:xfrm>
          <a:prstGeom prst="rect">
            <a:avLst/>
          </a:prstGeom>
          <a:noFill/>
          <a:ln/>
        </p:spPr>
        <p:txBody>
          <a:bodyPr wrap="square" lIns="0" tIns="0" rIns="0" bIns="0" rtlCol="0" anchor="ctr"/>
          <a:lstStyle/>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Practice &amp;</a:t>
            </a:r>
            <a:endParaRPr lang="en-US" sz="4200" dirty="0"/>
          </a:p>
          <a:p>
            <a:pPr indent="0" marL="0">
              <a:lnSpc>
                <a:spcPct val="95000"/>
              </a:lnSpc>
              <a:buNone/>
            </a:pPr>
            <a:r>
              <a:rPr lang="en-US" sz="4200" dirty="0">
                <a:solidFill>
                  <a:srgbClr val="FFFFFF"/>
                </a:solidFill>
                <a:latin typeface="Arial Black" pitchFamily="34" charset="0"/>
                <a:ea typeface="Arial Black" pitchFamily="34" charset="-122"/>
                <a:cs typeface="Arial Black" pitchFamily="34" charset="-120"/>
              </a:rPr>
              <a:t>Evaluation</a:t>
            </a:r>
            <a:endParaRPr lang="en-US" sz="4200" dirty="0"/>
          </a:p>
        </p:txBody>
      </p:sp>
      <p:sp>
        <p:nvSpPr>
          <p:cNvPr id="7" name="Text 5"/>
          <p:cNvSpPr/>
          <p:nvPr/>
        </p:nvSpPr>
        <p:spPr>
          <a:xfrm>
            <a:off x="731520" y="3840480"/>
            <a:ext cx="7315200" cy="457200"/>
          </a:xfrm>
          <a:prstGeom prst="rect">
            <a:avLst/>
          </a:prstGeom>
          <a:noFill/>
          <a:ln/>
        </p:spPr>
        <p:txBody>
          <a:bodyPr wrap="square" lIns="0" tIns="0" rIns="0" bIns="0" rtlCol="0" anchor="ctr"/>
          <a:lstStyle/>
          <a:p>
            <a:pPr indent="0" marL="0">
              <a:buNone/>
            </a:pPr>
            <a:r>
              <a:rPr lang="en-US" sz="1400" i="1" dirty="0">
                <a:solidFill>
                  <a:srgbClr val="9B9BB0"/>
                </a:solidFill>
                <a:latin typeface="Arial" pitchFamily="34" charset="0"/>
                <a:ea typeface="Arial" pitchFamily="34" charset="-122"/>
                <a:cs typeface="Arial" pitchFamily="34" charset="-120"/>
              </a:rPr>
              <a:t>Common pitfalls, real rewrites, iteration, SOMA framework, and prompt templates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Common pitfalls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Mistakes we see all the time (and how to fix them)</a:t>
            </a:r>
            <a:endParaRPr lang="en-US" sz="1100" dirty="0"/>
          </a:p>
        </p:txBody>
      </p:sp>
      <p:sp>
        <p:nvSpPr>
          <p:cNvPr id="5" name="Shape 3"/>
          <p:cNvSpPr/>
          <p:nvPr/>
        </p:nvSpPr>
        <p:spPr>
          <a:xfrm>
            <a:off x="457200" y="1051560"/>
            <a:ext cx="8229600" cy="6400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6" name="Shape 4"/>
          <p:cNvSpPr/>
          <p:nvPr/>
        </p:nvSpPr>
        <p:spPr>
          <a:xfrm>
            <a:off x="457200" y="1051560"/>
            <a:ext cx="54864" cy="640080"/>
          </a:xfrm>
          <a:prstGeom prst="rect">
            <a:avLst/>
          </a:prstGeom>
          <a:solidFill>
            <a:srgbClr val="E91E8C"/>
          </a:solidFill>
          <a:ln/>
        </p:spPr>
      </p:sp>
      <p:sp>
        <p:nvSpPr>
          <p:cNvPr id="7" name="Text 5"/>
          <p:cNvSpPr/>
          <p:nvPr/>
        </p:nvSpPr>
        <p:spPr>
          <a:xfrm>
            <a:off x="731520" y="1097280"/>
            <a:ext cx="2286000" cy="548640"/>
          </a:xfrm>
          <a:prstGeom prst="rect">
            <a:avLst/>
          </a:prstGeom>
          <a:noFill/>
          <a:ln/>
        </p:spPr>
        <p:txBody>
          <a:bodyPr wrap="square" lIns="0" tIns="0" rIns="0" bIns="0" rtlCol="0" anchor="ctr"/>
          <a:lstStyle/>
          <a:p>
            <a:pPr indent="0" marL="0">
              <a:buNone/>
            </a:pPr>
            <a:r>
              <a:rPr lang="en-US" sz="1400" b="1" dirty="0">
                <a:solidFill>
                  <a:srgbClr val="E91E8C"/>
                </a:solidFill>
                <a:latin typeface="Arial" pitchFamily="34" charset="0"/>
                <a:ea typeface="Arial" pitchFamily="34" charset="-122"/>
                <a:cs typeface="Arial" pitchFamily="34" charset="-120"/>
              </a:rPr>
              <a:t>Being too vague</a:t>
            </a:r>
            <a:endParaRPr lang="en-US" sz="1400" dirty="0"/>
          </a:p>
        </p:txBody>
      </p:sp>
      <p:sp>
        <p:nvSpPr>
          <p:cNvPr id="8" name="Text 6"/>
          <p:cNvSpPr/>
          <p:nvPr/>
        </p:nvSpPr>
        <p:spPr>
          <a:xfrm>
            <a:off x="3017520" y="1097280"/>
            <a:ext cx="5486400" cy="54864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Add specifics: who, what, how many, what format, for whom</a:t>
            </a:r>
            <a:endParaRPr lang="en-US" sz="1200" dirty="0"/>
          </a:p>
        </p:txBody>
      </p:sp>
      <p:sp>
        <p:nvSpPr>
          <p:cNvPr id="9" name="Shape 7"/>
          <p:cNvSpPr/>
          <p:nvPr/>
        </p:nvSpPr>
        <p:spPr>
          <a:xfrm>
            <a:off x="457200" y="1801368"/>
            <a:ext cx="8229600" cy="6400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0" name="Shape 8"/>
          <p:cNvSpPr/>
          <p:nvPr/>
        </p:nvSpPr>
        <p:spPr>
          <a:xfrm>
            <a:off x="457200" y="1801368"/>
            <a:ext cx="54864" cy="640080"/>
          </a:xfrm>
          <a:prstGeom prst="rect">
            <a:avLst/>
          </a:prstGeom>
          <a:solidFill>
            <a:srgbClr val="4A9FFF"/>
          </a:solidFill>
          <a:ln/>
        </p:spPr>
      </p:sp>
      <p:sp>
        <p:nvSpPr>
          <p:cNvPr id="11" name="Text 9"/>
          <p:cNvSpPr/>
          <p:nvPr/>
        </p:nvSpPr>
        <p:spPr>
          <a:xfrm>
            <a:off x="731520" y="1847088"/>
            <a:ext cx="2286000" cy="548640"/>
          </a:xfrm>
          <a:prstGeom prst="rect">
            <a:avLst/>
          </a:prstGeom>
          <a:noFill/>
          <a:ln/>
        </p:spPr>
        <p:txBody>
          <a:bodyPr wrap="square" lIns="0" tIns="0" rIns="0" bIns="0" rtlCol="0" anchor="ctr"/>
          <a:lstStyle/>
          <a:p>
            <a:pPr indent="0" marL="0">
              <a:buNone/>
            </a:pPr>
            <a:r>
              <a:rPr lang="en-US" sz="1400" b="1" dirty="0">
                <a:solidFill>
                  <a:srgbClr val="4A9FFF"/>
                </a:solidFill>
                <a:latin typeface="Arial" pitchFamily="34" charset="0"/>
                <a:ea typeface="Arial" pitchFamily="34" charset="-122"/>
                <a:cs typeface="Arial" pitchFamily="34" charset="-120"/>
              </a:rPr>
              <a:t>Negative instructions</a:t>
            </a:r>
            <a:endParaRPr lang="en-US" sz="1400" dirty="0"/>
          </a:p>
        </p:txBody>
      </p:sp>
      <p:sp>
        <p:nvSpPr>
          <p:cNvPr id="12" name="Text 10"/>
          <p:cNvSpPr/>
          <p:nvPr/>
        </p:nvSpPr>
        <p:spPr>
          <a:xfrm>
            <a:off x="3017520" y="1847088"/>
            <a:ext cx="5486400" cy="54864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Say what TO do, not what NOT to do. "Be concise" beats "Don't be long"</a:t>
            </a:r>
            <a:endParaRPr lang="en-US" sz="1200" dirty="0"/>
          </a:p>
        </p:txBody>
      </p:sp>
      <p:sp>
        <p:nvSpPr>
          <p:cNvPr id="13" name="Shape 11"/>
          <p:cNvSpPr/>
          <p:nvPr/>
        </p:nvSpPr>
        <p:spPr>
          <a:xfrm>
            <a:off x="457200" y="2551176"/>
            <a:ext cx="8229600" cy="6400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4" name="Shape 12"/>
          <p:cNvSpPr/>
          <p:nvPr/>
        </p:nvSpPr>
        <p:spPr>
          <a:xfrm>
            <a:off x="457200" y="2551176"/>
            <a:ext cx="54864" cy="640080"/>
          </a:xfrm>
          <a:prstGeom prst="rect">
            <a:avLst/>
          </a:prstGeom>
          <a:solidFill>
            <a:srgbClr val="00D4AA"/>
          </a:solidFill>
          <a:ln/>
        </p:spPr>
      </p:sp>
      <p:sp>
        <p:nvSpPr>
          <p:cNvPr id="15" name="Text 13"/>
          <p:cNvSpPr/>
          <p:nvPr/>
        </p:nvSpPr>
        <p:spPr>
          <a:xfrm>
            <a:off x="731520" y="2596896"/>
            <a:ext cx="2286000" cy="548640"/>
          </a:xfrm>
          <a:prstGeom prst="rect">
            <a:avLst/>
          </a:prstGeom>
          <a:noFill/>
          <a:ln/>
        </p:spPr>
        <p:txBody>
          <a:bodyPr wrap="square" lIns="0" tIns="0" rIns="0" bIns="0" rtlCol="0" anchor="ctr"/>
          <a:lstStyle/>
          <a:p>
            <a:pPr indent="0" marL="0">
              <a:buNone/>
            </a:pPr>
            <a:r>
              <a:rPr lang="en-US" sz="1400" b="1" dirty="0">
                <a:solidFill>
                  <a:srgbClr val="00D4AA"/>
                </a:solidFill>
                <a:latin typeface="Arial" pitchFamily="34" charset="0"/>
                <a:ea typeface="Arial" pitchFamily="34" charset="-122"/>
                <a:cs typeface="Arial" pitchFamily="34" charset="-120"/>
              </a:rPr>
              <a:t>Monolithic prompts</a:t>
            </a:r>
            <a:endParaRPr lang="en-US" sz="1400" dirty="0"/>
          </a:p>
        </p:txBody>
      </p:sp>
      <p:sp>
        <p:nvSpPr>
          <p:cNvPr id="16" name="Text 14"/>
          <p:cNvSpPr/>
          <p:nvPr/>
        </p:nvSpPr>
        <p:spPr>
          <a:xfrm>
            <a:off x="3017520" y="2596896"/>
            <a:ext cx="5486400" cy="54864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Break into steps. Complex tasks need sequential, focused prompts</a:t>
            </a:r>
            <a:endParaRPr lang="en-US" sz="1200" dirty="0"/>
          </a:p>
        </p:txBody>
      </p:sp>
      <p:sp>
        <p:nvSpPr>
          <p:cNvPr id="17" name="Shape 15"/>
          <p:cNvSpPr/>
          <p:nvPr/>
        </p:nvSpPr>
        <p:spPr>
          <a:xfrm>
            <a:off x="457200" y="3300984"/>
            <a:ext cx="8229600" cy="6400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8" name="Shape 16"/>
          <p:cNvSpPr/>
          <p:nvPr/>
        </p:nvSpPr>
        <p:spPr>
          <a:xfrm>
            <a:off x="457200" y="3300984"/>
            <a:ext cx="54864" cy="640080"/>
          </a:xfrm>
          <a:prstGeom prst="rect">
            <a:avLst/>
          </a:prstGeom>
          <a:solidFill>
            <a:srgbClr val="FF3DAB"/>
          </a:solidFill>
          <a:ln/>
        </p:spPr>
      </p:sp>
      <p:sp>
        <p:nvSpPr>
          <p:cNvPr id="19" name="Text 17"/>
          <p:cNvSpPr/>
          <p:nvPr/>
        </p:nvSpPr>
        <p:spPr>
          <a:xfrm>
            <a:off x="731520" y="3346704"/>
            <a:ext cx="2286000" cy="548640"/>
          </a:xfrm>
          <a:prstGeom prst="rect">
            <a:avLst/>
          </a:prstGeom>
          <a:noFill/>
          <a:ln/>
        </p:spPr>
        <p:txBody>
          <a:bodyPr wrap="square" lIns="0" tIns="0" rIns="0" bIns="0" rtlCol="0" anchor="ctr"/>
          <a:lstStyle/>
          <a:p>
            <a:pPr indent="0" marL="0">
              <a:buNone/>
            </a:pPr>
            <a:r>
              <a:rPr lang="en-US" sz="1400" b="1" dirty="0">
                <a:solidFill>
                  <a:srgbClr val="FF3DAB"/>
                </a:solidFill>
                <a:latin typeface="Arial" pitchFamily="34" charset="0"/>
                <a:ea typeface="Arial" pitchFamily="34" charset="-122"/>
                <a:cs typeface="Arial" pitchFamily="34" charset="-120"/>
              </a:rPr>
              <a:t>Ignoring hallucinations</a:t>
            </a:r>
            <a:endParaRPr lang="en-US" sz="1400" dirty="0"/>
          </a:p>
        </p:txBody>
      </p:sp>
      <p:sp>
        <p:nvSpPr>
          <p:cNvPr id="20" name="Text 18"/>
          <p:cNvSpPr/>
          <p:nvPr/>
        </p:nvSpPr>
        <p:spPr>
          <a:xfrm>
            <a:off x="3017520" y="3346704"/>
            <a:ext cx="5486400" cy="54864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Ask for sources. Add "If unsure, say so" to reduce fabrication</a:t>
            </a:r>
            <a:endParaRPr lang="en-US" sz="1200" dirty="0"/>
          </a:p>
        </p:txBody>
      </p:sp>
      <p:sp>
        <p:nvSpPr>
          <p:cNvPr id="21" name="Shape 19"/>
          <p:cNvSpPr/>
          <p:nvPr/>
        </p:nvSpPr>
        <p:spPr>
          <a:xfrm>
            <a:off x="457200" y="4050792"/>
            <a:ext cx="8229600" cy="6400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2" name="Shape 20"/>
          <p:cNvSpPr/>
          <p:nvPr/>
        </p:nvSpPr>
        <p:spPr>
          <a:xfrm>
            <a:off x="457200" y="4050792"/>
            <a:ext cx="54864" cy="640080"/>
          </a:xfrm>
          <a:prstGeom prst="rect">
            <a:avLst/>
          </a:prstGeom>
          <a:solidFill>
            <a:srgbClr val="FFB347"/>
          </a:solidFill>
          <a:ln/>
        </p:spPr>
      </p:sp>
      <p:sp>
        <p:nvSpPr>
          <p:cNvPr id="23" name="Text 21"/>
          <p:cNvSpPr/>
          <p:nvPr/>
        </p:nvSpPr>
        <p:spPr>
          <a:xfrm>
            <a:off x="731520" y="4096512"/>
            <a:ext cx="2286000" cy="548640"/>
          </a:xfrm>
          <a:prstGeom prst="rect">
            <a:avLst/>
          </a:prstGeom>
          <a:noFill/>
          <a:ln/>
        </p:spPr>
        <p:txBody>
          <a:bodyPr wrap="square" lIns="0" tIns="0" rIns="0" bIns="0" rtlCol="0" anchor="ctr"/>
          <a:lstStyle/>
          <a:p>
            <a:pPr indent="0" marL="0">
              <a:buNone/>
            </a:pPr>
            <a:r>
              <a:rPr lang="en-US" sz="1400" b="1" dirty="0">
                <a:solidFill>
                  <a:srgbClr val="FFB347"/>
                </a:solidFill>
                <a:latin typeface="Arial" pitchFamily="34" charset="0"/>
                <a:ea typeface="Arial" pitchFamily="34" charset="-122"/>
                <a:cs typeface="Arial" pitchFamily="34" charset="-120"/>
              </a:rPr>
              <a:t>Not iterating</a:t>
            </a:r>
            <a:endParaRPr lang="en-US" sz="1400" dirty="0"/>
          </a:p>
        </p:txBody>
      </p:sp>
      <p:sp>
        <p:nvSpPr>
          <p:cNvPr id="24" name="Text 22"/>
          <p:cNvSpPr/>
          <p:nvPr/>
        </p:nvSpPr>
        <p:spPr>
          <a:xfrm>
            <a:off x="3017520" y="4096512"/>
            <a:ext cx="5486400" cy="548640"/>
          </a:xfrm>
          <a:prstGeom prst="rect">
            <a:avLst/>
          </a:prstGeom>
          <a:noFill/>
          <a:ln/>
        </p:spPr>
        <p:txBody>
          <a:bodyPr wrap="square" lIns="0" tIns="0" rIns="0" bIns="0" rtlCol="0" anchor="ctr"/>
          <a:lstStyle/>
          <a:p>
            <a:pPr indent="0" marL="0">
              <a:buNone/>
            </a:pPr>
            <a:r>
              <a:rPr lang="en-US" sz="1200" dirty="0">
                <a:solidFill>
                  <a:srgbClr val="C8C8D8"/>
                </a:solidFill>
                <a:latin typeface="Arial" pitchFamily="34" charset="0"/>
                <a:ea typeface="Arial" pitchFamily="34" charset="-122"/>
                <a:cs typeface="Arial" pitchFamily="34" charset="-120"/>
              </a:rPr>
              <a:t>First prompt rarely perfect. Refine based on what you get back</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Pitfalls in practice: real rewrites</a:t>
            </a:r>
            <a:endParaRPr lang="en-US" sz="2800" dirty="0"/>
          </a:p>
        </p:txBody>
      </p:sp>
      <p:sp>
        <p:nvSpPr>
          <p:cNvPr id="4" name="Shape 2"/>
          <p:cNvSpPr/>
          <p:nvPr/>
        </p:nvSpPr>
        <p:spPr>
          <a:xfrm>
            <a:off x="457200" y="914400"/>
            <a:ext cx="822960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5" name="Shape 3"/>
          <p:cNvSpPr/>
          <p:nvPr/>
        </p:nvSpPr>
        <p:spPr>
          <a:xfrm>
            <a:off x="457200" y="914400"/>
            <a:ext cx="54864" cy="1188720"/>
          </a:xfrm>
          <a:prstGeom prst="rect">
            <a:avLst/>
          </a:prstGeom>
          <a:solidFill>
            <a:srgbClr val="E91E8C"/>
          </a:solidFill>
          <a:ln/>
        </p:spPr>
      </p:sp>
      <p:sp>
        <p:nvSpPr>
          <p:cNvPr id="6" name="Text 4"/>
          <p:cNvSpPr/>
          <p:nvPr/>
        </p:nvSpPr>
        <p:spPr>
          <a:xfrm>
            <a:off x="731520" y="969264"/>
            <a:ext cx="7680960" cy="22860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Too vague → Specific</a:t>
            </a:r>
            <a:endParaRPr lang="en-US" sz="1300" dirty="0"/>
          </a:p>
        </p:txBody>
      </p:sp>
      <p:sp>
        <p:nvSpPr>
          <p:cNvPr id="7" name="Shape 5"/>
          <p:cNvSpPr/>
          <p:nvPr/>
        </p:nvSpPr>
        <p:spPr>
          <a:xfrm>
            <a:off x="731520" y="1234440"/>
            <a:ext cx="7680960" cy="347472"/>
          </a:xfrm>
          <a:prstGeom prst="rect">
            <a:avLst/>
          </a:prstGeom>
          <a:solidFill>
            <a:srgbClr val="1A0D0D"/>
          </a:solidFill>
          <a:ln/>
        </p:spPr>
      </p:sp>
      <p:sp>
        <p:nvSpPr>
          <p:cNvPr id="8" name="Text 6"/>
          <p:cNvSpPr/>
          <p:nvPr/>
        </p:nvSpPr>
        <p:spPr>
          <a:xfrm>
            <a:off x="822960" y="1234440"/>
            <a:ext cx="7498080" cy="347472"/>
          </a:xfrm>
          <a:prstGeom prst="rect">
            <a:avLst/>
          </a:prstGeom>
          <a:noFill/>
          <a:ln/>
        </p:spPr>
        <p:txBody>
          <a:bodyPr wrap="square" lIns="0" tIns="0" rIns="0" bIns="0" rtlCol="0" anchor="ctr"/>
          <a:lstStyle/>
          <a:p>
            <a:pPr indent="0" marL="0">
              <a:buNone/>
            </a:pPr>
            <a:r>
              <a:rPr lang="en-US" sz="1000" b="1" dirty="0">
                <a:solidFill>
                  <a:srgbClr val="FF4444"/>
                </a:solidFill>
                <a:latin typeface="Consolas" pitchFamily="34" charset="0"/>
                <a:ea typeface="Consolas" pitchFamily="34" charset="-122"/>
                <a:cs typeface="Consolas" pitchFamily="34" charset="-120"/>
              </a:rPr>
              <a:t xml:space="preserve">✗  </a:t>
            </a:r>
            <a:pPr indent="0" marL="0">
              <a:buNone/>
            </a:pPr>
            <a:r>
              <a:rPr lang="en-US" sz="1000" dirty="0">
                <a:solidFill>
                  <a:srgbClr val="9B9BB0"/>
                </a:solidFill>
                <a:latin typeface="Consolas" pitchFamily="34" charset="0"/>
                <a:ea typeface="Consolas" pitchFamily="34" charset="-122"/>
                <a:cs typeface="Consolas" pitchFamily="34" charset="-120"/>
              </a:rPr>
              <a:t>"Summarize these meeting notes"</a:t>
            </a:r>
            <a:endParaRPr lang="en-US" sz="1000" dirty="0"/>
          </a:p>
        </p:txBody>
      </p:sp>
      <p:sp>
        <p:nvSpPr>
          <p:cNvPr id="9" name="Shape 7"/>
          <p:cNvSpPr/>
          <p:nvPr/>
        </p:nvSpPr>
        <p:spPr>
          <a:xfrm>
            <a:off x="731520" y="1627632"/>
            <a:ext cx="7680960" cy="365760"/>
          </a:xfrm>
          <a:prstGeom prst="rect">
            <a:avLst/>
          </a:prstGeom>
          <a:solidFill>
            <a:srgbClr val="0D1A18"/>
          </a:solidFill>
          <a:ln/>
        </p:spPr>
      </p:sp>
      <p:sp>
        <p:nvSpPr>
          <p:cNvPr id="10" name="Text 8"/>
          <p:cNvSpPr/>
          <p:nvPr/>
        </p:nvSpPr>
        <p:spPr>
          <a:xfrm>
            <a:off x="822960" y="1645920"/>
            <a:ext cx="7498080" cy="329184"/>
          </a:xfrm>
          <a:prstGeom prst="rect">
            <a:avLst/>
          </a:prstGeom>
          <a:noFill/>
          <a:ln/>
        </p:spPr>
        <p:txBody>
          <a:bodyPr wrap="square" lIns="0" tIns="0" rIns="0" bIns="0" rtlCol="0" anchor="ctr"/>
          <a:lstStyle/>
          <a:p>
            <a:pPr indent="0" marL="0">
              <a:buNone/>
            </a:pPr>
            <a:r>
              <a:rPr lang="en-US" sz="1000" b="1" dirty="0">
                <a:solidFill>
                  <a:srgbClr val="00D4AA"/>
                </a:solidFill>
                <a:latin typeface="Consolas" pitchFamily="34" charset="0"/>
                <a:ea typeface="Consolas" pitchFamily="34" charset="-122"/>
                <a:cs typeface="Consolas" pitchFamily="34" charset="-120"/>
              </a:rPr>
              <a:t xml:space="preserve">✓  </a:t>
            </a:r>
            <a:pPr indent="0" marL="0">
              <a:buNone/>
            </a:pPr>
            <a:r>
              <a:rPr lang="en-US" sz="1000" dirty="0">
                <a:solidFill>
                  <a:srgbClr val="C8C8D8"/>
                </a:solidFill>
                <a:latin typeface="Consolas" pitchFamily="34" charset="0"/>
                <a:ea typeface="Consolas" pitchFamily="34" charset="-122"/>
                <a:cs typeface="Consolas" pitchFamily="34" charset="-120"/>
              </a:rPr>
              <a:t>"Extract: (1) key decisions, (2) action items with owners, (3) open questions. Max 150 words."</a:t>
            </a:r>
            <a:endParaRPr lang="en-US" sz="1000" dirty="0"/>
          </a:p>
        </p:txBody>
      </p:sp>
      <p:sp>
        <p:nvSpPr>
          <p:cNvPr id="11" name="Shape 9"/>
          <p:cNvSpPr/>
          <p:nvPr/>
        </p:nvSpPr>
        <p:spPr>
          <a:xfrm>
            <a:off x="457200" y="2240280"/>
            <a:ext cx="822960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2" name="Shape 10"/>
          <p:cNvSpPr/>
          <p:nvPr/>
        </p:nvSpPr>
        <p:spPr>
          <a:xfrm>
            <a:off x="457200" y="2240280"/>
            <a:ext cx="54864" cy="1188720"/>
          </a:xfrm>
          <a:prstGeom prst="rect">
            <a:avLst/>
          </a:prstGeom>
          <a:solidFill>
            <a:srgbClr val="4A9FFF"/>
          </a:solidFill>
          <a:ln/>
        </p:spPr>
      </p:sp>
      <p:sp>
        <p:nvSpPr>
          <p:cNvPr id="13" name="Text 11"/>
          <p:cNvSpPr/>
          <p:nvPr/>
        </p:nvSpPr>
        <p:spPr>
          <a:xfrm>
            <a:off x="731520" y="2295144"/>
            <a:ext cx="7680960" cy="22860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Negative → Positive</a:t>
            </a:r>
            <a:endParaRPr lang="en-US" sz="1300" dirty="0"/>
          </a:p>
        </p:txBody>
      </p:sp>
      <p:sp>
        <p:nvSpPr>
          <p:cNvPr id="14" name="Shape 12"/>
          <p:cNvSpPr/>
          <p:nvPr/>
        </p:nvSpPr>
        <p:spPr>
          <a:xfrm>
            <a:off x="731520" y="2560320"/>
            <a:ext cx="7680960" cy="347472"/>
          </a:xfrm>
          <a:prstGeom prst="rect">
            <a:avLst/>
          </a:prstGeom>
          <a:solidFill>
            <a:srgbClr val="1A0D0D"/>
          </a:solidFill>
          <a:ln/>
        </p:spPr>
      </p:sp>
      <p:sp>
        <p:nvSpPr>
          <p:cNvPr id="15" name="Text 13"/>
          <p:cNvSpPr/>
          <p:nvPr/>
        </p:nvSpPr>
        <p:spPr>
          <a:xfrm>
            <a:off x="822960" y="2560320"/>
            <a:ext cx="7498080" cy="347472"/>
          </a:xfrm>
          <a:prstGeom prst="rect">
            <a:avLst/>
          </a:prstGeom>
          <a:noFill/>
          <a:ln/>
        </p:spPr>
        <p:txBody>
          <a:bodyPr wrap="square" lIns="0" tIns="0" rIns="0" bIns="0" rtlCol="0" anchor="ctr"/>
          <a:lstStyle/>
          <a:p>
            <a:pPr indent="0" marL="0">
              <a:buNone/>
            </a:pPr>
            <a:r>
              <a:rPr lang="en-US" sz="1000" b="1" dirty="0">
                <a:solidFill>
                  <a:srgbClr val="FF4444"/>
                </a:solidFill>
                <a:latin typeface="Consolas" pitchFamily="34" charset="0"/>
                <a:ea typeface="Consolas" pitchFamily="34" charset="-122"/>
                <a:cs typeface="Consolas" pitchFamily="34" charset="-120"/>
              </a:rPr>
              <a:t xml:space="preserve">✗  </a:t>
            </a:r>
            <a:pPr indent="0" marL="0">
              <a:buNone/>
            </a:pPr>
            <a:r>
              <a:rPr lang="en-US" sz="1000" dirty="0">
                <a:solidFill>
                  <a:srgbClr val="9B9BB0"/>
                </a:solidFill>
                <a:latin typeface="Consolas" pitchFamily="34" charset="0"/>
                <a:ea typeface="Consolas" pitchFamily="34" charset="-122"/>
                <a:cs typeface="Consolas" pitchFamily="34" charset="-120"/>
              </a:rPr>
              <a:t>"Don't be too technical and don't use jargon"</a:t>
            </a:r>
            <a:endParaRPr lang="en-US" sz="1000" dirty="0"/>
          </a:p>
        </p:txBody>
      </p:sp>
      <p:sp>
        <p:nvSpPr>
          <p:cNvPr id="16" name="Shape 14"/>
          <p:cNvSpPr/>
          <p:nvPr/>
        </p:nvSpPr>
        <p:spPr>
          <a:xfrm>
            <a:off x="731520" y="2953512"/>
            <a:ext cx="7680960" cy="365760"/>
          </a:xfrm>
          <a:prstGeom prst="rect">
            <a:avLst/>
          </a:prstGeom>
          <a:solidFill>
            <a:srgbClr val="0D1A18"/>
          </a:solidFill>
          <a:ln/>
        </p:spPr>
      </p:sp>
      <p:sp>
        <p:nvSpPr>
          <p:cNvPr id="17" name="Text 15"/>
          <p:cNvSpPr/>
          <p:nvPr/>
        </p:nvSpPr>
        <p:spPr>
          <a:xfrm>
            <a:off x="822960" y="2971800"/>
            <a:ext cx="7498080" cy="329184"/>
          </a:xfrm>
          <a:prstGeom prst="rect">
            <a:avLst/>
          </a:prstGeom>
          <a:noFill/>
          <a:ln/>
        </p:spPr>
        <p:txBody>
          <a:bodyPr wrap="square" lIns="0" tIns="0" rIns="0" bIns="0" rtlCol="0" anchor="ctr"/>
          <a:lstStyle/>
          <a:p>
            <a:pPr indent="0" marL="0">
              <a:buNone/>
            </a:pPr>
            <a:r>
              <a:rPr lang="en-US" sz="1000" b="1" dirty="0">
                <a:solidFill>
                  <a:srgbClr val="00D4AA"/>
                </a:solidFill>
                <a:latin typeface="Consolas" pitchFamily="34" charset="0"/>
                <a:ea typeface="Consolas" pitchFamily="34" charset="-122"/>
                <a:cs typeface="Consolas" pitchFamily="34" charset="-120"/>
              </a:rPr>
              <a:t xml:space="preserve">✓  </a:t>
            </a:r>
            <a:pPr indent="0" marL="0">
              <a:buNone/>
            </a:pPr>
            <a:r>
              <a:rPr lang="en-US" sz="1000" dirty="0">
                <a:solidFill>
                  <a:srgbClr val="C8C8D8"/>
                </a:solidFill>
                <a:latin typeface="Consolas" pitchFamily="34" charset="0"/>
                <a:ea typeface="Consolas" pitchFamily="34" charset="-122"/>
                <a:cs typeface="Consolas" pitchFamily="34" charset="-120"/>
              </a:rPr>
              <a:t>"Explain at high school level. Everyday analogies. Under 100 words."</a:t>
            </a:r>
            <a:endParaRPr lang="en-US" sz="1000" dirty="0"/>
          </a:p>
        </p:txBody>
      </p:sp>
      <p:sp>
        <p:nvSpPr>
          <p:cNvPr id="18" name="Shape 16"/>
          <p:cNvSpPr/>
          <p:nvPr/>
        </p:nvSpPr>
        <p:spPr>
          <a:xfrm>
            <a:off x="457200" y="3566160"/>
            <a:ext cx="8229600" cy="118872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9" name="Shape 17"/>
          <p:cNvSpPr/>
          <p:nvPr/>
        </p:nvSpPr>
        <p:spPr>
          <a:xfrm>
            <a:off x="457200" y="3566160"/>
            <a:ext cx="54864" cy="1188720"/>
          </a:xfrm>
          <a:prstGeom prst="rect">
            <a:avLst/>
          </a:prstGeom>
          <a:solidFill>
            <a:srgbClr val="00D4AA"/>
          </a:solidFill>
          <a:ln/>
        </p:spPr>
      </p:sp>
      <p:sp>
        <p:nvSpPr>
          <p:cNvPr id="20" name="Text 18"/>
          <p:cNvSpPr/>
          <p:nvPr/>
        </p:nvSpPr>
        <p:spPr>
          <a:xfrm>
            <a:off x="731520" y="3621024"/>
            <a:ext cx="7680960" cy="22860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Monolith → Chained</a:t>
            </a:r>
            <a:endParaRPr lang="en-US" sz="1300" dirty="0"/>
          </a:p>
        </p:txBody>
      </p:sp>
      <p:sp>
        <p:nvSpPr>
          <p:cNvPr id="21" name="Shape 19"/>
          <p:cNvSpPr/>
          <p:nvPr/>
        </p:nvSpPr>
        <p:spPr>
          <a:xfrm>
            <a:off x="731520" y="3886200"/>
            <a:ext cx="7680960" cy="347472"/>
          </a:xfrm>
          <a:prstGeom prst="rect">
            <a:avLst/>
          </a:prstGeom>
          <a:solidFill>
            <a:srgbClr val="1A0D0D"/>
          </a:solidFill>
          <a:ln/>
        </p:spPr>
      </p:sp>
      <p:sp>
        <p:nvSpPr>
          <p:cNvPr id="22" name="Text 20"/>
          <p:cNvSpPr/>
          <p:nvPr/>
        </p:nvSpPr>
        <p:spPr>
          <a:xfrm>
            <a:off x="822960" y="3886200"/>
            <a:ext cx="7498080" cy="347472"/>
          </a:xfrm>
          <a:prstGeom prst="rect">
            <a:avLst/>
          </a:prstGeom>
          <a:noFill/>
          <a:ln/>
        </p:spPr>
        <p:txBody>
          <a:bodyPr wrap="square" lIns="0" tIns="0" rIns="0" bIns="0" rtlCol="0" anchor="ctr"/>
          <a:lstStyle/>
          <a:p>
            <a:pPr indent="0" marL="0">
              <a:buNone/>
            </a:pPr>
            <a:r>
              <a:rPr lang="en-US" sz="1000" b="1" dirty="0">
                <a:solidFill>
                  <a:srgbClr val="FF4444"/>
                </a:solidFill>
                <a:latin typeface="Consolas" pitchFamily="34" charset="0"/>
                <a:ea typeface="Consolas" pitchFamily="34" charset="-122"/>
                <a:cs typeface="Consolas" pitchFamily="34" charset="-120"/>
              </a:rPr>
              <a:t xml:space="preserve">✗  </a:t>
            </a:r>
            <a:pPr indent="0" marL="0">
              <a:buNone/>
            </a:pPr>
            <a:r>
              <a:rPr lang="en-US" sz="1000" dirty="0">
                <a:solidFill>
                  <a:srgbClr val="9B9BB0"/>
                </a:solidFill>
                <a:latin typeface="Consolas" pitchFamily="34" charset="0"/>
                <a:ea typeface="Consolas" pitchFamily="34" charset="-122"/>
                <a:cs typeface="Consolas" pitchFamily="34" charset="-120"/>
              </a:rPr>
              <a:t>"Analyze Q3 sales, find trends, compare Q2, write report"</a:t>
            </a:r>
            <a:endParaRPr lang="en-US" sz="1000" dirty="0"/>
          </a:p>
        </p:txBody>
      </p:sp>
      <p:sp>
        <p:nvSpPr>
          <p:cNvPr id="23" name="Shape 21"/>
          <p:cNvSpPr/>
          <p:nvPr/>
        </p:nvSpPr>
        <p:spPr>
          <a:xfrm>
            <a:off x="731520" y="4279392"/>
            <a:ext cx="7680960" cy="365760"/>
          </a:xfrm>
          <a:prstGeom prst="rect">
            <a:avLst/>
          </a:prstGeom>
          <a:solidFill>
            <a:srgbClr val="0D1A18"/>
          </a:solidFill>
          <a:ln/>
        </p:spPr>
      </p:sp>
      <p:sp>
        <p:nvSpPr>
          <p:cNvPr id="24" name="Text 22"/>
          <p:cNvSpPr/>
          <p:nvPr/>
        </p:nvSpPr>
        <p:spPr>
          <a:xfrm>
            <a:off x="822960" y="4297680"/>
            <a:ext cx="7498080" cy="329184"/>
          </a:xfrm>
          <a:prstGeom prst="rect">
            <a:avLst/>
          </a:prstGeom>
          <a:noFill/>
          <a:ln/>
        </p:spPr>
        <p:txBody>
          <a:bodyPr wrap="square" lIns="0" tIns="0" rIns="0" bIns="0" rtlCol="0" anchor="ctr"/>
          <a:lstStyle/>
          <a:p>
            <a:pPr indent="0" marL="0">
              <a:buNone/>
            </a:pPr>
            <a:r>
              <a:rPr lang="en-US" sz="1000" b="1" dirty="0">
                <a:solidFill>
                  <a:srgbClr val="00D4AA"/>
                </a:solidFill>
                <a:latin typeface="Consolas" pitchFamily="34" charset="0"/>
                <a:ea typeface="Consolas" pitchFamily="34" charset="-122"/>
                <a:cs typeface="Consolas" pitchFamily="34" charset="-120"/>
              </a:rPr>
              <a:t xml:space="preserve">✓  </a:t>
            </a:r>
            <a:pPr indent="0" marL="0">
              <a:buNone/>
            </a:pPr>
            <a:r>
              <a:rPr lang="en-US" sz="1000" dirty="0">
                <a:solidFill>
                  <a:srgbClr val="C8C8D8"/>
                </a:solidFill>
                <a:latin typeface="Consolas" pitchFamily="34" charset="0"/>
                <a:ea typeface="Consolas" pitchFamily="34" charset="-122"/>
                <a:cs typeface="Consolas" pitchFamily="34" charset="-120"/>
              </a:rPr>
              <a:t>"Step 1: Top 5 by revenue. Step 2: Compare to Q2. Step 3: Biggest trend. Step 4: 3-sentence summary."</a:t>
            </a:r>
            <a:endParaRPr lang="en-US" sz="1000" dirty="0"/>
          </a:p>
        </p:txBody>
      </p:sp>
      <p:sp>
        <p:nvSpPr>
          <p:cNvPr id="25" name="Text 23"/>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Every rewrite adds specificity, structure, or decomposition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The iteration loop</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Nobody writes the perfect prompt on the first try</a:t>
            </a:r>
            <a:endParaRPr lang="en-US" sz="1100" dirty="0"/>
          </a:p>
        </p:txBody>
      </p:sp>
      <p:sp>
        <p:nvSpPr>
          <p:cNvPr id="5" name="Shape 3"/>
          <p:cNvSpPr/>
          <p:nvPr/>
        </p:nvSpPr>
        <p:spPr>
          <a:xfrm>
            <a:off x="457200" y="1005840"/>
            <a:ext cx="8229600" cy="10972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6" name="Shape 4"/>
          <p:cNvSpPr/>
          <p:nvPr/>
        </p:nvSpPr>
        <p:spPr>
          <a:xfrm>
            <a:off x="594360" y="1097280"/>
            <a:ext cx="411480" cy="411480"/>
          </a:xfrm>
          <a:prstGeom prst="ellipse">
            <a:avLst/>
          </a:prstGeom>
          <a:solidFill>
            <a:srgbClr val="E91E8C"/>
          </a:solidFill>
          <a:ln/>
        </p:spPr>
      </p:sp>
      <p:sp>
        <p:nvSpPr>
          <p:cNvPr id="7" name="Text 5"/>
          <p:cNvSpPr/>
          <p:nvPr/>
        </p:nvSpPr>
        <p:spPr>
          <a:xfrm>
            <a:off x="594360" y="1097280"/>
            <a:ext cx="411480" cy="41148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1188720" y="1051560"/>
            <a:ext cx="7223760" cy="365760"/>
          </a:xfrm>
          <a:prstGeom prst="rect">
            <a:avLst/>
          </a:prstGeom>
          <a:noFill/>
          <a:ln/>
        </p:spPr>
        <p:txBody>
          <a:bodyPr wrap="square" lIns="0" tIns="0" rIns="0" bIns="0" rtlCol="0" anchor="ctr"/>
          <a:lstStyle/>
          <a:p>
            <a:pPr indent="0" marL="0">
              <a:buNone/>
            </a:pPr>
            <a:r>
              <a:rPr lang="en-US" sz="1000" dirty="0">
                <a:solidFill>
                  <a:srgbClr val="C8C8D8"/>
                </a:solidFill>
                <a:latin typeface="Consolas" pitchFamily="34" charset="0"/>
                <a:ea typeface="Consolas" pitchFamily="34" charset="-122"/>
                <a:cs typeface="Consolas" pitchFamily="34" charset="-120"/>
              </a:rPr>
              <a:t>"Write a product description for our new headphones"</a:t>
            </a:r>
            <a:endParaRPr lang="en-US" sz="1000" dirty="0"/>
          </a:p>
        </p:txBody>
      </p:sp>
      <p:sp>
        <p:nvSpPr>
          <p:cNvPr id="9" name="Text 7"/>
          <p:cNvSpPr/>
          <p:nvPr/>
        </p:nvSpPr>
        <p:spPr>
          <a:xfrm>
            <a:off x="1188720" y="1463040"/>
            <a:ext cx="722376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Result: Generic, bland</a:t>
            </a:r>
            <a:endParaRPr lang="en-US" sz="1100" dirty="0"/>
          </a:p>
        </p:txBody>
      </p:sp>
      <p:sp>
        <p:nvSpPr>
          <p:cNvPr id="10" name="Text 8"/>
          <p:cNvSpPr/>
          <p:nvPr/>
        </p:nvSpPr>
        <p:spPr>
          <a:xfrm>
            <a:off x="1188720" y="1737360"/>
            <a:ext cx="7223760" cy="274320"/>
          </a:xfrm>
          <a:prstGeom prst="rect">
            <a:avLst/>
          </a:prstGeom>
          <a:noFill/>
          <a:ln/>
        </p:spPr>
        <p:txBody>
          <a:bodyPr wrap="square" lIns="0" tIns="0" rIns="0" bIns="0" rtlCol="0" anchor="ctr"/>
          <a:lstStyle/>
          <a:p>
            <a:pPr indent="0" marL="0">
              <a:buNone/>
            </a:pPr>
            <a:r>
              <a:rPr lang="en-US" sz="1100" b="1" dirty="0">
                <a:solidFill>
                  <a:srgbClr val="E91E8C"/>
                </a:solidFill>
                <a:latin typeface="Arial" pitchFamily="34" charset="0"/>
                <a:ea typeface="Arial" pitchFamily="34" charset="-122"/>
                <a:cs typeface="Arial" pitchFamily="34" charset="-120"/>
              </a:rPr>
              <a:t>Fix: Add audience, tone, USPs</a:t>
            </a:r>
            <a:endParaRPr lang="en-US" sz="1100" dirty="0"/>
          </a:p>
        </p:txBody>
      </p:sp>
      <p:sp>
        <p:nvSpPr>
          <p:cNvPr id="11" name="Shape 9"/>
          <p:cNvSpPr/>
          <p:nvPr/>
        </p:nvSpPr>
        <p:spPr>
          <a:xfrm>
            <a:off x="457200" y="2286000"/>
            <a:ext cx="8229600" cy="10972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2" name="Shape 10"/>
          <p:cNvSpPr/>
          <p:nvPr/>
        </p:nvSpPr>
        <p:spPr>
          <a:xfrm>
            <a:off x="594360" y="2377440"/>
            <a:ext cx="411480" cy="411480"/>
          </a:xfrm>
          <a:prstGeom prst="ellipse">
            <a:avLst/>
          </a:prstGeom>
          <a:solidFill>
            <a:srgbClr val="4A9FFF"/>
          </a:solidFill>
          <a:ln/>
        </p:spPr>
      </p:sp>
      <p:sp>
        <p:nvSpPr>
          <p:cNvPr id="13" name="Text 11"/>
          <p:cNvSpPr/>
          <p:nvPr/>
        </p:nvSpPr>
        <p:spPr>
          <a:xfrm>
            <a:off x="594360" y="2377440"/>
            <a:ext cx="411480" cy="41148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2</a:t>
            </a:r>
            <a:endParaRPr lang="en-US" sz="1800" dirty="0"/>
          </a:p>
        </p:txBody>
      </p:sp>
      <p:sp>
        <p:nvSpPr>
          <p:cNvPr id="14" name="Text 12"/>
          <p:cNvSpPr/>
          <p:nvPr/>
        </p:nvSpPr>
        <p:spPr>
          <a:xfrm>
            <a:off x="1188720" y="2331720"/>
            <a:ext cx="7223760" cy="365760"/>
          </a:xfrm>
          <a:prstGeom prst="rect">
            <a:avLst/>
          </a:prstGeom>
          <a:noFill/>
          <a:ln/>
        </p:spPr>
        <p:txBody>
          <a:bodyPr wrap="square" lIns="0" tIns="0" rIns="0" bIns="0" rtlCol="0" anchor="ctr"/>
          <a:lstStyle/>
          <a:p>
            <a:pPr indent="0" marL="0">
              <a:buNone/>
            </a:pPr>
            <a:r>
              <a:rPr lang="en-US" sz="1000" dirty="0">
                <a:solidFill>
                  <a:srgbClr val="C8C8D8"/>
                </a:solidFill>
                <a:latin typeface="Consolas" pitchFamily="34" charset="0"/>
                <a:ea typeface="Consolas" pitchFamily="34" charset="-122"/>
                <a:cs typeface="Consolas" pitchFamily="34" charset="-120"/>
              </a:rPr>
              <a:t>"You are a copywriter for premium audio. 50-word desc. Target: remote workers. Tone: premium."</a:t>
            </a:r>
            <a:endParaRPr lang="en-US" sz="1000" dirty="0"/>
          </a:p>
        </p:txBody>
      </p:sp>
      <p:sp>
        <p:nvSpPr>
          <p:cNvPr id="15" name="Text 13"/>
          <p:cNvSpPr/>
          <p:nvPr/>
        </p:nvSpPr>
        <p:spPr>
          <a:xfrm>
            <a:off x="1188720" y="2743200"/>
            <a:ext cx="722376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Result: Better tone, missing specs</a:t>
            </a:r>
            <a:endParaRPr lang="en-US" sz="1100" dirty="0"/>
          </a:p>
        </p:txBody>
      </p:sp>
      <p:sp>
        <p:nvSpPr>
          <p:cNvPr id="16" name="Text 14"/>
          <p:cNvSpPr/>
          <p:nvPr/>
        </p:nvSpPr>
        <p:spPr>
          <a:xfrm>
            <a:off x="1188720" y="3017520"/>
            <a:ext cx="7223760" cy="274320"/>
          </a:xfrm>
          <a:prstGeom prst="rect">
            <a:avLst/>
          </a:prstGeom>
          <a:noFill/>
          <a:ln/>
        </p:spPr>
        <p:txBody>
          <a:bodyPr wrap="square" lIns="0" tIns="0" rIns="0" bIns="0" rtlCol="0" anchor="ctr"/>
          <a:lstStyle/>
          <a:p>
            <a:pPr indent="0" marL="0">
              <a:buNone/>
            </a:pPr>
            <a:r>
              <a:rPr lang="en-US" sz="1100" b="1" dirty="0">
                <a:solidFill>
                  <a:srgbClr val="4A9FFF"/>
                </a:solidFill>
                <a:latin typeface="Arial" pitchFamily="34" charset="0"/>
                <a:ea typeface="Arial" pitchFamily="34" charset="-122"/>
                <a:cs typeface="Arial" pitchFamily="34" charset="-120"/>
              </a:rPr>
              <a:t>Fix: Add features and CTA</a:t>
            </a:r>
            <a:endParaRPr lang="en-US" sz="1100" dirty="0"/>
          </a:p>
        </p:txBody>
      </p:sp>
      <p:sp>
        <p:nvSpPr>
          <p:cNvPr id="17" name="Shape 15"/>
          <p:cNvSpPr/>
          <p:nvPr/>
        </p:nvSpPr>
        <p:spPr>
          <a:xfrm>
            <a:off x="457200" y="3566160"/>
            <a:ext cx="8229600" cy="109728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8" name="Shape 16"/>
          <p:cNvSpPr/>
          <p:nvPr/>
        </p:nvSpPr>
        <p:spPr>
          <a:xfrm>
            <a:off x="594360" y="3657600"/>
            <a:ext cx="411480" cy="411480"/>
          </a:xfrm>
          <a:prstGeom prst="ellipse">
            <a:avLst/>
          </a:prstGeom>
          <a:solidFill>
            <a:srgbClr val="00D4AA"/>
          </a:solidFill>
          <a:ln/>
        </p:spPr>
      </p:sp>
      <p:sp>
        <p:nvSpPr>
          <p:cNvPr id="19" name="Text 17"/>
          <p:cNvSpPr/>
          <p:nvPr/>
        </p:nvSpPr>
        <p:spPr>
          <a:xfrm>
            <a:off x="594360" y="3657600"/>
            <a:ext cx="411480" cy="411480"/>
          </a:xfrm>
          <a:prstGeom prst="rect">
            <a:avLst/>
          </a:prstGeom>
          <a:noFill/>
          <a:ln/>
        </p:spPr>
        <p:txBody>
          <a:bodyPr wrap="square" lIns="0" tIns="0" rIns="0" bIns="0" rtlCol="0" anchor="ctr"/>
          <a:lstStyle/>
          <a:p>
            <a:pPr algn="ctr" indent="0" marL="0">
              <a:buNone/>
            </a:pPr>
            <a:r>
              <a:rPr lang="en-US" sz="1800" dirty="0">
                <a:solidFill>
                  <a:srgbClr val="0D0D0D"/>
                </a:solidFill>
                <a:latin typeface="Arial Black" pitchFamily="34" charset="0"/>
                <a:ea typeface="Arial Black" pitchFamily="34" charset="-122"/>
                <a:cs typeface="Arial Black" pitchFamily="34" charset="-120"/>
              </a:rPr>
              <a:t>3</a:t>
            </a:r>
            <a:endParaRPr lang="en-US" sz="1800" dirty="0"/>
          </a:p>
        </p:txBody>
      </p:sp>
      <p:sp>
        <p:nvSpPr>
          <p:cNvPr id="20" name="Text 18"/>
          <p:cNvSpPr/>
          <p:nvPr/>
        </p:nvSpPr>
        <p:spPr>
          <a:xfrm>
            <a:off x="1188720" y="3611880"/>
            <a:ext cx="7223760" cy="365760"/>
          </a:xfrm>
          <a:prstGeom prst="rect">
            <a:avLst/>
          </a:prstGeom>
          <a:noFill/>
          <a:ln/>
        </p:spPr>
        <p:txBody>
          <a:bodyPr wrap="square" lIns="0" tIns="0" rIns="0" bIns="0" rtlCol="0" anchor="ctr"/>
          <a:lstStyle/>
          <a:p>
            <a:pPr indent="0" marL="0">
              <a:buNone/>
            </a:pPr>
            <a:r>
              <a:rPr lang="en-US" sz="1000" dirty="0">
                <a:solidFill>
                  <a:srgbClr val="C8C8D8"/>
                </a:solidFill>
                <a:latin typeface="Consolas" pitchFamily="34" charset="0"/>
                <a:ea typeface="Consolas" pitchFamily="34" charset="-122"/>
                <a:cs typeface="Consolas" pitchFamily="34" charset="-120"/>
              </a:rPr>
              <a:t>"...Same + Must mention: 40hr battery, spatial audio, ANC. End with CTA."</a:t>
            </a:r>
            <a:endParaRPr lang="en-US" sz="1000" dirty="0"/>
          </a:p>
        </p:txBody>
      </p:sp>
      <p:sp>
        <p:nvSpPr>
          <p:cNvPr id="21" name="Text 19"/>
          <p:cNvSpPr/>
          <p:nvPr/>
        </p:nvSpPr>
        <p:spPr>
          <a:xfrm>
            <a:off x="1188720" y="4023360"/>
            <a:ext cx="7223760" cy="27432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Result: Specific, compelling, on-brand ✓</a:t>
            </a:r>
            <a:endParaRPr lang="en-US" sz="1100" dirty="0"/>
          </a:p>
        </p:txBody>
      </p:sp>
      <p:sp>
        <p:nvSpPr>
          <p:cNvPr id="22" name="Text 20"/>
          <p:cNvSpPr/>
          <p:nvPr/>
        </p:nvSpPr>
        <p:spPr>
          <a:xfrm>
            <a:off x="457200" y="4800600"/>
            <a:ext cx="8229600" cy="27432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Each iteration takes 30 seconds. Three iterations can save you hours.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Evaluating LLM Applications</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SOMA framework for systematic testing (Chapter 10)</a:t>
            </a:r>
            <a:endParaRPr lang="en-US" sz="1100" dirty="0"/>
          </a:p>
        </p:txBody>
      </p:sp>
      <p:sp>
        <p:nvSpPr>
          <p:cNvPr id="5" name="Shape 3"/>
          <p:cNvSpPr/>
          <p:nvPr/>
        </p:nvSpPr>
        <p:spPr>
          <a:xfrm>
            <a:off x="457200" y="105156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1554480"/>
          </a:xfrm>
          <a:prstGeom prst="rect">
            <a:avLst/>
          </a:prstGeom>
          <a:solidFill>
            <a:srgbClr val="E91E8C"/>
          </a:solidFill>
          <a:ln/>
        </p:spPr>
      </p:sp>
      <p:sp>
        <p:nvSpPr>
          <p:cNvPr id="7" name="Text 5"/>
          <p:cNvSpPr/>
          <p:nvPr/>
        </p:nvSpPr>
        <p:spPr>
          <a:xfrm>
            <a:off x="640080" y="1143000"/>
            <a:ext cx="457200" cy="457200"/>
          </a:xfrm>
          <a:prstGeom prst="rect">
            <a:avLst/>
          </a:prstGeom>
          <a:noFill/>
          <a:ln/>
        </p:spPr>
        <p:txBody>
          <a:bodyPr wrap="square" lIns="0" tIns="0" rIns="0" bIns="0" rtlCol="0" anchor="ctr"/>
          <a:lstStyle/>
          <a:p>
            <a:pPr indent="0" marL="0">
              <a:buNone/>
            </a:pPr>
            <a:r>
              <a:rPr lang="en-US" sz="2800" dirty="0">
                <a:solidFill>
                  <a:srgbClr val="E91E8C"/>
                </a:solidFill>
                <a:latin typeface="Arial Black" pitchFamily="34" charset="0"/>
                <a:ea typeface="Arial Black" pitchFamily="34" charset="-122"/>
                <a:cs typeface="Arial Black" pitchFamily="34" charset="-120"/>
              </a:rPr>
              <a:t>S</a:t>
            </a:r>
            <a:endParaRPr lang="en-US" sz="2800" dirty="0"/>
          </a:p>
        </p:txBody>
      </p:sp>
      <p:sp>
        <p:nvSpPr>
          <p:cNvPr id="8" name="Text 6"/>
          <p:cNvSpPr/>
          <p:nvPr/>
        </p:nvSpPr>
        <p:spPr>
          <a:xfrm>
            <a:off x="1188720" y="118872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Specificity</a:t>
            </a:r>
            <a:endParaRPr lang="en-US" sz="1500" dirty="0"/>
          </a:p>
        </p:txBody>
      </p:sp>
      <p:sp>
        <p:nvSpPr>
          <p:cNvPr id="9" name="Text 7"/>
          <p:cNvSpPr/>
          <p:nvPr/>
        </p:nvSpPr>
        <p:spPr>
          <a:xfrm>
            <a:off x="640080" y="1645920"/>
            <a:ext cx="3474720" cy="82296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Test specific scenarios with concrete inputs and expected outputs. Edge cases matter.</a:t>
            </a:r>
            <a:endParaRPr lang="en-US" sz="1050" dirty="0"/>
          </a:p>
        </p:txBody>
      </p:sp>
      <p:sp>
        <p:nvSpPr>
          <p:cNvPr id="10" name="Shape 8"/>
          <p:cNvSpPr/>
          <p:nvPr/>
        </p:nvSpPr>
        <p:spPr>
          <a:xfrm>
            <a:off x="4754880" y="105156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1" name="Shape 9"/>
          <p:cNvSpPr/>
          <p:nvPr/>
        </p:nvSpPr>
        <p:spPr>
          <a:xfrm>
            <a:off x="4754880" y="1051560"/>
            <a:ext cx="54864" cy="1554480"/>
          </a:xfrm>
          <a:prstGeom prst="rect">
            <a:avLst/>
          </a:prstGeom>
          <a:solidFill>
            <a:srgbClr val="4A9FFF"/>
          </a:solidFill>
          <a:ln/>
        </p:spPr>
      </p:sp>
      <p:sp>
        <p:nvSpPr>
          <p:cNvPr id="12" name="Text 10"/>
          <p:cNvSpPr/>
          <p:nvPr/>
        </p:nvSpPr>
        <p:spPr>
          <a:xfrm>
            <a:off x="4937760" y="1143000"/>
            <a:ext cx="457200" cy="457200"/>
          </a:xfrm>
          <a:prstGeom prst="rect">
            <a:avLst/>
          </a:prstGeom>
          <a:noFill/>
          <a:ln/>
        </p:spPr>
        <p:txBody>
          <a:bodyPr wrap="square" lIns="0" tIns="0" rIns="0" bIns="0" rtlCol="0" anchor="ctr"/>
          <a:lstStyle/>
          <a:p>
            <a:pPr indent="0" marL="0">
              <a:buNone/>
            </a:pPr>
            <a:r>
              <a:rPr lang="en-US" sz="2800" dirty="0">
                <a:solidFill>
                  <a:srgbClr val="4A9FFF"/>
                </a:solidFill>
                <a:latin typeface="Arial Black" pitchFamily="34" charset="0"/>
                <a:ea typeface="Arial Black" pitchFamily="34" charset="-122"/>
                <a:cs typeface="Arial Black" pitchFamily="34" charset="-120"/>
              </a:rPr>
              <a:t>O</a:t>
            </a:r>
            <a:endParaRPr lang="en-US" sz="2800" dirty="0"/>
          </a:p>
        </p:txBody>
      </p:sp>
      <p:sp>
        <p:nvSpPr>
          <p:cNvPr id="13" name="Text 11"/>
          <p:cNvSpPr/>
          <p:nvPr/>
        </p:nvSpPr>
        <p:spPr>
          <a:xfrm>
            <a:off x="5486400" y="118872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Objective Measurement</a:t>
            </a:r>
            <a:endParaRPr lang="en-US" sz="1500" dirty="0"/>
          </a:p>
        </p:txBody>
      </p:sp>
      <p:sp>
        <p:nvSpPr>
          <p:cNvPr id="14" name="Text 12"/>
          <p:cNvSpPr/>
          <p:nvPr/>
        </p:nvSpPr>
        <p:spPr>
          <a:xfrm>
            <a:off x="4937760" y="1645920"/>
            <a:ext cx="3474720" cy="82296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Define success criteria. Automate scoring. Track: accuracy, consistency, format compliance.</a:t>
            </a:r>
            <a:endParaRPr lang="en-US" sz="1050" dirty="0"/>
          </a:p>
        </p:txBody>
      </p:sp>
      <p:sp>
        <p:nvSpPr>
          <p:cNvPr id="15" name="Shape 13"/>
          <p:cNvSpPr/>
          <p:nvPr/>
        </p:nvSpPr>
        <p:spPr>
          <a:xfrm>
            <a:off x="457200" y="283464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6" name="Shape 14"/>
          <p:cNvSpPr/>
          <p:nvPr/>
        </p:nvSpPr>
        <p:spPr>
          <a:xfrm>
            <a:off x="457200" y="2834640"/>
            <a:ext cx="54864" cy="1554480"/>
          </a:xfrm>
          <a:prstGeom prst="rect">
            <a:avLst/>
          </a:prstGeom>
          <a:solidFill>
            <a:srgbClr val="00D4AA"/>
          </a:solidFill>
          <a:ln/>
        </p:spPr>
      </p:sp>
      <p:sp>
        <p:nvSpPr>
          <p:cNvPr id="17" name="Text 15"/>
          <p:cNvSpPr/>
          <p:nvPr/>
        </p:nvSpPr>
        <p:spPr>
          <a:xfrm>
            <a:off x="640080" y="2926080"/>
            <a:ext cx="457200" cy="457200"/>
          </a:xfrm>
          <a:prstGeom prst="rect">
            <a:avLst/>
          </a:prstGeom>
          <a:noFill/>
          <a:ln/>
        </p:spPr>
        <p:txBody>
          <a:bodyPr wrap="square" lIns="0" tIns="0" rIns="0" bIns="0" rtlCol="0" anchor="ctr"/>
          <a:lstStyle/>
          <a:p>
            <a:pPr indent="0" marL="0">
              <a:buNone/>
            </a:pPr>
            <a:r>
              <a:rPr lang="en-US" sz="2800" dirty="0">
                <a:solidFill>
                  <a:srgbClr val="00D4AA"/>
                </a:solidFill>
                <a:latin typeface="Arial Black" pitchFamily="34" charset="0"/>
                <a:ea typeface="Arial Black" pitchFamily="34" charset="-122"/>
                <a:cs typeface="Arial Black" pitchFamily="34" charset="-120"/>
              </a:rPr>
              <a:t>M</a:t>
            </a:r>
            <a:endParaRPr lang="en-US" sz="2800" dirty="0"/>
          </a:p>
        </p:txBody>
      </p:sp>
      <p:sp>
        <p:nvSpPr>
          <p:cNvPr id="18" name="Text 16"/>
          <p:cNvSpPr/>
          <p:nvPr/>
        </p:nvSpPr>
        <p:spPr>
          <a:xfrm>
            <a:off x="1188720" y="297180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Multiple Scenarios</a:t>
            </a:r>
            <a:endParaRPr lang="en-US" sz="1500" dirty="0"/>
          </a:p>
        </p:txBody>
      </p:sp>
      <p:sp>
        <p:nvSpPr>
          <p:cNvPr id="19" name="Text 17"/>
          <p:cNvSpPr/>
          <p:nvPr/>
        </p:nvSpPr>
        <p:spPr>
          <a:xfrm>
            <a:off x="640080" y="3429000"/>
            <a:ext cx="3474720" cy="82296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Test happy path AND edge cases. Different input variations, unexpected formats.</a:t>
            </a:r>
            <a:endParaRPr lang="en-US" sz="1050" dirty="0"/>
          </a:p>
        </p:txBody>
      </p:sp>
      <p:sp>
        <p:nvSpPr>
          <p:cNvPr id="20" name="Shape 18"/>
          <p:cNvSpPr/>
          <p:nvPr/>
        </p:nvSpPr>
        <p:spPr>
          <a:xfrm>
            <a:off x="4754880" y="283464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21" name="Shape 19"/>
          <p:cNvSpPr/>
          <p:nvPr/>
        </p:nvSpPr>
        <p:spPr>
          <a:xfrm>
            <a:off x="4754880" y="2834640"/>
            <a:ext cx="54864" cy="1554480"/>
          </a:xfrm>
          <a:prstGeom prst="rect">
            <a:avLst/>
          </a:prstGeom>
          <a:solidFill>
            <a:srgbClr val="FF3DAB"/>
          </a:solidFill>
          <a:ln/>
        </p:spPr>
      </p:sp>
      <p:sp>
        <p:nvSpPr>
          <p:cNvPr id="22" name="Text 20"/>
          <p:cNvSpPr/>
          <p:nvPr/>
        </p:nvSpPr>
        <p:spPr>
          <a:xfrm>
            <a:off x="4937760" y="2926080"/>
            <a:ext cx="457200" cy="457200"/>
          </a:xfrm>
          <a:prstGeom prst="rect">
            <a:avLst/>
          </a:prstGeom>
          <a:noFill/>
          <a:ln/>
        </p:spPr>
        <p:txBody>
          <a:bodyPr wrap="square" lIns="0" tIns="0" rIns="0" bIns="0" rtlCol="0" anchor="ctr"/>
          <a:lstStyle/>
          <a:p>
            <a:pPr indent="0" marL="0">
              <a:buNone/>
            </a:pPr>
            <a:r>
              <a:rPr lang="en-US" sz="2800" dirty="0">
                <a:solidFill>
                  <a:srgbClr val="FF3DAB"/>
                </a:solidFill>
                <a:latin typeface="Arial Black" pitchFamily="34" charset="0"/>
                <a:ea typeface="Arial Black" pitchFamily="34" charset="-122"/>
                <a:cs typeface="Arial Black" pitchFamily="34" charset="-120"/>
              </a:rPr>
              <a:t>A</a:t>
            </a:r>
            <a:endParaRPr lang="en-US" sz="2800" dirty="0"/>
          </a:p>
        </p:txBody>
      </p:sp>
      <p:sp>
        <p:nvSpPr>
          <p:cNvPr id="23" name="Text 21"/>
          <p:cNvSpPr/>
          <p:nvPr/>
        </p:nvSpPr>
        <p:spPr>
          <a:xfrm>
            <a:off x="5486400" y="2971800"/>
            <a:ext cx="29260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Automation</a:t>
            </a:r>
            <a:endParaRPr lang="en-US" sz="1500" dirty="0"/>
          </a:p>
        </p:txBody>
      </p:sp>
      <p:sp>
        <p:nvSpPr>
          <p:cNvPr id="24" name="Text 22"/>
          <p:cNvSpPr/>
          <p:nvPr/>
        </p:nvSpPr>
        <p:spPr>
          <a:xfrm>
            <a:off x="4937760" y="3429000"/>
            <a:ext cx="3474720" cy="822960"/>
          </a:xfrm>
          <a:prstGeom prst="rect">
            <a:avLst/>
          </a:prstGeom>
          <a:noFill/>
          <a:ln/>
        </p:spPr>
        <p:txBody>
          <a:bodyPr wrap="square" lIns="0" tIns="0" rIns="0" bIns="0" rtlCol="0" anchor="ctr"/>
          <a:lstStyle/>
          <a:p>
            <a:pPr indent="0" marL="0">
              <a:buNone/>
            </a:pPr>
            <a:r>
              <a:rPr lang="en-US" sz="1050" dirty="0">
                <a:solidFill>
                  <a:srgbClr val="9B9BB0"/>
                </a:solidFill>
                <a:latin typeface="Arial" pitchFamily="34" charset="0"/>
                <a:ea typeface="Arial" pitchFamily="34" charset="-122"/>
                <a:cs typeface="Arial" pitchFamily="34" charset="-120"/>
              </a:rPr>
              <a:t>Integrate testing into CI/CD. Regression testing. Treat prompts like production code.</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Anatomy of a system prompt</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The hidden instructions that power every AI application</a:t>
            </a:r>
            <a:endParaRPr lang="en-US" sz="1100" dirty="0"/>
          </a:p>
        </p:txBody>
      </p:sp>
      <p:sp>
        <p:nvSpPr>
          <p:cNvPr id="5" name="Shape 3"/>
          <p:cNvSpPr/>
          <p:nvPr/>
        </p:nvSpPr>
        <p:spPr>
          <a:xfrm>
            <a:off x="457200" y="1051560"/>
            <a:ext cx="4572000" cy="3657600"/>
          </a:xfrm>
          <a:prstGeom prst="rect">
            <a:avLst/>
          </a:prstGeom>
          <a:solidFill>
            <a:srgbClr val="0D0D18"/>
          </a:solidFill>
          <a:ln/>
          <a:effectLst>
            <a:outerShdw sx="100000" sy="100000" kx="0" ky="0" algn="bl" rotWithShape="0" blurRad="152400" dist="50800" dir="8100000">
              <a:srgbClr val="000000">
                <a:alpha val="50000"/>
              </a:srgbClr>
            </a:outerShdw>
          </a:effectLst>
        </p:spPr>
      </p:sp>
      <p:sp>
        <p:nvSpPr>
          <p:cNvPr id="6" name="Text 4"/>
          <p:cNvSpPr/>
          <p:nvPr/>
        </p:nvSpPr>
        <p:spPr>
          <a:xfrm>
            <a:off x="640080" y="1097280"/>
            <a:ext cx="4206240" cy="274320"/>
          </a:xfrm>
          <a:prstGeom prst="rect">
            <a:avLst/>
          </a:prstGeom>
          <a:noFill/>
          <a:ln/>
        </p:spPr>
        <p:txBody>
          <a:bodyPr wrap="square" lIns="0" tIns="0" rIns="0" bIns="0" rtlCol="0" anchor="ctr"/>
          <a:lstStyle/>
          <a:p>
            <a:pPr indent="0" marL="0">
              <a:buNone/>
            </a:pPr>
            <a:r>
              <a:rPr lang="en-US" sz="1000" dirty="0">
                <a:solidFill>
                  <a:srgbClr val="9B9BB0"/>
                </a:solidFill>
                <a:latin typeface="Consolas" pitchFamily="34" charset="0"/>
                <a:ea typeface="Consolas" pitchFamily="34" charset="-122"/>
                <a:cs typeface="Consolas" pitchFamily="34" charset="-120"/>
              </a:rPr>
              <a:t>system_prompt.txt</a:t>
            </a:r>
            <a:endParaRPr lang="en-US" sz="1000" dirty="0"/>
          </a:p>
        </p:txBody>
      </p:sp>
      <p:sp>
        <p:nvSpPr>
          <p:cNvPr id="7" name="Shape 5"/>
          <p:cNvSpPr/>
          <p:nvPr/>
        </p:nvSpPr>
        <p:spPr>
          <a:xfrm>
            <a:off x="457200" y="1371600"/>
            <a:ext cx="4572000" cy="9144"/>
          </a:xfrm>
          <a:prstGeom prst="rect">
            <a:avLst/>
          </a:prstGeom>
          <a:solidFill>
            <a:srgbClr val="E91E8C">
              <a:alpha val="50000"/>
            </a:srgbClr>
          </a:solidFill>
          <a:ln/>
        </p:spPr>
      </p:sp>
      <p:sp>
        <p:nvSpPr>
          <p:cNvPr id="8" name="Text 6"/>
          <p:cNvSpPr/>
          <p:nvPr/>
        </p:nvSpPr>
        <p:spPr>
          <a:xfrm>
            <a:off x="640080" y="1463040"/>
            <a:ext cx="4206240" cy="228600"/>
          </a:xfrm>
          <a:prstGeom prst="rect">
            <a:avLst/>
          </a:prstGeom>
          <a:noFill/>
          <a:ln/>
        </p:spPr>
        <p:txBody>
          <a:bodyPr wrap="square" lIns="0" tIns="0" rIns="0" bIns="0" rtlCol="0" anchor="ctr"/>
          <a:lstStyle/>
          <a:p>
            <a:pPr indent="0" marL="0">
              <a:buNone/>
            </a:pPr>
            <a:r>
              <a:rPr lang="en-US" sz="1100" b="1" dirty="0">
                <a:solidFill>
                  <a:srgbClr val="E91E8C"/>
                </a:solidFill>
                <a:latin typeface="Consolas" pitchFamily="34" charset="0"/>
                <a:ea typeface="Consolas" pitchFamily="34" charset="-122"/>
                <a:cs typeface="Consolas" pitchFamily="34" charset="-120"/>
              </a:rPr>
              <a:t>Identity:</a:t>
            </a:r>
            <a:endParaRPr lang="en-US" sz="1100" dirty="0"/>
          </a:p>
        </p:txBody>
      </p:sp>
      <p:sp>
        <p:nvSpPr>
          <p:cNvPr id="9" name="Text 7"/>
          <p:cNvSpPr/>
          <p:nvPr/>
        </p:nvSpPr>
        <p:spPr>
          <a:xfrm>
            <a:off x="640080" y="1709928"/>
            <a:ext cx="4206240" cy="54864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You are a customer support agent for</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Acme Cloud, a B2B SaaS platform.</a:t>
            </a:r>
            <a:endParaRPr lang="en-US" sz="950" dirty="0"/>
          </a:p>
        </p:txBody>
      </p:sp>
      <p:sp>
        <p:nvSpPr>
          <p:cNvPr id="10" name="Text 8"/>
          <p:cNvSpPr/>
          <p:nvPr/>
        </p:nvSpPr>
        <p:spPr>
          <a:xfrm>
            <a:off x="640080" y="2304288"/>
            <a:ext cx="4206240" cy="228600"/>
          </a:xfrm>
          <a:prstGeom prst="rect">
            <a:avLst/>
          </a:prstGeom>
          <a:noFill/>
          <a:ln/>
        </p:spPr>
        <p:txBody>
          <a:bodyPr wrap="square" lIns="0" tIns="0" rIns="0" bIns="0" rtlCol="0" anchor="ctr"/>
          <a:lstStyle/>
          <a:p>
            <a:pPr indent="0" marL="0">
              <a:buNone/>
            </a:pPr>
            <a:r>
              <a:rPr lang="en-US" sz="1100" b="1" dirty="0">
                <a:solidFill>
                  <a:srgbClr val="4A9FFF"/>
                </a:solidFill>
                <a:latin typeface="Consolas" pitchFamily="34" charset="0"/>
                <a:ea typeface="Consolas" pitchFamily="34" charset="-122"/>
                <a:cs typeface="Consolas" pitchFamily="34" charset="-120"/>
              </a:rPr>
              <a:t>Rules:</a:t>
            </a:r>
            <a:endParaRPr lang="en-US" sz="1100" dirty="0"/>
          </a:p>
        </p:txBody>
      </p:sp>
      <p:sp>
        <p:nvSpPr>
          <p:cNvPr id="11" name="Text 9"/>
          <p:cNvSpPr/>
          <p:nvPr/>
        </p:nvSpPr>
        <p:spPr>
          <a:xfrm>
            <a:off x="640080" y="2551176"/>
            <a:ext cx="4206240" cy="54864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 Always greet the user by name</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 Never share internal pricing</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 Escalate billing issues to humans</a:t>
            </a:r>
            <a:endParaRPr lang="en-US" sz="950" dirty="0"/>
          </a:p>
        </p:txBody>
      </p:sp>
      <p:sp>
        <p:nvSpPr>
          <p:cNvPr id="12" name="Text 10"/>
          <p:cNvSpPr/>
          <p:nvPr/>
        </p:nvSpPr>
        <p:spPr>
          <a:xfrm>
            <a:off x="640080" y="3145536"/>
            <a:ext cx="4206240" cy="228600"/>
          </a:xfrm>
          <a:prstGeom prst="rect">
            <a:avLst/>
          </a:prstGeom>
          <a:noFill/>
          <a:ln/>
        </p:spPr>
        <p:txBody>
          <a:bodyPr wrap="square" lIns="0" tIns="0" rIns="0" bIns="0" rtlCol="0" anchor="ctr"/>
          <a:lstStyle/>
          <a:p>
            <a:pPr indent="0" marL="0">
              <a:buNone/>
            </a:pPr>
            <a:r>
              <a:rPr lang="en-US" sz="1100" b="1" dirty="0">
                <a:solidFill>
                  <a:srgbClr val="00D4AA"/>
                </a:solidFill>
                <a:latin typeface="Consolas" pitchFamily="34" charset="0"/>
                <a:ea typeface="Consolas" pitchFamily="34" charset="-122"/>
                <a:cs typeface="Consolas" pitchFamily="34" charset="-120"/>
              </a:rPr>
              <a:t>Format:</a:t>
            </a:r>
            <a:endParaRPr lang="en-US" sz="1100" dirty="0"/>
          </a:p>
        </p:txBody>
      </p:sp>
      <p:sp>
        <p:nvSpPr>
          <p:cNvPr id="13" name="Text 11"/>
          <p:cNvSpPr/>
          <p:nvPr/>
        </p:nvSpPr>
        <p:spPr>
          <a:xfrm>
            <a:off x="640080" y="3392424"/>
            <a:ext cx="4206240" cy="54864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 Short paragraphs (2-3 sentences)</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 End with a clear next step</a:t>
            </a:r>
            <a:endParaRPr lang="en-US" sz="950" dirty="0"/>
          </a:p>
        </p:txBody>
      </p:sp>
      <p:sp>
        <p:nvSpPr>
          <p:cNvPr id="14" name="Text 12"/>
          <p:cNvSpPr/>
          <p:nvPr/>
        </p:nvSpPr>
        <p:spPr>
          <a:xfrm>
            <a:off x="640080" y="3986784"/>
            <a:ext cx="4206240" cy="228600"/>
          </a:xfrm>
          <a:prstGeom prst="rect">
            <a:avLst/>
          </a:prstGeom>
          <a:noFill/>
          <a:ln/>
        </p:spPr>
        <p:txBody>
          <a:bodyPr wrap="square" lIns="0" tIns="0" rIns="0" bIns="0" rtlCol="0" anchor="ctr"/>
          <a:lstStyle/>
          <a:p>
            <a:pPr indent="0" marL="0">
              <a:buNone/>
            </a:pPr>
            <a:r>
              <a:rPr lang="en-US" sz="1100" b="1" dirty="0">
                <a:solidFill>
                  <a:srgbClr val="FF3DAB"/>
                </a:solidFill>
                <a:latin typeface="Consolas" pitchFamily="34" charset="0"/>
                <a:ea typeface="Consolas" pitchFamily="34" charset="-122"/>
                <a:cs typeface="Consolas" pitchFamily="34" charset="-120"/>
              </a:rPr>
              <a:t>Guardrails:</a:t>
            </a:r>
            <a:endParaRPr lang="en-US" sz="1100" dirty="0"/>
          </a:p>
        </p:txBody>
      </p:sp>
      <p:sp>
        <p:nvSpPr>
          <p:cNvPr id="15" name="Text 13"/>
          <p:cNvSpPr/>
          <p:nvPr/>
        </p:nvSpPr>
        <p:spPr>
          <a:xfrm>
            <a:off x="640080" y="4233672"/>
            <a:ext cx="4206240" cy="548640"/>
          </a:xfrm>
          <a:prstGeom prst="rect">
            <a:avLst/>
          </a:prstGeom>
          <a:noFill/>
          <a:ln/>
        </p:spPr>
        <p:txBody>
          <a:bodyPr wrap="square" lIns="0" tIns="0" rIns="0" bIns="0" rtlCol="0" anchor="ctr"/>
          <a:lstStyle/>
          <a:p>
            <a:pPr indent="0" marL="0">
              <a:buNone/>
            </a:pPr>
            <a:r>
              <a:rPr lang="en-US" sz="950" dirty="0">
                <a:solidFill>
                  <a:srgbClr val="C8C8D8"/>
                </a:solidFill>
                <a:latin typeface="Consolas" pitchFamily="34" charset="0"/>
                <a:ea typeface="Consolas" pitchFamily="34" charset="-122"/>
                <a:cs typeface="Consolas" pitchFamily="34" charset="-120"/>
              </a:rPr>
              <a:t>If you can't help, say:</a:t>
            </a:r>
            <a:endParaRPr lang="en-US" sz="950" dirty="0"/>
          </a:p>
          <a:p>
            <a:pPr indent="0" marL="0">
              <a:buNone/>
            </a:pPr>
            <a:r>
              <a:rPr lang="en-US" sz="950" dirty="0">
                <a:solidFill>
                  <a:srgbClr val="C8C8D8"/>
                </a:solidFill>
                <a:latin typeface="Consolas" pitchFamily="34" charset="0"/>
                <a:ea typeface="Consolas" pitchFamily="34" charset="-122"/>
                <a:cs typeface="Consolas" pitchFamily="34" charset="-120"/>
              </a:rPr>
              <a:t>"Let me connect you with a specialist"</a:t>
            </a:r>
            <a:endParaRPr lang="en-US" sz="950" dirty="0"/>
          </a:p>
        </p:txBody>
      </p:sp>
      <p:sp>
        <p:nvSpPr>
          <p:cNvPr id="16" name="Shape 14"/>
          <p:cNvSpPr/>
          <p:nvPr/>
        </p:nvSpPr>
        <p:spPr>
          <a:xfrm>
            <a:off x="5303520" y="1463040"/>
            <a:ext cx="3383280" cy="6858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7" name="Shape 15"/>
          <p:cNvSpPr/>
          <p:nvPr/>
        </p:nvSpPr>
        <p:spPr>
          <a:xfrm>
            <a:off x="5303520" y="1463040"/>
            <a:ext cx="54864" cy="685800"/>
          </a:xfrm>
          <a:prstGeom prst="rect">
            <a:avLst/>
          </a:prstGeom>
          <a:solidFill>
            <a:srgbClr val="E91E8C"/>
          </a:solidFill>
          <a:ln/>
        </p:spPr>
      </p:sp>
      <p:sp>
        <p:nvSpPr>
          <p:cNvPr id="18" name="Text 16"/>
          <p:cNvSpPr/>
          <p:nvPr/>
        </p:nvSpPr>
        <p:spPr>
          <a:xfrm>
            <a:off x="5532120" y="1508760"/>
            <a:ext cx="2926080" cy="274320"/>
          </a:xfrm>
          <a:prstGeom prst="rect">
            <a:avLst/>
          </a:prstGeom>
          <a:noFill/>
          <a:ln/>
        </p:spPr>
        <p:txBody>
          <a:bodyPr wrap="square" lIns="0" tIns="0" rIns="0" bIns="0" rtlCol="0" anchor="ctr"/>
          <a:lstStyle/>
          <a:p>
            <a:pPr indent="0" marL="0">
              <a:buNone/>
            </a:pPr>
            <a:r>
              <a:rPr lang="en-US" sz="1300" b="1" dirty="0">
                <a:solidFill>
                  <a:srgbClr val="E91E8C"/>
                </a:solidFill>
                <a:latin typeface="Arial" pitchFamily="34" charset="0"/>
                <a:ea typeface="Arial" pitchFamily="34" charset="-122"/>
                <a:cs typeface="Arial" pitchFamily="34" charset="-120"/>
              </a:rPr>
              <a:t>Identity</a:t>
            </a:r>
            <a:endParaRPr lang="en-US" sz="1300" dirty="0"/>
          </a:p>
        </p:txBody>
      </p:sp>
      <p:sp>
        <p:nvSpPr>
          <p:cNvPr id="19" name="Text 17"/>
          <p:cNvSpPr/>
          <p:nvPr/>
        </p:nvSpPr>
        <p:spPr>
          <a:xfrm>
            <a:off x="5532120" y="1783080"/>
            <a:ext cx="2926080" cy="27432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Who the model is, what it knows</a:t>
            </a:r>
            <a:endParaRPr lang="en-US" sz="1000" dirty="0"/>
          </a:p>
        </p:txBody>
      </p:sp>
      <p:sp>
        <p:nvSpPr>
          <p:cNvPr id="20" name="Shape 18"/>
          <p:cNvSpPr/>
          <p:nvPr/>
        </p:nvSpPr>
        <p:spPr>
          <a:xfrm>
            <a:off x="5303520" y="2286000"/>
            <a:ext cx="3383280" cy="6858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1" name="Shape 19"/>
          <p:cNvSpPr/>
          <p:nvPr/>
        </p:nvSpPr>
        <p:spPr>
          <a:xfrm>
            <a:off x="5303520" y="2286000"/>
            <a:ext cx="54864" cy="685800"/>
          </a:xfrm>
          <a:prstGeom prst="rect">
            <a:avLst/>
          </a:prstGeom>
          <a:solidFill>
            <a:srgbClr val="4A9FFF"/>
          </a:solidFill>
          <a:ln/>
        </p:spPr>
      </p:sp>
      <p:sp>
        <p:nvSpPr>
          <p:cNvPr id="22" name="Text 20"/>
          <p:cNvSpPr/>
          <p:nvPr/>
        </p:nvSpPr>
        <p:spPr>
          <a:xfrm>
            <a:off x="5532120" y="2331720"/>
            <a:ext cx="2926080" cy="274320"/>
          </a:xfrm>
          <a:prstGeom prst="rect">
            <a:avLst/>
          </a:prstGeom>
          <a:noFill/>
          <a:ln/>
        </p:spPr>
        <p:txBody>
          <a:bodyPr wrap="square" lIns="0" tIns="0" rIns="0" bIns="0" rtlCol="0" anchor="ctr"/>
          <a:lstStyle/>
          <a:p>
            <a:pPr indent="0" marL="0">
              <a:buNone/>
            </a:pPr>
            <a:r>
              <a:rPr lang="en-US" sz="1300" b="1" dirty="0">
                <a:solidFill>
                  <a:srgbClr val="4A9FFF"/>
                </a:solidFill>
                <a:latin typeface="Arial" pitchFamily="34" charset="0"/>
                <a:ea typeface="Arial" pitchFamily="34" charset="-122"/>
                <a:cs typeface="Arial" pitchFamily="34" charset="-120"/>
              </a:rPr>
              <a:t>Rules</a:t>
            </a:r>
            <a:endParaRPr lang="en-US" sz="1300" dirty="0"/>
          </a:p>
        </p:txBody>
      </p:sp>
      <p:sp>
        <p:nvSpPr>
          <p:cNvPr id="23" name="Text 21"/>
          <p:cNvSpPr/>
          <p:nvPr/>
        </p:nvSpPr>
        <p:spPr>
          <a:xfrm>
            <a:off x="5532120" y="2606040"/>
            <a:ext cx="2926080" cy="27432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Behavioral boundaries and constraints</a:t>
            </a:r>
            <a:endParaRPr lang="en-US" sz="1000" dirty="0"/>
          </a:p>
        </p:txBody>
      </p:sp>
      <p:sp>
        <p:nvSpPr>
          <p:cNvPr id="24" name="Shape 22"/>
          <p:cNvSpPr/>
          <p:nvPr/>
        </p:nvSpPr>
        <p:spPr>
          <a:xfrm>
            <a:off x="5303520" y="3108960"/>
            <a:ext cx="3383280" cy="6858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5" name="Shape 23"/>
          <p:cNvSpPr/>
          <p:nvPr/>
        </p:nvSpPr>
        <p:spPr>
          <a:xfrm>
            <a:off x="5303520" y="3108960"/>
            <a:ext cx="54864" cy="685800"/>
          </a:xfrm>
          <a:prstGeom prst="rect">
            <a:avLst/>
          </a:prstGeom>
          <a:solidFill>
            <a:srgbClr val="00D4AA"/>
          </a:solidFill>
          <a:ln/>
        </p:spPr>
      </p:sp>
      <p:sp>
        <p:nvSpPr>
          <p:cNvPr id="26" name="Text 24"/>
          <p:cNvSpPr/>
          <p:nvPr/>
        </p:nvSpPr>
        <p:spPr>
          <a:xfrm>
            <a:off x="5532120" y="3154680"/>
            <a:ext cx="2926080" cy="274320"/>
          </a:xfrm>
          <a:prstGeom prst="rect">
            <a:avLst/>
          </a:prstGeom>
          <a:noFill/>
          <a:ln/>
        </p:spPr>
        <p:txBody>
          <a:bodyPr wrap="square" lIns="0" tIns="0" rIns="0" bIns="0" rtlCol="0" anchor="ctr"/>
          <a:lstStyle/>
          <a:p>
            <a:pPr indent="0" marL="0">
              <a:buNone/>
            </a:pPr>
            <a:r>
              <a:rPr lang="en-US" sz="1300" b="1" dirty="0">
                <a:solidFill>
                  <a:srgbClr val="00D4AA"/>
                </a:solidFill>
                <a:latin typeface="Arial" pitchFamily="34" charset="0"/>
                <a:ea typeface="Arial" pitchFamily="34" charset="-122"/>
                <a:cs typeface="Arial" pitchFamily="34" charset="-120"/>
              </a:rPr>
              <a:t>Format</a:t>
            </a:r>
            <a:endParaRPr lang="en-US" sz="1300" dirty="0"/>
          </a:p>
        </p:txBody>
      </p:sp>
      <p:sp>
        <p:nvSpPr>
          <p:cNvPr id="27" name="Text 25"/>
          <p:cNvSpPr/>
          <p:nvPr/>
        </p:nvSpPr>
        <p:spPr>
          <a:xfrm>
            <a:off x="5532120" y="3429000"/>
            <a:ext cx="2926080" cy="27432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How responses should look</a:t>
            </a:r>
            <a:endParaRPr lang="en-US" sz="1000" dirty="0"/>
          </a:p>
        </p:txBody>
      </p:sp>
      <p:sp>
        <p:nvSpPr>
          <p:cNvPr id="28" name="Shape 26"/>
          <p:cNvSpPr/>
          <p:nvPr/>
        </p:nvSpPr>
        <p:spPr>
          <a:xfrm>
            <a:off x="5303520" y="3931920"/>
            <a:ext cx="3383280" cy="68580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29" name="Shape 27"/>
          <p:cNvSpPr/>
          <p:nvPr/>
        </p:nvSpPr>
        <p:spPr>
          <a:xfrm>
            <a:off x="5303520" y="3931920"/>
            <a:ext cx="54864" cy="685800"/>
          </a:xfrm>
          <a:prstGeom prst="rect">
            <a:avLst/>
          </a:prstGeom>
          <a:solidFill>
            <a:srgbClr val="FF3DAB"/>
          </a:solidFill>
          <a:ln/>
        </p:spPr>
      </p:sp>
      <p:sp>
        <p:nvSpPr>
          <p:cNvPr id="30" name="Text 28"/>
          <p:cNvSpPr/>
          <p:nvPr/>
        </p:nvSpPr>
        <p:spPr>
          <a:xfrm>
            <a:off x="5532120" y="3977640"/>
            <a:ext cx="2926080" cy="274320"/>
          </a:xfrm>
          <a:prstGeom prst="rect">
            <a:avLst/>
          </a:prstGeom>
          <a:noFill/>
          <a:ln/>
        </p:spPr>
        <p:txBody>
          <a:bodyPr wrap="square" lIns="0" tIns="0" rIns="0" bIns="0" rtlCol="0" anchor="ctr"/>
          <a:lstStyle/>
          <a:p>
            <a:pPr indent="0" marL="0">
              <a:buNone/>
            </a:pPr>
            <a:r>
              <a:rPr lang="en-US" sz="1300" b="1" dirty="0">
                <a:solidFill>
                  <a:srgbClr val="FF3DAB"/>
                </a:solidFill>
                <a:latin typeface="Arial" pitchFamily="34" charset="0"/>
                <a:ea typeface="Arial" pitchFamily="34" charset="-122"/>
                <a:cs typeface="Arial" pitchFamily="34" charset="-120"/>
              </a:rPr>
              <a:t>Guardrails</a:t>
            </a:r>
            <a:endParaRPr lang="en-US" sz="1300" dirty="0"/>
          </a:p>
        </p:txBody>
      </p:sp>
      <p:sp>
        <p:nvSpPr>
          <p:cNvPr id="31" name="Text 29"/>
          <p:cNvSpPr/>
          <p:nvPr/>
        </p:nvSpPr>
        <p:spPr>
          <a:xfrm>
            <a:off x="5532120" y="4251960"/>
            <a:ext cx="2926080" cy="274320"/>
          </a:xfrm>
          <a:prstGeom prst="rect">
            <a:avLst/>
          </a:prstGeom>
          <a:noFill/>
          <a:ln/>
        </p:spPr>
        <p:txBody>
          <a:bodyPr wrap="square" lIns="0" tIns="0" rIns="0" bIns="0" rtlCol="0" anchor="ctr"/>
          <a:lstStyle/>
          <a:p>
            <a:pPr indent="0" marL="0">
              <a:buNone/>
            </a:pPr>
            <a:r>
              <a:rPr lang="en-US" sz="1000" dirty="0">
                <a:solidFill>
                  <a:srgbClr val="9B9BB0"/>
                </a:solidFill>
                <a:latin typeface="Arial" pitchFamily="34" charset="0"/>
                <a:ea typeface="Arial" pitchFamily="34" charset="-122"/>
                <a:cs typeface="Arial" pitchFamily="34" charset="-120"/>
              </a:rPr>
              <a:t>Safety nets and escalation paths</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Prompt engineering at work</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Everyday scenarios where the right prompt saves hours</a:t>
            </a:r>
            <a:endParaRPr lang="en-US" sz="1100" dirty="0"/>
          </a:p>
        </p:txBody>
      </p:sp>
      <p:sp>
        <p:nvSpPr>
          <p:cNvPr id="5" name="Shape 3"/>
          <p:cNvSpPr/>
          <p:nvPr/>
        </p:nvSpPr>
        <p:spPr>
          <a:xfrm>
            <a:off x="457200" y="105156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6" name="Shape 4"/>
          <p:cNvSpPr/>
          <p:nvPr/>
        </p:nvSpPr>
        <p:spPr>
          <a:xfrm>
            <a:off x="457200" y="1051560"/>
            <a:ext cx="54864" cy="1554480"/>
          </a:xfrm>
          <a:prstGeom prst="rect">
            <a:avLst/>
          </a:prstGeom>
          <a:solidFill>
            <a:srgbClr val="E91E8C"/>
          </a:solidFill>
          <a:ln/>
        </p:spPr>
      </p:sp>
      <p:sp>
        <p:nvSpPr>
          <p:cNvPr id="7" name="Text 5"/>
          <p:cNvSpPr/>
          <p:nvPr/>
        </p:nvSpPr>
        <p:spPr>
          <a:xfrm>
            <a:off x="685800" y="1143000"/>
            <a:ext cx="3474720" cy="320040"/>
          </a:xfrm>
          <a:prstGeom prst="rect">
            <a:avLst/>
          </a:prstGeom>
          <a:noFill/>
          <a:ln/>
        </p:spPr>
        <p:txBody>
          <a:bodyPr wrap="square" lIns="0" tIns="0" rIns="0" bIns="0" rtlCol="0" anchor="ctr"/>
          <a:lstStyle/>
          <a:p>
            <a:pPr indent="0" marL="0">
              <a:buNone/>
            </a:pPr>
            <a:r>
              <a:rPr lang="en-US" sz="1500" b="1" dirty="0">
                <a:solidFill>
                  <a:srgbClr val="E91E8C"/>
                </a:solidFill>
                <a:latin typeface="Arial" pitchFamily="34" charset="0"/>
                <a:ea typeface="Arial" pitchFamily="34" charset="-122"/>
                <a:cs typeface="Arial" pitchFamily="34" charset="-120"/>
              </a:rPr>
              <a:t>Code Review</a:t>
            </a:r>
            <a:endParaRPr lang="en-US" sz="1500" dirty="0"/>
          </a:p>
        </p:txBody>
      </p:sp>
      <p:sp>
        <p:nvSpPr>
          <p:cNvPr id="8" name="Text 6"/>
          <p:cNvSpPr/>
          <p:nvPr/>
        </p:nvSpPr>
        <p:spPr>
          <a:xfrm>
            <a:off x="685800" y="1554480"/>
            <a:ext cx="3474720" cy="9144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"You are a senior Python dev. Review for bugs, performance, readability. Rate severity high/med/low."</a:t>
            </a:r>
            <a:endParaRPr lang="en-US" sz="1050" dirty="0"/>
          </a:p>
        </p:txBody>
      </p:sp>
      <p:sp>
        <p:nvSpPr>
          <p:cNvPr id="9" name="Shape 7"/>
          <p:cNvSpPr/>
          <p:nvPr/>
        </p:nvSpPr>
        <p:spPr>
          <a:xfrm>
            <a:off x="4754880" y="105156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0" name="Shape 8"/>
          <p:cNvSpPr/>
          <p:nvPr/>
        </p:nvSpPr>
        <p:spPr>
          <a:xfrm>
            <a:off x="4754880" y="1051560"/>
            <a:ext cx="54864" cy="1554480"/>
          </a:xfrm>
          <a:prstGeom prst="rect">
            <a:avLst/>
          </a:prstGeom>
          <a:solidFill>
            <a:srgbClr val="4A9FFF"/>
          </a:solidFill>
          <a:ln/>
        </p:spPr>
      </p:sp>
      <p:sp>
        <p:nvSpPr>
          <p:cNvPr id="11" name="Text 9"/>
          <p:cNvSpPr/>
          <p:nvPr/>
        </p:nvSpPr>
        <p:spPr>
          <a:xfrm>
            <a:off x="4983480" y="1143000"/>
            <a:ext cx="3474720" cy="320040"/>
          </a:xfrm>
          <a:prstGeom prst="rect">
            <a:avLst/>
          </a:prstGeom>
          <a:noFill/>
          <a:ln/>
        </p:spPr>
        <p:txBody>
          <a:bodyPr wrap="square" lIns="0" tIns="0" rIns="0" bIns="0" rtlCol="0" anchor="ctr"/>
          <a:lstStyle/>
          <a:p>
            <a:pPr indent="0" marL="0">
              <a:buNone/>
            </a:pPr>
            <a:r>
              <a:rPr lang="en-US" sz="1500" b="1" dirty="0">
                <a:solidFill>
                  <a:srgbClr val="4A9FFF"/>
                </a:solidFill>
                <a:latin typeface="Arial" pitchFamily="34" charset="0"/>
                <a:ea typeface="Arial" pitchFamily="34" charset="-122"/>
                <a:cs typeface="Arial" pitchFamily="34" charset="-120"/>
              </a:rPr>
              <a:t>Data Analysis</a:t>
            </a:r>
            <a:endParaRPr lang="en-US" sz="1500" dirty="0"/>
          </a:p>
        </p:txBody>
      </p:sp>
      <p:sp>
        <p:nvSpPr>
          <p:cNvPr id="12" name="Text 10"/>
          <p:cNvSpPr/>
          <p:nvPr/>
        </p:nvSpPr>
        <p:spPr>
          <a:xfrm>
            <a:off x="4983480" y="1554480"/>
            <a:ext cx="3474720" cy="9144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"Analyze this CSV of monthly sales. Top 3 trends, anomalies, explanations. Numbered list."</a:t>
            </a:r>
            <a:endParaRPr lang="en-US" sz="1050" dirty="0"/>
          </a:p>
        </p:txBody>
      </p:sp>
      <p:sp>
        <p:nvSpPr>
          <p:cNvPr id="13" name="Shape 11"/>
          <p:cNvSpPr/>
          <p:nvPr/>
        </p:nvSpPr>
        <p:spPr>
          <a:xfrm>
            <a:off x="457200" y="283464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4" name="Shape 12"/>
          <p:cNvSpPr/>
          <p:nvPr/>
        </p:nvSpPr>
        <p:spPr>
          <a:xfrm>
            <a:off x="457200" y="2834640"/>
            <a:ext cx="54864" cy="1554480"/>
          </a:xfrm>
          <a:prstGeom prst="rect">
            <a:avLst/>
          </a:prstGeom>
          <a:solidFill>
            <a:srgbClr val="00D4AA"/>
          </a:solidFill>
          <a:ln/>
        </p:spPr>
      </p:sp>
      <p:sp>
        <p:nvSpPr>
          <p:cNvPr id="15" name="Text 13"/>
          <p:cNvSpPr/>
          <p:nvPr/>
        </p:nvSpPr>
        <p:spPr>
          <a:xfrm>
            <a:off x="685800" y="2926080"/>
            <a:ext cx="3474720" cy="320040"/>
          </a:xfrm>
          <a:prstGeom prst="rect">
            <a:avLst/>
          </a:prstGeom>
          <a:noFill/>
          <a:ln/>
        </p:spPr>
        <p:txBody>
          <a:bodyPr wrap="square" lIns="0" tIns="0" rIns="0" bIns="0" rtlCol="0" anchor="ctr"/>
          <a:lstStyle/>
          <a:p>
            <a:pPr indent="0" marL="0">
              <a:buNone/>
            </a:pPr>
            <a:r>
              <a:rPr lang="en-US" sz="1500" b="1" dirty="0">
                <a:solidFill>
                  <a:srgbClr val="00D4AA"/>
                </a:solidFill>
                <a:latin typeface="Arial" pitchFamily="34" charset="0"/>
                <a:ea typeface="Arial" pitchFamily="34" charset="-122"/>
                <a:cs typeface="Arial" pitchFamily="34" charset="-120"/>
              </a:rPr>
              <a:t>Email Drafting</a:t>
            </a:r>
            <a:endParaRPr lang="en-US" sz="1500" dirty="0"/>
          </a:p>
        </p:txBody>
      </p:sp>
      <p:sp>
        <p:nvSpPr>
          <p:cNvPr id="16" name="Text 14"/>
          <p:cNvSpPr/>
          <p:nvPr/>
        </p:nvSpPr>
        <p:spPr>
          <a:xfrm>
            <a:off x="685800" y="3337560"/>
            <a:ext cx="3474720" cy="9144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"Follow-up to client who missed deadline. Tone: firm but professional. Goal: new commitment date. Max 100 words."</a:t>
            </a:r>
            <a:endParaRPr lang="en-US" sz="1050" dirty="0"/>
          </a:p>
        </p:txBody>
      </p:sp>
      <p:sp>
        <p:nvSpPr>
          <p:cNvPr id="17" name="Shape 15"/>
          <p:cNvSpPr/>
          <p:nvPr/>
        </p:nvSpPr>
        <p:spPr>
          <a:xfrm>
            <a:off x="4754880" y="2834640"/>
            <a:ext cx="3931920" cy="155448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8" name="Shape 16"/>
          <p:cNvSpPr/>
          <p:nvPr/>
        </p:nvSpPr>
        <p:spPr>
          <a:xfrm>
            <a:off x="4754880" y="2834640"/>
            <a:ext cx="54864" cy="1554480"/>
          </a:xfrm>
          <a:prstGeom prst="rect">
            <a:avLst/>
          </a:prstGeom>
          <a:solidFill>
            <a:srgbClr val="FF3DAB"/>
          </a:solidFill>
          <a:ln/>
        </p:spPr>
      </p:sp>
      <p:sp>
        <p:nvSpPr>
          <p:cNvPr id="19" name="Text 17"/>
          <p:cNvSpPr/>
          <p:nvPr/>
        </p:nvSpPr>
        <p:spPr>
          <a:xfrm>
            <a:off x="4983480" y="2926080"/>
            <a:ext cx="3474720" cy="320040"/>
          </a:xfrm>
          <a:prstGeom prst="rect">
            <a:avLst/>
          </a:prstGeom>
          <a:noFill/>
          <a:ln/>
        </p:spPr>
        <p:txBody>
          <a:bodyPr wrap="square" lIns="0" tIns="0" rIns="0" bIns="0" rtlCol="0" anchor="ctr"/>
          <a:lstStyle/>
          <a:p>
            <a:pPr indent="0" marL="0">
              <a:buNone/>
            </a:pPr>
            <a:r>
              <a:rPr lang="en-US" sz="1500" b="1" dirty="0">
                <a:solidFill>
                  <a:srgbClr val="FF3DAB"/>
                </a:solidFill>
                <a:latin typeface="Arial" pitchFamily="34" charset="0"/>
                <a:ea typeface="Arial" pitchFamily="34" charset="-122"/>
                <a:cs typeface="Arial" pitchFamily="34" charset="-120"/>
              </a:rPr>
              <a:t>Content Creation</a:t>
            </a:r>
            <a:endParaRPr lang="en-US" sz="1500" dirty="0"/>
          </a:p>
        </p:txBody>
      </p:sp>
      <p:sp>
        <p:nvSpPr>
          <p:cNvPr id="20" name="Text 18"/>
          <p:cNvSpPr/>
          <p:nvPr/>
        </p:nvSpPr>
        <p:spPr>
          <a:xfrm>
            <a:off x="4983480" y="3337560"/>
            <a:ext cx="3474720" cy="914400"/>
          </a:xfrm>
          <a:prstGeom prst="rect">
            <a:avLst/>
          </a:prstGeom>
          <a:noFill/>
          <a:ln/>
        </p:spPr>
        <p:txBody>
          <a:bodyPr wrap="square" lIns="0" tIns="0" rIns="0" bIns="0" rtlCol="0" anchor="ctr"/>
          <a:lstStyle/>
          <a:p>
            <a:pPr indent="0" marL="0">
              <a:buNone/>
            </a:pPr>
            <a:r>
              <a:rPr lang="en-US" sz="1050" dirty="0">
                <a:solidFill>
                  <a:srgbClr val="C8C8D8"/>
                </a:solidFill>
                <a:latin typeface="Consolas" pitchFamily="34" charset="0"/>
                <a:ea typeface="Consolas" pitchFamily="34" charset="-122"/>
                <a:cs typeface="Consolas" pitchFamily="34" charset="-120"/>
              </a:rPr>
              <a:t>"B2B content strategist. 300-word blog intro about cloud migration for CTOs. Authoritative, not salesy."</a:t>
            </a:r>
            <a:endParaRPr lang="en-US" sz="1050" dirty="0"/>
          </a:p>
        </p:txBody>
      </p:sp>
      <p:sp>
        <p:nvSpPr>
          <p:cNvPr id="21" name="Text 19"/>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1200" i="1" dirty="0">
                <a:solidFill>
                  <a:srgbClr val="E91E8C"/>
                </a:solidFill>
                <a:latin typeface="Arial" pitchFamily="34" charset="0"/>
                <a:ea typeface="Arial" pitchFamily="34" charset="-122"/>
                <a:cs typeface="Arial" pitchFamily="34" charset="-120"/>
              </a:rPr>
              <a:t>These aren't "prompt tricks" — they're just good communication</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Your prompt toolkit</a:t>
            </a:r>
            <a:endParaRPr lang="en-US" sz="2800" dirty="0"/>
          </a:p>
        </p:txBody>
      </p:sp>
      <p:sp>
        <p:nvSpPr>
          <p:cNvPr id="4" name="Text 2"/>
          <p:cNvSpPr/>
          <p:nvPr/>
        </p:nvSpPr>
        <p:spPr>
          <a:xfrm>
            <a:off x="731520" y="685800"/>
            <a:ext cx="7315200" cy="228600"/>
          </a:xfrm>
          <a:prstGeom prst="rect">
            <a:avLst/>
          </a:prstGeom>
          <a:noFill/>
          <a:ln/>
        </p:spPr>
        <p:txBody>
          <a:bodyPr wrap="square" lIns="0" tIns="0" rIns="0" bIns="0" rtlCol="0" anchor="ctr"/>
          <a:lstStyle/>
          <a:p>
            <a:pPr indent="0" marL="0">
              <a:buNone/>
            </a:pPr>
            <a:r>
              <a:rPr lang="en-US" sz="1100" dirty="0">
                <a:solidFill>
                  <a:srgbClr val="9B9BB0"/>
                </a:solidFill>
                <a:latin typeface="Arial" pitchFamily="34" charset="0"/>
                <a:ea typeface="Arial" pitchFamily="34" charset="-122"/>
                <a:cs typeface="Arial" pitchFamily="34" charset="-120"/>
              </a:rPr>
              <a:t>Screenshot this — templates and rules in one place</a:t>
            </a:r>
            <a:endParaRPr lang="en-US" sz="1100" dirty="0"/>
          </a:p>
        </p:txBody>
      </p:sp>
      <p:sp>
        <p:nvSpPr>
          <p:cNvPr id="5" name="Text 3"/>
          <p:cNvSpPr/>
          <p:nvPr/>
        </p:nvSpPr>
        <p:spPr>
          <a:xfrm>
            <a:off x="457200" y="1005840"/>
            <a:ext cx="4023360" cy="228600"/>
          </a:xfrm>
          <a:prstGeom prst="rect">
            <a:avLst/>
          </a:prstGeom>
          <a:noFill/>
          <a:ln/>
        </p:spPr>
        <p:txBody>
          <a:bodyPr wrap="square" lIns="0" tIns="0" rIns="0" bIns="0" rtlCol="0" anchor="ctr"/>
          <a:lstStyle/>
          <a:p>
            <a:pPr indent="0" marL="0">
              <a:buNone/>
            </a:pPr>
            <a:r>
              <a:rPr lang="en-US" sz="1100" b="1" dirty="0">
                <a:solidFill>
                  <a:srgbClr val="E91E8C"/>
                </a:solidFill>
                <a:latin typeface="Arial" pitchFamily="34" charset="0"/>
                <a:ea typeface="Arial" pitchFamily="34" charset="-122"/>
                <a:cs typeface="Arial" pitchFamily="34" charset="-120"/>
              </a:rPr>
              <a:t>Templates — fill in the [blanks]</a:t>
            </a:r>
            <a:endParaRPr lang="en-US" sz="1100" dirty="0"/>
          </a:p>
        </p:txBody>
      </p:sp>
      <p:sp>
        <p:nvSpPr>
          <p:cNvPr id="6" name="Shape 4"/>
          <p:cNvSpPr/>
          <p:nvPr/>
        </p:nvSpPr>
        <p:spPr>
          <a:xfrm>
            <a:off x="457200" y="1280160"/>
            <a:ext cx="4023360" cy="758952"/>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7" name="Shape 5"/>
          <p:cNvSpPr/>
          <p:nvPr/>
        </p:nvSpPr>
        <p:spPr>
          <a:xfrm>
            <a:off x="457200" y="1280160"/>
            <a:ext cx="45720" cy="758952"/>
          </a:xfrm>
          <a:prstGeom prst="rect">
            <a:avLst/>
          </a:prstGeom>
          <a:solidFill>
            <a:srgbClr val="E91E8C"/>
          </a:solidFill>
          <a:ln/>
        </p:spPr>
      </p:sp>
      <p:sp>
        <p:nvSpPr>
          <p:cNvPr id="8" name="Text 6"/>
          <p:cNvSpPr/>
          <p:nvPr/>
        </p:nvSpPr>
        <p:spPr>
          <a:xfrm>
            <a:off x="594360" y="1307592"/>
            <a:ext cx="1097280" cy="228600"/>
          </a:xfrm>
          <a:prstGeom prst="rect">
            <a:avLst/>
          </a:prstGeom>
          <a:noFill/>
          <a:ln/>
        </p:spPr>
        <p:txBody>
          <a:bodyPr wrap="square" lIns="0" tIns="0" rIns="0" bIns="0" rtlCol="0" anchor="ctr"/>
          <a:lstStyle/>
          <a:p>
            <a:pPr indent="0" marL="0">
              <a:buNone/>
            </a:pPr>
            <a:r>
              <a:rPr lang="en-US" sz="1000" b="1" dirty="0">
                <a:solidFill>
                  <a:srgbClr val="E91E8C"/>
                </a:solidFill>
                <a:latin typeface="Arial" pitchFamily="34" charset="0"/>
                <a:ea typeface="Arial" pitchFamily="34" charset="-122"/>
                <a:cs typeface="Arial" pitchFamily="34" charset="-120"/>
              </a:rPr>
              <a:t>The Expert</a:t>
            </a:r>
            <a:endParaRPr lang="en-US" sz="1000" dirty="0"/>
          </a:p>
        </p:txBody>
      </p:sp>
      <p:sp>
        <p:nvSpPr>
          <p:cNvPr id="9" name="Text 7"/>
          <p:cNvSpPr/>
          <p:nvPr/>
        </p:nvSpPr>
        <p:spPr>
          <a:xfrm>
            <a:off x="1737360" y="1307592"/>
            <a:ext cx="2606040" cy="704088"/>
          </a:xfrm>
          <a:prstGeom prst="rect">
            <a:avLst/>
          </a:prstGeom>
          <a:noFill/>
          <a:ln/>
        </p:spPr>
        <p:txBody>
          <a:bodyPr wrap="square" lIns="0" tIns="0" rIns="0" bIns="0" rtlCol="0" anchor="ctr"/>
          <a:lstStyle/>
          <a:p>
            <a:pPr indent="0" marL="0">
              <a:buNone/>
            </a:pPr>
            <a:r>
              <a:rPr lang="en-US" sz="750" dirty="0">
                <a:solidFill>
                  <a:srgbClr val="C8C8D8"/>
                </a:solidFill>
                <a:latin typeface="Consolas" pitchFamily="34" charset="0"/>
                <a:ea typeface="Consolas" pitchFamily="34" charset="-122"/>
                <a:cs typeface="Consolas" pitchFamily="34" charset="-120"/>
              </a:rPr>
              <a:t>"You are a [role] with [X] years exp.</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[Task] for [audience]. Format: [format].</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Max [N] words."</a:t>
            </a:r>
            <a:endParaRPr lang="en-US" sz="750" dirty="0"/>
          </a:p>
        </p:txBody>
      </p:sp>
      <p:sp>
        <p:nvSpPr>
          <p:cNvPr id="10" name="Shape 8"/>
          <p:cNvSpPr/>
          <p:nvPr/>
        </p:nvSpPr>
        <p:spPr>
          <a:xfrm>
            <a:off x="457200" y="2130552"/>
            <a:ext cx="4023360" cy="758952"/>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1" name="Shape 9"/>
          <p:cNvSpPr/>
          <p:nvPr/>
        </p:nvSpPr>
        <p:spPr>
          <a:xfrm>
            <a:off x="457200" y="2130552"/>
            <a:ext cx="45720" cy="758952"/>
          </a:xfrm>
          <a:prstGeom prst="rect">
            <a:avLst/>
          </a:prstGeom>
          <a:solidFill>
            <a:srgbClr val="4A9FFF"/>
          </a:solidFill>
          <a:ln/>
        </p:spPr>
      </p:sp>
      <p:sp>
        <p:nvSpPr>
          <p:cNvPr id="12" name="Text 10"/>
          <p:cNvSpPr/>
          <p:nvPr/>
        </p:nvSpPr>
        <p:spPr>
          <a:xfrm>
            <a:off x="594360" y="2157984"/>
            <a:ext cx="1097280" cy="228600"/>
          </a:xfrm>
          <a:prstGeom prst="rect">
            <a:avLst/>
          </a:prstGeom>
          <a:noFill/>
          <a:ln/>
        </p:spPr>
        <p:txBody>
          <a:bodyPr wrap="square" lIns="0" tIns="0" rIns="0" bIns="0" rtlCol="0" anchor="ctr"/>
          <a:lstStyle/>
          <a:p>
            <a:pPr indent="0" marL="0">
              <a:buNone/>
            </a:pPr>
            <a:r>
              <a:rPr lang="en-US" sz="1000" b="1" dirty="0">
                <a:solidFill>
                  <a:srgbClr val="4A9FFF"/>
                </a:solidFill>
                <a:latin typeface="Arial" pitchFamily="34" charset="0"/>
                <a:ea typeface="Arial" pitchFamily="34" charset="-122"/>
                <a:cs typeface="Arial" pitchFamily="34" charset="-120"/>
              </a:rPr>
              <a:t>The Extractor</a:t>
            </a:r>
            <a:endParaRPr lang="en-US" sz="1000" dirty="0"/>
          </a:p>
        </p:txBody>
      </p:sp>
      <p:sp>
        <p:nvSpPr>
          <p:cNvPr id="13" name="Text 11"/>
          <p:cNvSpPr/>
          <p:nvPr/>
        </p:nvSpPr>
        <p:spPr>
          <a:xfrm>
            <a:off x="1737360" y="2157984"/>
            <a:ext cx="2606040" cy="704088"/>
          </a:xfrm>
          <a:prstGeom prst="rect">
            <a:avLst/>
          </a:prstGeom>
          <a:noFill/>
          <a:ln/>
        </p:spPr>
        <p:txBody>
          <a:bodyPr wrap="square" lIns="0" tIns="0" rIns="0" bIns="0" rtlCol="0" anchor="ctr"/>
          <a:lstStyle/>
          <a:p>
            <a:pPr indent="0" marL="0">
              <a:buNone/>
            </a:pPr>
            <a:r>
              <a:rPr lang="en-US" sz="750" dirty="0">
                <a:solidFill>
                  <a:srgbClr val="C8C8D8"/>
                </a:solidFill>
                <a:latin typeface="Consolas" pitchFamily="34" charset="0"/>
                <a:ea typeface="Consolas" pitchFamily="34" charset="-122"/>
                <a:cs typeface="Consolas" pitchFamily="34" charset="-120"/>
              </a:rPr>
              <a:t>"From [source], extract: [field 1],</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[field 2], [field 3]. Return as</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[JSON/table]. If unsure: unknown."</a:t>
            </a:r>
            <a:endParaRPr lang="en-US" sz="750" dirty="0"/>
          </a:p>
        </p:txBody>
      </p:sp>
      <p:sp>
        <p:nvSpPr>
          <p:cNvPr id="14" name="Shape 12"/>
          <p:cNvSpPr/>
          <p:nvPr/>
        </p:nvSpPr>
        <p:spPr>
          <a:xfrm>
            <a:off x="457200" y="2980944"/>
            <a:ext cx="4023360" cy="758952"/>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5" name="Shape 13"/>
          <p:cNvSpPr/>
          <p:nvPr/>
        </p:nvSpPr>
        <p:spPr>
          <a:xfrm>
            <a:off x="457200" y="2980944"/>
            <a:ext cx="45720" cy="758952"/>
          </a:xfrm>
          <a:prstGeom prst="rect">
            <a:avLst/>
          </a:prstGeom>
          <a:solidFill>
            <a:srgbClr val="00D4AA"/>
          </a:solidFill>
          <a:ln/>
        </p:spPr>
      </p:sp>
      <p:sp>
        <p:nvSpPr>
          <p:cNvPr id="16" name="Text 14"/>
          <p:cNvSpPr/>
          <p:nvPr/>
        </p:nvSpPr>
        <p:spPr>
          <a:xfrm>
            <a:off x="594360" y="3008376"/>
            <a:ext cx="1097280" cy="228600"/>
          </a:xfrm>
          <a:prstGeom prst="rect">
            <a:avLst/>
          </a:prstGeom>
          <a:noFill/>
          <a:ln/>
        </p:spPr>
        <p:txBody>
          <a:bodyPr wrap="square" lIns="0" tIns="0" rIns="0" bIns="0" rtlCol="0" anchor="ctr"/>
          <a:lstStyle/>
          <a:p>
            <a:pPr indent="0" marL="0">
              <a:buNone/>
            </a:pPr>
            <a:r>
              <a:rPr lang="en-US" sz="1000" b="1" dirty="0">
                <a:solidFill>
                  <a:srgbClr val="00D4AA"/>
                </a:solidFill>
                <a:latin typeface="Arial" pitchFamily="34" charset="0"/>
                <a:ea typeface="Arial" pitchFamily="34" charset="-122"/>
                <a:cs typeface="Arial" pitchFamily="34" charset="-120"/>
              </a:rPr>
              <a:t>The Analyst</a:t>
            </a:r>
            <a:endParaRPr lang="en-US" sz="1000" dirty="0"/>
          </a:p>
        </p:txBody>
      </p:sp>
      <p:sp>
        <p:nvSpPr>
          <p:cNvPr id="17" name="Text 15"/>
          <p:cNvSpPr/>
          <p:nvPr/>
        </p:nvSpPr>
        <p:spPr>
          <a:xfrm>
            <a:off x="1737360" y="3008376"/>
            <a:ext cx="2606040" cy="704088"/>
          </a:xfrm>
          <a:prstGeom prst="rect">
            <a:avLst/>
          </a:prstGeom>
          <a:noFill/>
          <a:ln/>
        </p:spPr>
        <p:txBody>
          <a:bodyPr wrap="square" lIns="0" tIns="0" rIns="0" bIns="0" rtlCol="0" anchor="ctr"/>
          <a:lstStyle/>
          <a:p>
            <a:pPr indent="0" marL="0">
              <a:buNone/>
            </a:pPr>
            <a:r>
              <a:rPr lang="en-US" sz="750" dirty="0">
                <a:solidFill>
                  <a:srgbClr val="C8C8D8"/>
                </a:solidFill>
                <a:latin typeface="Consolas" pitchFamily="34" charset="0"/>
                <a:ea typeface="Consolas" pitchFamily="34" charset="-122"/>
                <a:cs typeface="Consolas" pitchFamily="34" charset="-120"/>
              </a:rPr>
              <a:t>"Analyze [data]. Top [N] trends.</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Compare to [benchmark].</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Present as [format]."</a:t>
            </a:r>
            <a:endParaRPr lang="en-US" sz="750" dirty="0"/>
          </a:p>
        </p:txBody>
      </p:sp>
      <p:sp>
        <p:nvSpPr>
          <p:cNvPr id="18" name="Shape 16"/>
          <p:cNvSpPr/>
          <p:nvPr/>
        </p:nvSpPr>
        <p:spPr>
          <a:xfrm>
            <a:off x="457200" y="3831336"/>
            <a:ext cx="4023360" cy="758952"/>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9" name="Shape 17"/>
          <p:cNvSpPr/>
          <p:nvPr/>
        </p:nvSpPr>
        <p:spPr>
          <a:xfrm>
            <a:off x="457200" y="3831336"/>
            <a:ext cx="45720" cy="758952"/>
          </a:xfrm>
          <a:prstGeom prst="rect">
            <a:avLst/>
          </a:prstGeom>
          <a:solidFill>
            <a:srgbClr val="FF3DAB"/>
          </a:solidFill>
          <a:ln/>
        </p:spPr>
      </p:sp>
      <p:sp>
        <p:nvSpPr>
          <p:cNvPr id="20" name="Text 18"/>
          <p:cNvSpPr/>
          <p:nvPr/>
        </p:nvSpPr>
        <p:spPr>
          <a:xfrm>
            <a:off x="594360" y="3858768"/>
            <a:ext cx="1097280" cy="228600"/>
          </a:xfrm>
          <a:prstGeom prst="rect">
            <a:avLst/>
          </a:prstGeom>
          <a:noFill/>
          <a:ln/>
        </p:spPr>
        <p:txBody>
          <a:bodyPr wrap="square" lIns="0" tIns="0" rIns="0" bIns="0" rtlCol="0" anchor="ctr"/>
          <a:lstStyle/>
          <a:p>
            <a:pPr indent="0" marL="0">
              <a:buNone/>
            </a:pPr>
            <a:r>
              <a:rPr lang="en-US" sz="1000" b="1" dirty="0">
                <a:solidFill>
                  <a:srgbClr val="FF3DAB"/>
                </a:solidFill>
                <a:latin typeface="Arial" pitchFamily="34" charset="0"/>
                <a:ea typeface="Arial" pitchFamily="34" charset="-122"/>
                <a:cs typeface="Arial" pitchFamily="34" charset="-120"/>
              </a:rPr>
              <a:t>The Creator</a:t>
            </a:r>
            <a:endParaRPr lang="en-US" sz="1000" dirty="0"/>
          </a:p>
        </p:txBody>
      </p:sp>
      <p:sp>
        <p:nvSpPr>
          <p:cNvPr id="21" name="Text 19"/>
          <p:cNvSpPr/>
          <p:nvPr/>
        </p:nvSpPr>
        <p:spPr>
          <a:xfrm>
            <a:off x="1737360" y="3858768"/>
            <a:ext cx="2606040" cy="704088"/>
          </a:xfrm>
          <a:prstGeom prst="rect">
            <a:avLst/>
          </a:prstGeom>
          <a:noFill/>
          <a:ln/>
        </p:spPr>
        <p:txBody>
          <a:bodyPr wrap="square" lIns="0" tIns="0" rIns="0" bIns="0" rtlCol="0" anchor="ctr"/>
          <a:lstStyle/>
          <a:p>
            <a:pPr indent="0" marL="0">
              <a:buNone/>
            </a:pPr>
            <a:r>
              <a:rPr lang="en-US" sz="750" dirty="0">
                <a:solidFill>
                  <a:srgbClr val="C8C8D8"/>
                </a:solidFill>
                <a:latin typeface="Consolas" pitchFamily="34" charset="0"/>
                <a:ea typeface="Consolas" pitchFamily="34" charset="-122"/>
                <a:cs typeface="Consolas" pitchFamily="34" charset="-120"/>
              </a:rPr>
              <a:t>"Write [type] about [topic].</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Audience: [who]. Tone: [tone].</a:t>
            </a:r>
            <a:endParaRPr lang="en-US" sz="750" dirty="0"/>
          </a:p>
          <a:p>
            <a:pPr indent="0" marL="0">
              <a:buNone/>
            </a:pPr>
            <a:r>
              <a:rPr lang="en-US" sz="750" dirty="0">
                <a:solidFill>
                  <a:srgbClr val="C8C8D8"/>
                </a:solidFill>
                <a:latin typeface="Consolas" pitchFamily="34" charset="0"/>
                <a:ea typeface="Consolas" pitchFamily="34" charset="-122"/>
                <a:cs typeface="Consolas" pitchFamily="34" charset="-120"/>
              </a:rPr>
              <a:t>Include: [elements]. [N] words."</a:t>
            </a:r>
            <a:endParaRPr lang="en-US" sz="750" dirty="0"/>
          </a:p>
        </p:txBody>
      </p:sp>
      <p:sp>
        <p:nvSpPr>
          <p:cNvPr id="22" name="Text 20"/>
          <p:cNvSpPr/>
          <p:nvPr/>
        </p:nvSpPr>
        <p:spPr>
          <a:xfrm>
            <a:off x="4754880" y="1005840"/>
            <a:ext cx="3931920" cy="228600"/>
          </a:xfrm>
          <a:prstGeom prst="rect">
            <a:avLst/>
          </a:prstGeom>
          <a:noFill/>
          <a:ln/>
        </p:spPr>
        <p:txBody>
          <a:bodyPr wrap="square" lIns="0" tIns="0" rIns="0" bIns="0" rtlCol="0" anchor="ctr"/>
          <a:lstStyle/>
          <a:p>
            <a:pPr indent="0" marL="0">
              <a:buNone/>
            </a:pPr>
            <a:r>
              <a:rPr lang="en-US" sz="1100" b="1" dirty="0">
                <a:solidFill>
                  <a:srgbClr val="00D4AA"/>
                </a:solidFill>
                <a:latin typeface="Arial" pitchFamily="34" charset="0"/>
                <a:ea typeface="Arial" pitchFamily="34" charset="-122"/>
                <a:cs typeface="Arial" pitchFamily="34" charset="-120"/>
              </a:rPr>
              <a:t>Rules — pin this next to your screen</a:t>
            </a:r>
            <a:endParaRPr lang="en-US" sz="1100" dirty="0"/>
          </a:p>
        </p:txBody>
      </p:sp>
      <p:sp>
        <p:nvSpPr>
          <p:cNvPr id="23" name="Shape 21"/>
          <p:cNvSpPr/>
          <p:nvPr/>
        </p:nvSpPr>
        <p:spPr>
          <a:xfrm>
            <a:off x="4754880" y="1280160"/>
            <a:ext cx="3931920" cy="356616"/>
          </a:xfrm>
          <a:prstGeom prst="rect">
            <a:avLst/>
          </a:prstGeom>
          <a:solidFill>
            <a:srgbClr val="16162A"/>
          </a:solidFill>
          <a:ln/>
        </p:spPr>
      </p:sp>
      <p:sp>
        <p:nvSpPr>
          <p:cNvPr id="24" name="Shape 22"/>
          <p:cNvSpPr/>
          <p:nvPr/>
        </p:nvSpPr>
        <p:spPr>
          <a:xfrm>
            <a:off x="4846320" y="1344168"/>
            <a:ext cx="228600" cy="228600"/>
          </a:xfrm>
          <a:prstGeom prst="ellipse">
            <a:avLst/>
          </a:prstGeom>
          <a:solidFill>
            <a:srgbClr val="E91E8C"/>
          </a:solidFill>
          <a:ln/>
        </p:spPr>
      </p:sp>
      <p:sp>
        <p:nvSpPr>
          <p:cNvPr id="25" name="Text 23"/>
          <p:cNvSpPr/>
          <p:nvPr/>
        </p:nvSpPr>
        <p:spPr>
          <a:xfrm>
            <a:off x="5166360" y="1280160"/>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Start with a clear verb: Summarize, Compare, Create</a:t>
            </a:r>
            <a:endParaRPr lang="en-US" sz="950" dirty="0"/>
          </a:p>
        </p:txBody>
      </p:sp>
      <p:sp>
        <p:nvSpPr>
          <p:cNvPr id="26" name="Shape 24"/>
          <p:cNvSpPr/>
          <p:nvPr/>
        </p:nvSpPr>
        <p:spPr>
          <a:xfrm>
            <a:off x="4754880" y="1700784"/>
            <a:ext cx="3931920" cy="356616"/>
          </a:xfrm>
          <a:prstGeom prst="rect">
            <a:avLst/>
          </a:prstGeom>
          <a:solidFill>
            <a:srgbClr val="16162A"/>
          </a:solidFill>
          <a:ln/>
        </p:spPr>
      </p:sp>
      <p:sp>
        <p:nvSpPr>
          <p:cNvPr id="27" name="Shape 25"/>
          <p:cNvSpPr/>
          <p:nvPr/>
        </p:nvSpPr>
        <p:spPr>
          <a:xfrm>
            <a:off x="4846320" y="1764792"/>
            <a:ext cx="228600" cy="228600"/>
          </a:xfrm>
          <a:prstGeom prst="ellipse">
            <a:avLst/>
          </a:prstGeom>
          <a:solidFill>
            <a:srgbClr val="4A9FFF"/>
          </a:solidFill>
          <a:ln/>
        </p:spPr>
      </p:sp>
      <p:sp>
        <p:nvSpPr>
          <p:cNvPr id="28" name="Text 26"/>
          <p:cNvSpPr/>
          <p:nvPr/>
        </p:nvSpPr>
        <p:spPr>
          <a:xfrm>
            <a:off x="5166360" y="1700784"/>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Assign a role and expertise level</a:t>
            </a:r>
            <a:endParaRPr lang="en-US" sz="950" dirty="0"/>
          </a:p>
        </p:txBody>
      </p:sp>
      <p:sp>
        <p:nvSpPr>
          <p:cNvPr id="29" name="Shape 27"/>
          <p:cNvSpPr/>
          <p:nvPr/>
        </p:nvSpPr>
        <p:spPr>
          <a:xfrm>
            <a:off x="4754880" y="2121408"/>
            <a:ext cx="3931920" cy="356616"/>
          </a:xfrm>
          <a:prstGeom prst="rect">
            <a:avLst/>
          </a:prstGeom>
          <a:solidFill>
            <a:srgbClr val="16162A"/>
          </a:solidFill>
          <a:ln/>
        </p:spPr>
      </p:sp>
      <p:sp>
        <p:nvSpPr>
          <p:cNvPr id="30" name="Shape 28"/>
          <p:cNvSpPr/>
          <p:nvPr/>
        </p:nvSpPr>
        <p:spPr>
          <a:xfrm>
            <a:off x="4846320" y="2185416"/>
            <a:ext cx="228600" cy="228600"/>
          </a:xfrm>
          <a:prstGeom prst="ellipse">
            <a:avLst/>
          </a:prstGeom>
          <a:solidFill>
            <a:srgbClr val="00D4AA"/>
          </a:solidFill>
          <a:ln/>
        </p:spPr>
      </p:sp>
      <p:sp>
        <p:nvSpPr>
          <p:cNvPr id="31" name="Text 29"/>
          <p:cNvSpPr/>
          <p:nvPr/>
        </p:nvSpPr>
        <p:spPr>
          <a:xfrm>
            <a:off x="5166360" y="2121408"/>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Set constraints: length, format, audience, tone</a:t>
            </a:r>
            <a:endParaRPr lang="en-US" sz="950" dirty="0"/>
          </a:p>
        </p:txBody>
      </p:sp>
      <p:sp>
        <p:nvSpPr>
          <p:cNvPr id="32" name="Shape 30"/>
          <p:cNvSpPr/>
          <p:nvPr/>
        </p:nvSpPr>
        <p:spPr>
          <a:xfrm>
            <a:off x="4754880" y="2542032"/>
            <a:ext cx="3931920" cy="356616"/>
          </a:xfrm>
          <a:prstGeom prst="rect">
            <a:avLst/>
          </a:prstGeom>
          <a:solidFill>
            <a:srgbClr val="16162A"/>
          </a:solidFill>
          <a:ln/>
        </p:spPr>
      </p:sp>
      <p:sp>
        <p:nvSpPr>
          <p:cNvPr id="33" name="Shape 31"/>
          <p:cNvSpPr/>
          <p:nvPr/>
        </p:nvSpPr>
        <p:spPr>
          <a:xfrm>
            <a:off x="4846320" y="2606040"/>
            <a:ext cx="228600" cy="228600"/>
          </a:xfrm>
          <a:prstGeom prst="ellipse">
            <a:avLst/>
          </a:prstGeom>
          <a:solidFill>
            <a:srgbClr val="FF3DAB"/>
          </a:solidFill>
          <a:ln/>
        </p:spPr>
      </p:sp>
      <p:sp>
        <p:nvSpPr>
          <p:cNvPr id="34" name="Text 32"/>
          <p:cNvSpPr/>
          <p:nvPr/>
        </p:nvSpPr>
        <p:spPr>
          <a:xfrm>
            <a:off x="5166360" y="2542032"/>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Show 2-3 examples (few-shot)</a:t>
            </a:r>
            <a:endParaRPr lang="en-US" sz="950" dirty="0"/>
          </a:p>
        </p:txBody>
      </p:sp>
      <p:sp>
        <p:nvSpPr>
          <p:cNvPr id="35" name="Shape 33"/>
          <p:cNvSpPr/>
          <p:nvPr/>
        </p:nvSpPr>
        <p:spPr>
          <a:xfrm>
            <a:off x="4754880" y="2962656"/>
            <a:ext cx="3931920" cy="356616"/>
          </a:xfrm>
          <a:prstGeom prst="rect">
            <a:avLst/>
          </a:prstGeom>
          <a:solidFill>
            <a:srgbClr val="16162A"/>
          </a:solidFill>
          <a:ln/>
        </p:spPr>
      </p:sp>
      <p:sp>
        <p:nvSpPr>
          <p:cNvPr id="36" name="Shape 34"/>
          <p:cNvSpPr/>
          <p:nvPr/>
        </p:nvSpPr>
        <p:spPr>
          <a:xfrm>
            <a:off x="4846320" y="3026664"/>
            <a:ext cx="228600" cy="228600"/>
          </a:xfrm>
          <a:prstGeom prst="ellipse">
            <a:avLst/>
          </a:prstGeom>
          <a:solidFill>
            <a:srgbClr val="FFB347"/>
          </a:solidFill>
          <a:ln/>
        </p:spPr>
      </p:sp>
      <p:sp>
        <p:nvSpPr>
          <p:cNvPr id="37" name="Text 35"/>
          <p:cNvSpPr/>
          <p:nvPr/>
        </p:nvSpPr>
        <p:spPr>
          <a:xfrm>
            <a:off x="5166360" y="2962656"/>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Use delimiters to separate instructions from data</a:t>
            </a:r>
            <a:endParaRPr lang="en-US" sz="950" dirty="0"/>
          </a:p>
        </p:txBody>
      </p:sp>
      <p:sp>
        <p:nvSpPr>
          <p:cNvPr id="38" name="Shape 36"/>
          <p:cNvSpPr/>
          <p:nvPr/>
        </p:nvSpPr>
        <p:spPr>
          <a:xfrm>
            <a:off x="4754880" y="3383280"/>
            <a:ext cx="3931920" cy="356616"/>
          </a:xfrm>
          <a:prstGeom prst="rect">
            <a:avLst/>
          </a:prstGeom>
          <a:solidFill>
            <a:srgbClr val="16162A"/>
          </a:solidFill>
          <a:ln/>
        </p:spPr>
      </p:sp>
      <p:sp>
        <p:nvSpPr>
          <p:cNvPr id="39" name="Shape 37"/>
          <p:cNvSpPr/>
          <p:nvPr/>
        </p:nvSpPr>
        <p:spPr>
          <a:xfrm>
            <a:off x="4846320" y="3447288"/>
            <a:ext cx="228600" cy="228600"/>
          </a:xfrm>
          <a:prstGeom prst="ellipse">
            <a:avLst/>
          </a:prstGeom>
          <a:solidFill>
            <a:srgbClr val="7B68EE"/>
          </a:solidFill>
          <a:ln/>
        </p:spPr>
      </p:sp>
      <p:sp>
        <p:nvSpPr>
          <p:cNvPr id="40" name="Text 38"/>
          <p:cNvSpPr/>
          <p:nvPr/>
        </p:nvSpPr>
        <p:spPr>
          <a:xfrm>
            <a:off x="5166360" y="3383280"/>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Break complex tasks into steps or chains</a:t>
            </a:r>
            <a:endParaRPr lang="en-US" sz="950" dirty="0"/>
          </a:p>
        </p:txBody>
      </p:sp>
      <p:sp>
        <p:nvSpPr>
          <p:cNvPr id="41" name="Shape 39"/>
          <p:cNvSpPr/>
          <p:nvPr/>
        </p:nvSpPr>
        <p:spPr>
          <a:xfrm>
            <a:off x="4754880" y="3803904"/>
            <a:ext cx="3931920" cy="356616"/>
          </a:xfrm>
          <a:prstGeom prst="rect">
            <a:avLst/>
          </a:prstGeom>
          <a:solidFill>
            <a:srgbClr val="16162A"/>
          </a:solidFill>
          <a:ln/>
        </p:spPr>
      </p:sp>
      <p:sp>
        <p:nvSpPr>
          <p:cNvPr id="42" name="Shape 40"/>
          <p:cNvSpPr/>
          <p:nvPr/>
        </p:nvSpPr>
        <p:spPr>
          <a:xfrm>
            <a:off x="4846320" y="3867912"/>
            <a:ext cx="228600" cy="228600"/>
          </a:xfrm>
          <a:prstGeom prst="ellipse">
            <a:avLst/>
          </a:prstGeom>
          <a:solidFill>
            <a:srgbClr val="E91E8C"/>
          </a:solidFill>
          <a:ln/>
        </p:spPr>
      </p:sp>
      <p:sp>
        <p:nvSpPr>
          <p:cNvPr id="43" name="Text 41"/>
          <p:cNvSpPr/>
          <p:nvPr/>
        </p:nvSpPr>
        <p:spPr>
          <a:xfrm>
            <a:off x="5166360" y="3803904"/>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Iterate — first prompt is a rough draft</a:t>
            </a:r>
            <a:endParaRPr lang="en-US" sz="950" dirty="0"/>
          </a:p>
        </p:txBody>
      </p:sp>
      <p:sp>
        <p:nvSpPr>
          <p:cNvPr id="44" name="Shape 42"/>
          <p:cNvSpPr/>
          <p:nvPr/>
        </p:nvSpPr>
        <p:spPr>
          <a:xfrm>
            <a:off x="4754880" y="4224528"/>
            <a:ext cx="3931920" cy="356616"/>
          </a:xfrm>
          <a:prstGeom prst="rect">
            <a:avLst/>
          </a:prstGeom>
          <a:solidFill>
            <a:srgbClr val="16162A"/>
          </a:solidFill>
          <a:ln/>
        </p:spPr>
      </p:sp>
      <p:sp>
        <p:nvSpPr>
          <p:cNvPr id="45" name="Shape 43"/>
          <p:cNvSpPr/>
          <p:nvPr/>
        </p:nvSpPr>
        <p:spPr>
          <a:xfrm>
            <a:off x="4846320" y="4288536"/>
            <a:ext cx="228600" cy="228600"/>
          </a:xfrm>
          <a:prstGeom prst="ellipse">
            <a:avLst/>
          </a:prstGeom>
          <a:solidFill>
            <a:srgbClr val="00D4AA"/>
          </a:solidFill>
          <a:ln/>
        </p:spPr>
      </p:sp>
      <p:sp>
        <p:nvSpPr>
          <p:cNvPr id="46" name="Text 44"/>
          <p:cNvSpPr/>
          <p:nvPr/>
        </p:nvSpPr>
        <p:spPr>
          <a:xfrm>
            <a:off x="5166360" y="4224528"/>
            <a:ext cx="3383280" cy="356616"/>
          </a:xfrm>
          <a:prstGeom prst="rect">
            <a:avLst/>
          </a:prstGeom>
          <a:noFill/>
          <a:ln/>
        </p:spPr>
        <p:txBody>
          <a:bodyPr wrap="square" lIns="0" tIns="0" rIns="0" bIns="0" rtlCol="0" anchor="ctr"/>
          <a:lstStyle/>
          <a:p>
            <a:pPr indent="0" marL="0">
              <a:buNone/>
            </a:pPr>
            <a:r>
              <a:rPr lang="en-US" sz="950" dirty="0">
                <a:solidFill>
                  <a:srgbClr val="C8C8D8"/>
                </a:solidFill>
                <a:latin typeface="Arial" pitchFamily="34" charset="0"/>
                <a:ea typeface="Arial" pitchFamily="34" charset="-122"/>
                <a:cs typeface="Arial" pitchFamily="34" charset="-120"/>
              </a:rPr>
              <a:t>Say what TO do, not what NOT to do</a:t>
            </a:r>
            <a:endParaRPr lang="en-US" sz="950" dirty="0"/>
          </a:p>
        </p:txBody>
      </p:sp>
      <p:sp>
        <p:nvSpPr>
          <p:cNvPr id="47" name="Text 45"/>
          <p:cNvSpPr/>
          <p:nvPr/>
        </p:nvSpPr>
        <p:spPr>
          <a:xfrm>
            <a:off x="457200" y="4800600"/>
            <a:ext cx="8229600" cy="228600"/>
          </a:xfrm>
          <a:prstGeom prst="rect">
            <a:avLst/>
          </a:prstGeom>
          <a:noFill/>
          <a:ln/>
        </p:spPr>
        <p:txBody>
          <a:bodyPr wrap="square" lIns="0" tIns="0" rIns="0" bIns="0" rtlCol="0" anchor="ctr"/>
          <a:lstStyle/>
          <a:p>
            <a:pPr algn="ctr" indent="0" marL="0">
              <a:buNone/>
            </a:pPr>
            <a:r>
              <a:rPr lang="en-US" sz="1100" i="1" dirty="0">
                <a:solidFill>
                  <a:srgbClr val="E91E8C"/>
                </a:solidFill>
                <a:latin typeface="Arial" pitchFamily="34" charset="0"/>
                <a:ea typeface="Arial" pitchFamily="34" charset="-122"/>
                <a:cs typeface="Arial" pitchFamily="34" charset="-120"/>
              </a:rPr>
              <a:t>This is your starter kit — customize for your domain, build your own library.</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1E8C"/>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Key takeaways</a:t>
            </a:r>
            <a:endParaRPr lang="en-US" sz="2800" dirty="0"/>
          </a:p>
        </p:txBody>
      </p:sp>
      <p:sp>
        <p:nvSpPr>
          <p:cNvPr id="4" name="Shape 2"/>
          <p:cNvSpPr/>
          <p:nvPr/>
        </p:nvSpPr>
        <p:spPr>
          <a:xfrm>
            <a:off x="457200" y="105156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5" name="Shape 3"/>
          <p:cNvSpPr/>
          <p:nvPr/>
        </p:nvSpPr>
        <p:spPr>
          <a:xfrm>
            <a:off x="457200" y="1051560"/>
            <a:ext cx="54864" cy="822960"/>
          </a:xfrm>
          <a:prstGeom prst="rect">
            <a:avLst/>
          </a:prstGeom>
          <a:solidFill>
            <a:srgbClr val="E91E8C"/>
          </a:solidFill>
          <a:ln/>
        </p:spPr>
      </p:sp>
      <p:sp>
        <p:nvSpPr>
          <p:cNvPr id="6" name="Text 4"/>
          <p:cNvSpPr/>
          <p:nvPr/>
        </p:nvSpPr>
        <p:spPr>
          <a:xfrm>
            <a:off x="731520" y="1097280"/>
            <a:ext cx="7680960" cy="320040"/>
          </a:xfrm>
          <a:prstGeom prst="rect">
            <a:avLst/>
          </a:prstGeom>
          <a:noFill/>
          <a:ln/>
        </p:spPr>
        <p:txBody>
          <a:bodyPr wrap="square" lIns="0" tIns="0" rIns="0" bIns="0" rtlCol="0" anchor="ctr"/>
          <a:lstStyle/>
          <a:p>
            <a:pPr indent="0" marL="0">
              <a:buNone/>
            </a:pPr>
            <a:r>
              <a:rPr lang="en-US" sz="1500" b="1" dirty="0">
                <a:solidFill>
                  <a:srgbClr val="E91E8C"/>
                </a:solidFill>
                <a:latin typeface="Arial" pitchFamily="34" charset="0"/>
                <a:ea typeface="Arial" pitchFamily="34" charset="-122"/>
                <a:cs typeface="Arial" pitchFamily="34" charset="-120"/>
              </a:rPr>
              <a:t>LLMs see the world differently</a:t>
            </a:r>
            <a:endParaRPr lang="en-US" sz="1500" dirty="0"/>
          </a:p>
        </p:txBody>
      </p:sp>
      <p:sp>
        <p:nvSpPr>
          <p:cNvPr id="7" name="Text 5"/>
          <p:cNvSpPr/>
          <p:nvPr/>
        </p:nvSpPr>
        <p:spPr>
          <a:xfrm>
            <a:off x="731520" y="1435608"/>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They process one token at a time, match patterns not meaning. Understanding this transforms prompt engineering.</a:t>
            </a:r>
            <a:endParaRPr lang="en-US" sz="1100" dirty="0"/>
          </a:p>
        </p:txBody>
      </p:sp>
      <p:sp>
        <p:nvSpPr>
          <p:cNvPr id="8" name="Shape 6"/>
          <p:cNvSpPr/>
          <p:nvPr/>
        </p:nvSpPr>
        <p:spPr>
          <a:xfrm>
            <a:off x="457200" y="201168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9" name="Shape 7"/>
          <p:cNvSpPr/>
          <p:nvPr/>
        </p:nvSpPr>
        <p:spPr>
          <a:xfrm>
            <a:off x="457200" y="2011680"/>
            <a:ext cx="54864" cy="822960"/>
          </a:xfrm>
          <a:prstGeom prst="rect">
            <a:avLst/>
          </a:prstGeom>
          <a:solidFill>
            <a:srgbClr val="4A9FFF"/>
          </a:solidFill>
          <a:ln/>
        </p:spPr>
      </p:sp>
      <p:sp>
        <p:nvSpPr>
          <p:cNvPr id="10" name="Text 8"/>
          <p:cNvSpPr/>
          <p:nvPr/>
        </p:nvSpPr>
        <p:spPr>
          <a:xfrm>
            <a:off x="731520" y="2057400"/>
            <a:ext cx="7680960" cy="320040"/>
          </a:xfrm>
          <a:prstGeom prst="rect">
            <a:avLst/>
          </a:prstGeom>
          <a:noFill/>
          <a:ln/>
        </p:spPr>
        <p:txBody>
          <a:bodyPr wrap="square" lIns="0" tIns="0" rIns="0" bIns="0" rtlCol="0" anchor="ctr"/>
          <a:lstStyle/>
          <a:p>
            <a:pPr indent="0" marL="0">
              <a:buNone/>
            </a:pPr>
            <a:r>
              <a:rPr lang="en-US" sz="1500" b="1" dirty="0">
                <a:solidFill>
                  <a:srgbClr val="4A9FFF"/>
                </a:solidFill>
                <a:latin typeface="Arial" pitchFamily="34" charset="0"/>
                <a:ea typeface="Arial" pitchFamily="34" charset="-122"/>
                <a:cs typeface="Arial" pitchFamily="34" charset="-120"/>
              </a:rPr>
              <a:t>The Loop is your mental model</a:t>
            </a:r>
            <a:endParaRPr lang="en-US" sz="1500" dirty="0"/>
          </a:p>
        </p:txBody>
      </p:sp>
      <p:sp>
        <p:nvSpPr>
          <p:cNvPr id="11" name="Text 9"/>
          <p:cNvSpPr/>
          <p:nvPr/>
        </p:nvSpPr>
        <p:spPr>
          <a:xfrm>
            <a:off x="731520" y="2395728"/>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User problem → Convert to model domain → LLM completes → Transform back. You're the translator.</a:t>
            </a:r>
            <a:endParaRPr lang="en-US" sz="1100" dirty="0"/>
          </a:p>
        </p:txBody>
      </p:sp>
      <p:sp>
        <p:nvSpPr>
          <p:cNvPr id="12" name="Shape 10"/>
          <p:cNvSpPr/>
          <p:nvPr/>
        </p:nvSpPr>
        <p:spPr>
          <a:xfrm>
            <a:off x="457200" y="297180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3" name="Shape 11"/>
          <p:cNvSpPr/>
          <p:nvPr/>
        </p:nvSpPr>
        <p:spPr>
          <a:xfrm>
            <a:off x="457200" y="2971800"/>
            <a:ext cx="54864" cy="822960"/>
          </a:xfrm>
          <a:prstGeom prst="rect">
            <a:avLst/>
          </a:prstGeom>
          <a:solidFill>
            <a:srgbClr val="00D4AA"/>
          </a:solidFill>
          <a:ln/>
        </p:spPr>
      </p:sp>
      <p:sp>
        <p:nvSpPr>
          <p:cNvPr id="14" name="Text 12"/>
          <p:cNvSpPr/>
          <p:nvPr/>
        </p:nvSpPr>
        <p:spPr>
          <a:xfrm>
            <a:off x="731520" y="3017520"/>
            <a:ext cx="7680960" cy="320040"/>
          </a:xfrm>
          <a:prstGeom prst="rect">
            <a:avLst/>
          </a:prstGeom>
          <a:noFill/>
          <a:ln/>
        </p:spPr>
        <p:txBody>
          <a:bodyPr wrap="square" lIns="0" tIns="0" rIns="0" bIns="0" rtlCol="0" anchor="ctr"/>
          <a:lstStyle/>
          <a:p>
            <a:pPr indent="0" marL="0">
              <a:buNone/>
            </a:pPr>
            <a:r>
              <a:rPr lang="en-US" sz="1500" b="1" dirty="0">
                <a:solidFill>
                  <a:srgbClr val="00D4AA"/>
                </a:solidFill>
                <a:latin typeface="Arial" pitchFamily="34" charset="0"/>
                <a:ea typeface="Arial" pitchFamily="34" charset="-122"/>
                <a:cs typeface="Arial" pitchFamily="34" charset="-120"/>
              </a:rPr>
              <a:t>From prompts to context engineering</a:t>
            </a:r>
            <a:endParaRPr lang="en-US" sz="1500" dirty="0"/>
          </a:p>
        </p:txBody>
      </p:sp>
      <p:sp>
        <p:nvSpPr>
          <p:cNvPr id="15" name="Text 13"/>
          <p:cNvSpPr/>
          <p:nvPr/>
        </p:nvSpPr>
        <p:spPr>
          <a:xfrm>
            <a:off x="731520" y="3355848"/>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Modern AI means designing six layers: instructions, memory, retrieval, tools, history, and the current task.</a:t>
            </a:r>
            <a:endParaRPr lang="en-US" sz="1100" dirty="0"/>
          </a:p>
        </p:txBody>
      </p:sp>
      <p:sp>
        <p:nvSpPr>
          <p:cNvPr id="16" name="Shape 14"/>
          <p:cNvSpPr/>
          <p:nvPr/>
        </p:nvSpPr>
        <p:spPr>
          <a:xfrm>
            <a:off x="457200" y="3931920"/>
            <a:ext cx="8229600" cy="822960"/>
          </a:xfrm>
          <a:prstGeom prst="rect">
            <a:avLst/>
          </a:prstGeom>
          <a:solidFill>
            <a:srgbClr val="1A1A2E"/>
          </a:solidFill>
          <a:ln/>
          <a:effectLst>
            <a:outerShdw sx="100000" sy="100000" kx="0" ky="0" algn="bl" rotWithShape="0" blurRad="101600" dist="38100" dir="8100000">
              <a:srgbClr val="000000">
                <a:alpha val="40000"/>
              </a:srgbClr>
            </a:outerShdw>
          </a:effectLst>
        </p:spPr>
      </p:sp>
      <p:sp>
        <p:nvSpPr>
          <p:cNvPr id="17" name="Shape 15"/>
          <p:cNvSpPr/>
          <p:nvPr/>
        </p:nvSpPr>
        <p:spPr>
          <a:xfrm>
            <a:off x="457200" y="3931920"/>
            <a:ext cx="54864" cy="822960"/>
          </a:xfrm>
          <a:prstGeom prst="rect">
            <a:avLst/>
          </a:prstGeom>
          <a:solidFill>
            <a:srgbClr val="FF3DAB"/>
          </a:solidFill>
          <a:ln/>
        </p:spPr>
      </p:sp>
      <p:sp>
        <p:nvSpPr>
          <p:cNvPr id="18" name="Text 16"/>
          <p:cNvSpPr/>
          <p:nvPr/>
        </p:nvSpPr>
        <p:spPr>
          <a:xfrm>
            <a:off x="731520" y="3977640"/>
            <a:ext cx="7680960" cy="320040"/>
          </a:xfrm>
          <a:prstGeom prst="rect">
            <a:avLst/>
          </a:prstGeom>
          <a:noFill/>
          <a:ln/>
        </p:spPr>
        <p:txBody>
          <a:bodyPr wrap="square" lIns="0" tIns="0" rIns="0" bIns="0" rtlCol="0" anchor="ctr"/>
          <a:lstStyle/>
          <a:p>
            <a:pPr indent="0" marL="0">
              <a:buNone/>
            </a:pPr>
            <a:r>
              <a:rPr lang="en-US" sz="1500" b="1" dirty="0">
                <a:solidFill>
                  <a:srgbClr val="FF3DAB"/>
                </a:solidFill>
                <a:latin typeface="Arial" pitchFamily="34" charset="0"/>
                <a:ea typeface="Arial" pitchFamily="34" charset="-122"/>
                <a:cs typeface="Arial" pitchFamily="34" charset="-120"/>
              </a:rPr>
              <a:t>Evaluate systematically</a:t>
            </a:r>
            <a:endParaRPr lang="en-US" sz="1500" dirty="0"/>
          </a:p>
        </p:txBody>
      </p:sp>
      <p:sp>
        <p:nvSpPr>
          <p:cNvPr id="19" name="Text 17"/>
          <p:cNvSpPr/>
          <p:nvPr/>
        </p:nvSpPr>
        <p:spPr>
          <a:xfrm>
            <a:off x="731520" y="4315968"/>
            <a:ext cx="7680960" cy="365760"/>
          </a:xfrm>
          <a:prstGeom prst="rect">
            <a:avLst/>
          </a:prstGeom>
          <a:noFill/>
          <a:ln/>
        </p:spPr>
        <p:txBody>
          <a:bodyPr wrap="square" lIns="0" tIns="0" rIns="0" bIns="0" rtlCol="0" anchor="ctr"/>
          <a:lstStyle/>
          <a:p>
            <a:pPr indent="0" marL="0">
              <a:buNone/>
            </a:pPr>
            <a:r>
              <a:rPr lang="en-US" sz="1100" dirty="0">
                <a:solidFill>
                  <a:srgbClr val="C8C8D8"/>
                </a:solidFill>
                <a:latin typeface="Arial" pitchFamily="34" charset="0"/>
                <a:ea typeface="Arial" pitchFamily="34" charset="-122"/>
                <a:cs typeface="Arial" pitchFamily="34" charset="-120"/>
              </a:rPr>
              <a:t>SOMA framework: Specificity, Objective measurement, Multiple scenarios, Automation.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1828800" y="-914400"/>
            <a:ext cx="5486400" cy="5486400"/>
          </a:xfrm>
          <a:prstGeom prst="ellipse">
            <a:avLst/>
          </a:prstGeom>
          <a:solidFill>
            <a:srgbClr val="E91E8C">
              <a:alpha val="10000"/>
            </a:srgbClr>
          </a:solidFill>
          <a:ln/>
        </p:spPr>
      </p:sp>
      <p:sp>
        <p:nvSpPr>
          <p:cNvPr id="3" name="Shape 1"/>
          <p:cNvSpPr/>
          <p:nvPr/>
        </p:nvSpPr>
        <p:spPr>
          <a:xfrm>
            <a:off x="5486400" y="1371600"/>
            <a:ext cx="5486400" cy="5486400"/>
          </a:xfrm>
          <a:prstGeom prst="ellipse">
            <a:avLst/>
          </a:prstGeom>
          <a:solidFill>
            <a:srgbClr val="4A9FFF">
              <a:alpha val="8000"/>
            </a:srgbClr>
          </a:solidFill>
          <a:ln/>
        </p:spPr>
      </p:sp>
      <p:sp>
        <p:nvSpPr>
          <p:cNvPr id="4" name="Shape 2"/>
          <p:cNvSpPr/>
          <p:nvPr/>
        </p:nvSpPr>
        <p:spPr>
          <a:xfrm>
            <a:off x="2743200" y="-2743200"/>
            <a:ext cx="4572000" cy="4572000"/>
          </a:xfrm>
          <a:prstGeom prst="ellipse">
            <a:avLst/>
          </a:prstGeom>
          <a:solidFill>
            <a:srgbClr val="00D4AA">
              <a:alpha val="7000"/>
            </a:srgbClr>
          </a:solidFill>
          <a:ln/>
        </p:spPr>
      </p:sp>
      <p:sp>
        <p:nvSpPr>
          <p:cNvPr id="5" name="Text 3"/>
          <p:cNvSpPr/>
          <p:nvPr/>
        </p:nvSpPr>
        <p:spPr>
          <a:xfrm>
            <a:off x="274320" y="822960"/>
            <a:ext cx="5029200" cy="914400"/>
          </a:xfrm>
          <a:prstGeom prst="rect">
            <a:avLst/>
          </a:prstGeom>
          <a:noFill/>
          <a:ln/>
        </p:spPr>
        <p:txBody>
          <a:bodyPr wrap="square" lIns="0" tIns="0" rIns="0" bIns="0" rtlCol="0" anchor="ctr"/>
          <a:lstStyle/>
          <a:p>
            <a:pPr algn="ctr" indent="0" marL="0">
              <a:buNone/>
            </a:pPr>
            <a:r>
              <a:rPr lang="en-US" sz="5200" dirty="0">
                <a:solidFill>
                  <a:srgbClr val="FFFFFF"/>
                </a:solidFill>
                <a:latin typeface="Arial Black" pitchFamily="34" charset="0"/>
                <a:ea typeface="Arial Black" pitchFamily="34" charset="-122"/>
                <a:cs typeface="Arial Black" pitchFamily="34" charset="-120"/>
              </a:rPr>
              <a:t>Questions?</a:t>
            </a:r>
            <a:endParaRPr lang="en-US" sz="5200" dirty="0"/>
          </a:p>
        </p:txBody>
      </p:sp>
      <p:sp>
        <p:nvSpPr>
          <p:cNvPr id="6" name="Shape 4"/>
          <p:cNvSpPr/>
          <p:nvPr/>
        </p:nvSpPr>
        <p:spPr>
          <a:xfrm>
            <a:off x="1371600" y="1828800"/>
            <a:ext cx="2743200" cy="54864"/>
          </a:xfrm>
          <a:prstGeom prst="rect">
            <a:avLst/>
          </a:prstGeom>
          <a:solidFill>
            <a:srgbClr val="E91E8C"/>
          </a:solidFill>
          <a:ln/>
        </p:spPr>
      </p:sp>
      <p:sp>
        <p:nvSpPr>
          <p:cNvPr id="7" name="Text 5"/>
          <p:cNvSpPr/>
          <p:nvPr/>
        </p:nvSpPr>
        <p:spPr>
          <a:xfrm>
            <a:off x="274320" y="2103120"/>
            <a:ext cx="5029200" cy="365760"/>
          </a:xfrm>
          <a:prstGeom prst="rect">
            <a:avLst/>
          </a:prstGeom>
          <a:noFill/>
          <a:ln/>
        </p:spPr>
        <p:txBody>
          <a:bodyPr wrap="square" lIns="0" tIns="0" rIns="0" bIns="0" rtlCol="0" anchor="ctr"/>
          <a:lstStyle/>
          <a:p>
            <a:pPr algn="ctr" indent="0" marL="0">
              <a:buNone/>
            </a:pPr>
            <a:r>
              <a:rPr lang="en-US" sz="1400" dirty="0">
                <a:solidFill>
                  <a:srgbClr val="C8C8D8"/>
                </a:solidFill>
                <a:latin typeface="Arial" pitchFamily="34" charset="0"/>
                <a:ea typeface="Arial" pitchFamily="34" charset="-122"/>
                <a:cs typeface="Arial" pitchFamily="34" charset="-120"/>
              </a:rPr>
              <a:t>Prompt Engineering That Actually Works</a:t>
            </a:r>
            <a:endParaRPr lang="en-US" sz="1400" dirty="0"/>
          </a:p>
        </p:txBody>
      </p:sp>
      <p:sp>
        <p:nvSpPr>
          <p:cNvPr id="8" name="Text 6"/>
          <p:cNvSpPr/>
          <p:nvPr/>
        </p:nvSpPr>
        <p:spPr>
          <a:xfrm>
            <a:off x="274320" y="2468880"/>
            <a:ext cx="5029200" cy="228600"/>
          </a:xfrm>
          <a:prstGeom prst="rect">
            <a:avLst/>
          </a:prstGeom>
          <a:noFill/>
          <a:ln/>
        </p:spPr>
        <p:txBody>
          <a:bodyPr wrap="square" lIns="0" tIns="0" rIns="0" bIns="0" rtlCol="0" anchor="ctr"/>
          <a:lstStyle/>
          <a:p>
            <a:pPr algn="ctr" indent="0" marL="0">
              <a:buNone/>
            </a:pPr>
            <a:r>
              <a:rPr lang="en-US" sz="1000" dirty="0">
                <a:solidFill>
                  <a:srgbClr val="9B9BB0"/>
                </a:solidFill>
                <a:latin typeface="Arial" pitchFamily="34" charset="0"/>
                <a:ea typeface="Arial" pitchFamily="34" charset="-122"/>
                <a:cs typeface="Arial" pitchFamily="34" charset="-120"/>
              </a:rPr>
              <a:t xml:space="preserve">Based on </a:t>
            </a:r>
            <a:pPr algn="ctr" indent="0" marL="0">
              <a:buNone/>
            </a:pPr>
            <a:r>
              <a:rPr lang="en-US" sz="1000" i="1" dirty="0">
                <a:solidFill>
                  <a:srgbClr val="E91E8C"/>
                </a:solidFill>
                <a:latin typeface="Arial" pitchFamily="34" charset="0"/>
                <a:ea typeface="Arial" pitchFamily="34" charset="-122"/>
                <a:cs typeface="Arial" pitchFamily="34" charset="-120"/>
              </a:rPr>
              <a:t>"Prompt Engineering for LLMs"</a:t>
            </a:r>
            <a:pPr algn="ctr" indent="0" marL="0">
              <a:buNone/>
            </a:pPr>
            <a:r>
              <a:rPr lang="en-US" sz="1000" dirty="0">
                <a:solidFill>
                  <a:srgbClr val="9B9BB0"/>
                </a:solidFill>
                <a:latin typeface="Arial" pitchFamily="34" charset="0"/>
                <a:ea typeface="Arial" pitchFamily="34" charset="-122"/>
                <a:cs typeface="Arial" pitchFamily="34" charset="-120"/>
              </a:rPr>
              <a:t xml:space="preserve"> by Berryman &amp; Ziegler</a:t>
            </a:r>
            <a:endParaRPr lang="en-US" sz="1000" dirty="0"/>
          </a:p>
        </p:txBody>
      </p:sp>
      <p:sp>
        <p:nvSpPr>
          <p:cNvPr id="9" name="Text 7"/>
          <p:cNvSpPr/>
          <p:nvPr/>
        </p:nvSpPr>
        <p:spPr>
          <a:xfrm>
            <a:off x="274320" y="2697480"/>
            <a:ext cx="5029200" cy="228600"/>
          </a:xfrm>
          <a:prstGeom prst="rect">
            <a:avLst/>
          </a:prstGeom>
          <a:noFill/>
          <a:ln/>
        </p:spPr>
        <p:txBody>
          <a:bodyPr wrap="square" lIns="0" tIns="0" rIns="0" bIns="0" rtlCol="0" anchor="ctr"/>
          <a:lstStyle/>
          <a:p>
            <a:pPr algn="ctr" indent="0" marL="0">
              <a:buNone/>
            </a:pPr>
            <a:r>
              <a:rPr lang="en-US" sz="1000" dirty="0">
                <a:solidFill>
                  <a:srgbClr val="9B9BB0"/>
                </a:solidFill>
                <a:latin typeface="Arial" pitchFamily="34" charset="0"/>
                <a:ea typeface="Arial" pitchFamily="34" charset="-122"/>
                <a:cs typeface="Arial" pitchFamily="34" charset="-120"/>
              </a:rPr>
              <a:t xml:space="preserve">and </a:t>
            </a:r>
            <a:pPr algn="ctr" indent="0" marL="0">
              <a:buNone/>
            </a:pPr>
            <a:r>
              <a:rPr lang="en-US" sz="1000" i="1" dirty="0">
                <a:solidFill>
                  <a:srgbClr val="E91E8C"/>
                </a:solidFill>
                <a:latin typeface="Arial" pitchFamily="34" charset="0"/>
                <a:ea typeface="Arial" pitchFamily="34" charset="-122"/>
                <a:cs typeface="Arial" pitchFamily="34" charset="-120"/>
              </a:rPr>
              <a:t>"Prompt Engineering for Generative AI"</a:t>
            </a:r>
            <a:pPr algn="ctr" indent="0" marL="0">
              <a:buNone/>
            </a:pPr>
            <a:r>
              <a:rPr lang="en-US" sz="1000" dirty="0">
                <a:solidFill>
                  <a:srgbClr val="9B9BB0"/>
                </a:solidFill>
                <a:latin typeface="Arial" pitchFamily="34" charset="0"/>
                <a:ea typeface="Arial" pitchFamily="34" charset="-122"/>
                <a:cs typeface="Arial" pitchFamily="34" charset="-120"/>
              </a:rPr>
              <a:t xml:space="preserve"> by Phoenix &amp; Taylor</a:t>
            </a:r>
            <a:endParaRPr lang="en-US" sz="1000" dirty="0"/>
          </a:p>
        </p:txBody>
      </p:sp>
      <p:sp>
        <p:nvSpPr>
          <p:cNvPr id="10" name="Shape 8"/>
          <p:cNvSpPr/>
          <p:nvPr/>
        </p:nvSpPr>
        <p:spPr>
          <a:xfrm>
            <a:off x="457200" y="3154680"/>
            <a:ext cx="4663440" cy="548640"/>
          </a:xfrm>
          <a:prstGeom prst="rect">
            <a:avLst/>
          </a:prstGeom>
          <a:solidFill>
            <a:srgbClr val="1A1A2E"/>
          </a:solidFill>
          <a:ln/>
        </p:spPr>
      </p:sp>
      <p:sp>
        <p:nvSpPr>
          <p:cNvPr id="11" name="Text 9"/>
          <p:cNvSpPr/>
          <p:nvPr/>
        </p:nvSpPr>
        <p:spPr>
          <a:xfrm>
            <a:off x="457200" y="3154680"/>
            <a:ext cx="4663440" cy="548640"/>
          </a:xfrm>
          <a:prstGeom prst="rect">
            <a:avLst/>
          </a:prstGeom>
          <a:noFill/>
          <a:ln/>
        </p:spPr>
        <p:txBody>
          <a:bodyPr wrap="square" lIns="0" tIns="0" rIns="0" bIns="0" rtlCol="0" anchor="ctr"/>
          <a:lstStyle/>
          <a:p>
            <a:pPr algn="ctr" indent="0" marL="0">
              <a:buNone/>
            </a:pPr>
            <a:r>
              <a:rPr lang="en-US" sz="1300" b="1" dirty="0">
                <a:solidFill>
                  <a:srgbClr val="E91E8C"/>
                </a:solidFill>
                <a:latin typeface="Arial" pitchFamily="34" charset="0"/>
                <a:ea typeface="Arial" pitchFamily="34" charset="-122"/>
                <a:cs typeface="Arial" pitchFamily="34" charset="-120"/>
              </a:rPr>
              <a:t>Start today: pick one technique, apply it to a real task, iterate.</a:t>
            </a:r>
            <a:endParaRPr lang="en-US" sz="1300" dirty="0"/>
          </a:p>
        </p:txBody>
      </p:sp>
      <p:sp>
        <p:nvSpPr>
          <p:cNvPr id="12" name="Shape 10"/>
          <p:cNvSpPr/>
          <p:nvPr/>
        </p:nvSpPr>
        <p:spPr>
          <a:xfrm>
            <a:off x="5669280" y="731520"/>
            <a:ext cx="2926080" cy="3657600"/>
          </a:xfrm>
          <a:prstGeom prst="rect">
            <a:avLst/>
          </a:prstGeom>
          <a:solidFill>
            <a:srgbClr val="1A1A2E"/>
          </a:solidFill>
          <a:ln/>
          <a:effectLst>
            <a:outerShdw sx="100000" sy="100000" kx="0" ky="0" algn="bl" rotWithShape="0" blurRad="152400" dist="50800" dir="8100000">
              <a:srgbClr val="000000">
                <a:alpha val="50000"/>
              </a:srgbClr>
            </a:outerShdw>
          </a:effectLst>
        </p:spPr>
      </p:sp>
      <p:sp>
        <p:nvSpPr>
          <p:cNvPr id="13" name="Text 11"/>
          <p:cNvSpPr/>
          <p:nvPr/>
        </p:nvSpPr>
        <p:spPr>
          <a:xfrm>
            <a:off x="5669280" y="822960"/>
            <a:ext cx="2926080" cy="320040"/>
          </a:xfrm>
          <a:prstGeom prst="rect">
            <a:avLst/>
          </a:prstGeom>
          <a:noFill/>
          <a:ln/>
        </p:spPr>
        <p:txBody>
          <a:bodyPr wrap="square" lIns="0" tIns="0" rIns="0" bIns="0" rtlCol="0" anchor="ctr"/>
          <a:lstStyle/>
          <a:p>
            <a:pPr algn="ctr" indent="0" marL="0">
              <a:buNone/>
            </a:pPr>
            <a:r>
              <a:rPr lang="en-US" sz="1200" b="1" dirty="0">
                <a:solidFill>
                  <a:srgbClr val="E91E8C"/>
                </a:solidFill>
                <a:latin typeface="Arial" pitchFamily="34" charset="0"/>
                <a:ea typeface="Arial" pitchFamily="34" charset="-122"/>
                <a:cs typeface="Arial" pitchFamily="34" charset="-120"/>
              </a:rPr>
              <a:t>Scan to give feedback</a:t>
            </a:r>
            <a:endParaRPr lang="en-US" sz="1200" dirty="0"/>
          </a:p>
        </p:txBody>
      </p:sp>
      <p:pic>
        <p:nvPicPr>
          <p:cNvPr id="14" name="Image 0" descr="/mnt/user-data/uploads/prompt-engineering-that-actually-works_de-smet_1110378_feedback-code.png"/>
          <p:cNvPicPr>
            <a:picLocks noChangeAspect="1"/>
          </p:cNvPicPr>
          <p:nvPr/>
        </p:nvPicPr>
        <p:blipFill>
          <a:blip r:embed="rId1"/>
          <a:stretch>
            <a:fillRect/>
          </a:stretch>
        </p:blipFill>
        <p:spPr>
          <a:xfrm>
            <a:off x="5989320" y="1188720"/>
            <a:ext cx="2286000" cy="2286000"/>
          </a:xfrm>
          <a:prstGeom prst="rect">
            <a:avLst/>
          </a:prstGeom>
        </p:spPr>
      </p:pic>
      <p:sp>
        <p:nvSpPr>
          <p:cNvPr id="15" name="Text 12"/>
          <p:cNvSpPr/>
          <p:nvPr/>
        </p:nvSpPr>
        <p:spPr>
          <a:xfrm>
            <a:off x="5669280" y="3566160"/>
            <a:ext cx="2926080" cy="457200"/>
          </a:xfrm>
          <a:prstGeom prst="rect">
            <a:avLst/>
          </a:prstGeom>
          <a:noFill/>
          <a:ln/>
        </p:spPr>
        <p:txBody>
          <a:bodyPr wrap="square" lIns="0" tIns="0" rIns="0" bIns="0" rtlCol="0" anchor="ctr"/>
          <a:lstStyle/>
          <a:p>
            <a:pPr algn="ctr" indent="0" marL="0">
              <a:buNone/>
            </a:pPr>
            <a:r>
              <a:rPr lang="en-US" sz="1000" dirty="0">
                <a:solidFill>
                  <a:srgbClr val="C8C8D8"/>
                </a:solidFill>
                <a:latin typeface="Arial" pitchFamily="34" charset="0"/>
                <a:ea typeface="Arial" pitchFamily="34" charset="-122"/>
                <a:cs typeface="Arial" pitchFamily="34" charset="-120"/>
              </a:rPr>
              <a:t>Your feedback helps me</a:t>
            </a:r>
            <a:endParaRPr lang="en-US" sz="1000" dirty="0"/>
          </a:p>
          <a:p>
            <a:pPr algn="ctr" indent="0" marL="0">
              <a:buNone/>
            </a:pPr>
            <a:r>
              <a:rPr lang="en-US" sz="1000" dirty="0">
                <a:solidFill>
                  <a:srgbClr val="C8C8D8"/>
                </a:solidFill>
                <a:latin typeface="Arial" pitchFamily="34" charset="0"/>
                <a:ea typeface="Arial" pitchFamily="34" charset="-122"/>
                <a:cs typeface="Arial" pitchFamily="34" charset="-120"/>
              </a:rPr>
              <a:t>improve this talk!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That Actually Works</dc:title>
  <dc:subject>PptxGenJS Presentation</dc:subject>
  <dc:creator>Hidde de Smet</dc:creator>
  <cp:lastModifiedBy>Hidde de Smet</cp:lastModifiedBy>
  <cp:revision>1</cp:revision>
  <dcterms:created xsi:type="dcterms:W3CDTF">2026-02-23T13:52:44Z</dcterms:created>
  <dcterms:modified xsi:type="dcterms:W3CDTF">2026-02-23T13:52:44Z</dcterms:modified>
</cp:coreProperties>
</file>